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78" r:id="rId2"/>
    <p:sldId id="298" r:id="rId3"/>
    <p:sldId id="307" r:id="rId4"/>
    <p:sldId id="355" r:id="rId5"/>
    <p:sldId id="301" r:id="rId6"/>
    <p:sldId id="373" r:id="rId7"/>
    <p:sldId id="306" r:id="rId8"/>
    <p:sldId id="358" r:id="rId9"/>
    <p:sldId id="360" r:id="rId10"/>
    <p:sldId id="309" r:id="rId11"/>
    <p:sldId id="374" r:id="rId12"/>
    <p:sldId id="367" r:id="rId13"/>
    <p:sldId id="375" r:id="rId14"/>
    <p:sldId id="376" r:id="rId15"/>
    <p:sldId id="377" r:id="rId16"/>
    <p:sldId id="368" r:id="rId17"/>
    <p:sldId id="369" r:id="rId18"/>
    <p:sldId id="370" r:id="rId19"/>
    <p:sldId id="371" r:id="rId20"/>
    <p:sldId id="372" r:id="rId21"/>
    <p:sldId id="315" r:id="rId22"/>
    <p:sldId id="322" r:id="rId23"/>
    <p:sldId id="323" r:id="rId24"/>
    <p:sldId id="324" r:id="rId25"/>
    <p:sldId id="336" r:id="rId26"/>
    <p:sldId id="337" r:id="rId27"/>
    <p:sldId id="338" r:id="rId28"/>
    <p:sldId id="346" r:id="rId29"/>
    <p:sldId id="350" r:id="rId30"/>
    <p:sldId id="361" r:id="rId31"/>
    <p:sldId id="353" r:id="rId32"/>
    <p:sldId id="365" r:id="rId33"/>
    <p:sldId id="366" r:id="rId34"/>
    <p:sldId id="36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9C3CD4-C620-B64D-8D60-A07C51D9316D}" v="49" dt="2026-09-28T13:39:36.012"/>
    <p1510:client id="{D2593B04-6A56-FF42-B6CA-DA5B5A8DC044}" v="3165" dt="2026-09-29T11:58:11.8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32"/>
    <p:restoredTop sz="82870"/>
  </p:normalViewPr>
  <p:slideViewPr>
    <p:cSldViewPr snapToGrid="0">
      <p:cViewPr>
        <p:scale>
          <a:sx n="135" d="100"/>
          <a:sy n="135" d="100"/>
        </p:scale>
        <p:origin x="144" y="144"/>
      </p:cViewPr>
      <p:guideLst>
        <p:guide orient="horz" pos="153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ran Gao" userId="8df7ee38-d24b-4e3c-a670-b001cddd5d1c" providerId="ADAL" clId="{A5375A95-C6CF-54FE-A754-8FF4B2F3F39C}"/>
    <pc:docChg chg="addSld modSld">
      <pc:chgData name="Boran Gao" userId="8df7ee38-d24b-4e3c-a670-b001cddd5d1c" providerId="ADAL" clId="{A5375A95-C6CF-54FE-A754-8FF4B2F3F39C}" dt="2026-09-28T13:39:36.012" v="48" actId="20577"/>
      <pc:docMkLst>
        <pc:docMk/>
      </pc:docMkLst>
      <pc:sldChg chg="modSp new mod">
        <pc:chgData name="Boran Gao" userId="8df7ee38-d24b-4e3c-a670-b001cddd5d1c" providerId="ADAL" clId="{A5375A95-C6CF-54FE-A754-8FF4B2F3F39C}" dt="2026-09-28T13:39:31.492" v="40" actId="20577"/>
        <pc:sldMkLst>
          <pc:docMk/>
          <pc:sldMk cId="1621276968" sldId="361"/>
        </pc:sldMkLst>
        <pc:spChg chg="mod">
          <ac:chgData name="Boran Gao" userId="8df7ee38-d24b-4e3c-a670-b001cddd5d1c" providerId="ADAL" clId="{A5375A95-C6CF-54FE-A754-8FF4B2F3F39C}" dt="2026-09-28T13:39:31.492" v="40" actId="20577"/>
          <ac:spMkLst>
            <pc:docMk/>
            <pc:sldMk cId="1621276968" sldId="361"/>
            <ac:spMk id="2" creationId="{9C3BE30F-4D18-2984-5C38-E1B6A0A8EDE6}"/>
          </ac:spMkLst>
        </pc:spChg>
      </pc:sldChg>
      <pc:sldChg chg="modSp new mod">
        <pc:chgData name="Boran Gao" userId="8df7ee38-d24b-4e3c-a670-b001cddd5d1c" providerId="ADAL" clId="{A5375A95-C6CF-54FE-A754-8FF4B2F3F39C}" dt="2026-09-28T13:39:36.012" v="48" actId="20577"/>
        <pc:sldMkLst>
          <pc:docMk/>
          <pc:sldMk cId="1657922216" sldId="362"/>
        </pc:sldMkLst>
        <pc:spChg chg="mod">
          <ac:chgData name="Boran Gao" userId="8df7ee38-d24b-4e3c-a670-b001cddd5d1c" providerId="ADAL" clId="{A5375A95-C6CF-54FE-A754-8FF4B2F3F39C}" dt="2026-09-28T13:39:36.012" v="48" actId="20577"/>
          <ac:spMkLst>
            <pc:docMk/>
            <pc:sldMk cId="1657922216" sldId="362"/>
            <ac:spMk id="2" creationId="{5BCFA59F-6403-5667-E94D-DABF3EE152E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804748-BC06-B940-9200-B52E05629FD1}" type="datetimeFigureOut">
              <a:rPr lang="en-US" smtClean="0"/>
              <a:t>9/27/26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8087DC-B753-0E4D-AABF-1CAE5E9128A4}" type="slidenum">
              <a:rPr lang="en-US" smtClean="0"/>
              <a:t>‹#›</a:t>
            </a:fld>
            <a:endParaRPr lang="en-US"/>
          </a:p>
        </p:txBody>
      </p:sp>
    </p:spTree>
    <p:extLst>
      <p:ext uri="{BB962C8B-B14F-4D97-AF65-F5344CB8AC3E}">
        <p14:creationId xmlns:p14="http://schemas.microsoft.com/office/powerpoint/2010/main" val="4069348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88087DC-B753-0E4D-AABF-1CAE5E9128A4}" type="slidenum">
              <a:rPr lang="en-US" smtClean="0"/>
              <a:t>1</a:t>
            </a:fld>
            <a:endParaRPr lang="en-US"/>
          </a:p>
        </p:txBody>
      </p:sp>
    </p:spTree>
    <p:extLst>
      <p:ext uri="{BB962C8B-B14F-4D97-AF65-F5344CB8AC3E}">
        <p14:creationId xmlns:p14="http://schemas.microsoft.com/office/powerpoint/2010/main" val="3416775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normal distribution is a family of distributions described by two parameters: the mean \(\mu\) and the variance \(\sigma^2\). Once we specify these two parameters, the entire distribution is determined.”</a:t>
            </a:r>
          </a:p>
          <a:p>
            <a:endParaRPr lang="en-US" dirty="0"/>
          </a:p>
          <a:p>
            <a:r>
              <a:rPr lang="en-US" dirty="0"/>
              <a:t>“We read this as ‘\(X\) follows a normal distribution with mean \(\mu\) and variance \(\sigma^2\).’ Notice that the second parameter is the </a:t>
            </a:r>
            <a:r>
              <a:rPr lang="en-US" b="1" dirty="0"/>
              <a:t>variance</a:t>
            </a:r>
            <a:r>
              <a:rPr lang="en-US" dirty="0"/>
              <a:t>. The standard deviation is \(\sigma\).”</a:t>
            </a:r>
          </a:p>
          <a:p>
            <a:endParaRPr lang="en-US" dirty="0"/>
          </a:p>
          <a:p>
            <a:pPr marL="228600" indent="-228600">
              <a:buAutoNum type="arabicParenR"/>
            </a:pPr>
            <a:r>
              <a:rPr lang="en-US" dirty="0"/>
              <a:t>This term measures the squared distance from the mean. </a:t>
            </a:r>
          </a:p>
          <a:p>
            <a:pPr marL="228600" indent="-228600">
              <a:buAutoNum type="arabicParenR"/>
            </a:pPr>
            <a:r>
              <a:rPr lang="en-US" dirty="0"/>
              <a:t>Values equally far above and below \(\mu\) have the same density, so the curve is symmetric about \(\mu\)</a:t>
            </a:r>
          </a:p>
          <a:p>
            <a:pPr marL="228600" indent="-228600">
              <a:buAutoNum type="arabicParenR"/>
            </a:pPr>
            <a:r>
              <a:rPr lang="en-US" dirty="0"/>
              <a:t>At x</a:t>
            </a:r>
            <a:r>
              <a:rPr lang="en-US" altLang="zh-CN" dirty="0"/>
              <a:t>=u</a:t>
            </a:r>
            <a:r>
              <a:rPr lang="en-US" dirty="0"/>
              <a:t>, the exponent is zero and the density is largest. As we move away from </a:t>
            </a:r>
            <a:r>
              <a:rPr lang="en-US" altLang="zh-CN" dirty="0"/>
              <a:t>mu</a:t>
            </a:r>
            <a:r>
              <a:rPr lang="zh-CN" altLang="en-US" dirty="0"/>
              <a:t> </a:t>
            </a:r>
            <a:r>
              <a:rPr lang="en-US" dirty="0"/>
              <a:t>in either direction, the exponent becomes more negative, so the density decreases. This gives us the bell shape.</a:t>
            </a:r>
          </a:p>
        </p:txBody>
      </p:sp>
      <p:sp>
        <p:nvSpPr>
          <p:cNvPr id="4" name="Slide Number Placeholder 3"/>
          <p:cNvSpPr>
            <a:spLocks noGrp="1"/>
          </p:cNvSpPr>
          <p:nvPr>
            <p:ph type="sldNum" sz="quarter" idx="5"/>
          </p:nvPr>
        </p:nvSpPr>
        <p:spPr/>
        <p:txBody>
          <a:bodyPr/>
          <a:lstStyle/>
          <a:p>
            <a:fld id="{D88087DC-B753-0E4D-AABF-1CAE5E9128A4}" type="slidenum">
              <a:rPr lang="en-US" smtClean="0"/>
              <a:t>3</a:t>
            </a:fld>
            <a:endParaRPr lang="en-US"/>
          </a:p>
        </p:txBody>
      </p:sp>
    </p:spTree>
    <p:extLst>
      <p:ext uri="{BB962C8B-B14F-4D97-AF65-F5344CB8AC3E}">
        <p14:creationId xmlns:p14="http://schemas.microsoft.com/office/powerpoint/2010/main" val="851546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distribution is completely determined by two parameters: its mean \(\mu\) and its variance \(\sigma^2\). We write \(X\sim N(\mu,\sigma^2)\). Notice that the second parameter is the variance, so the standard deviation is \(\sigma\)</a:t>
            </a:r>
          </a:p>
          <a:p>
            <a:pPr marL="228600" indent="-228600">
              <a:buAutoNum type="arabicParenBoth"/>
            </a:pPr>
            <a:r>
              <a:rPr lang="en-US" dirty="0"/>
              <a:t>The mean \(\mu\) locates the center. The curve is symmetric about \(\mu</a:t>
            </a:r>
            <a:r>
              <a:rPr lang="en-US" altLang="zh-CN" dirty="0"/>
              <a:t>,</a:t>
            </a:r>
            <a:r>
              <a:rPr lang="zh-CN" altLang="en-US" dirty="0"/>
              <a:t> </a:t>
            </a:r>
            <a:r>
              <a:rPr lang="en-US" dirty="0"/>
              <a:t>the mean, median, and mode are all equal to \(\mu\)</a:t>
            </a:r>
          </a:p>
          <a:p>
            <a:pPr marL="228600" indent="-228600">
              <a:buAutoNum type="arabicParenBoth"/>
            </a:pPr>
            <a:r>
              <a:rPr lang="en-US" dirty="0"/>
              <a:t>The variance describes the spread. A larger variance means the distribution is more spread out. A smaller variance means it is more concentrated around the mean</a:t>
            </a:r>
          </a:p>
        </p:txBody>
      </p:sp>
      <p:sp>
        <p:nvSpPr>
          <p:cNvPr id="4" name="Slide Number Placeholder 3"/>
          <p:cNvSpPr>
            <a:spLocks noGrp="1"/>
          </p:cNvSpPr>
          <p:nvPr>
            <p:ph type="sldNum" sz="quarter" idx="5"/>
          </p:nvPr>
        </p:nvSpPr>
        <p:spPr/>
        <p:txBody>
          <a:bodyPr/>
          <a:lstStyle/>
          <a:p>
            <a:fld id="{D88087DC-B753-0E4D-AABF-1CAE5E9128A4}" type="slidenum">
              <a:rPr lang="en-US" smtClean="0"/>
              <a:t>4</a:t>
            </a:fld>
            <a:endParaRPr lang="en-US"/>
          </a:p>
        </p:txBody>
      </p:sp>
    </p:spTree>
    <p:extLst>
      <p:ext uri="{BB962C8B-B14F-4D97-AF65-F5344CB8AC3E}">
        <p14:creationId xmlns:p14="http://schemas.microsoft.com/office/powerpoint/2010/main" val="3404202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arenR"/>
            </a:pPr>
            <a:r>
              <a:rPr lang="en-US" dirty="0"/>
              <a:t>Here, all three distributions have the same standard deviation, \(10\), but different means. As the mean increases from \(80\) to \(120\), the curve moves to the right. Its shape and spread stay the same</a:t>
            </a:r>
          </a:p>
          <a:p>
            <a:pPr marL="228600" indent="-228600">
              <a:buAutoNum type="alphaLcParenR"/>
            </a:pPr>
            <a:r>
              <a:rPr lang="en-US" dirty="0"/>
              <a:t>Here, all three distributions have the same mean, \(100\), but different standard deviations. As the standard deviation increases, the curve becomes wider and its peak becomes lower.</a:t>
            </a:r>
          </a:p>
          <a:p>
            <a:pPr marL="228600" indent="-228600">
              <a:buAutoNum type="alphaLcParenR"/>
            </a:pPr>
            <a:r>
              <a:rPr lang="en-US" dirty="0"/>
              <a:t>Why does the wider curve have a lower peak?</a:t>
            </a:r>
            <a:r>
              <a:rPr lang="zh-CN" altLang="en-US" dirty="0"/>
              <a:t> </a:t>
            </a:r>
            <a:r>
              <a:rPr lang="en-US" altLang="zh-CN" dirty="0"/>
              <a:t>1)</a:t>
            </a:r>
            <a:r>
              <a:rPr lang="zh-CN" altLang="en-US" dirty="0"/>
              <a:t> </a:t>
            </a:r>
            <a:r>
              <a:rPr lang="en-US" dirty="0"/>
              <a:t>Because the total area must remain one. Spreading the distribution over a wider range requires a lower peak.”</a:t>
            </a:r>
            <a:r>
              <a:rPr lang="zh-CN" altLang="en-US" dirty="0"/>
              <a:t> </a:t>
            </a:r>
            <a:r>
              <a:rPr lang="en-US" altLang="zh-CN" dirty="0"/>
              <a:t>2)density</a:t>
            </a:r>
            <a:r>
              <a:rPr lang="zh-CN" altLang="en-US" dirty="0"/>
              <a:t> </a:t>
            </a:r>
            <a:endParaRPr lang="en-US" dirty="0"/>
          </a:p>
        </p:txBody>
      </p:sp>
      <p:sp>
        <p:nvSpPr>
          <p:cNvPr id="4" name="Slide Number Placeholder 3"/>
          <p:cNvSpPr>
            <a:spLocks noGrp="1"/>
          </p:cNvSpPr>
          <p:nvPr>
            <p:ph type="sldNum" sz="quarter" idx="5"/>
          </p:nvPr>
        </p:nvSpPr>
        <p:spPr/>
        <p:txBody>
          <a:bodyPr/>
          <a:lstStyle/>
          <a:p>
            <a:fld id="{D88087DC-B753-0E4D-AABF-1CAE5E9128A4}" type="slidenum">
              <a:rPr lang="en-US" smtClean="0"/>
              <a:t>5</a:t>
            </a:fld>
            <a:endParaRPr lang="en-US"/>
          </a:p>
        </p:txBody>
      </p:sp>
    </p:spTree>
    <p:extLst>
      <p:ext uri="{BB962C8B-B14F-4D97-AF65-F5344CB8AC3E}">
        <p14:creationId xmlns:p14="http://schemas.microsoft.com/office/powerpoint/2010/main" val="1704276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gives \(\Phi(z)=P(Z\le z)\), the area under the standard normal curve to the left of \(z\)</a:t>
            </a:r>
          </a:p>
          <a:p>
            <a:endParaRPr lang="en-US" dirty="0"/>
          </a:p>
          <a:p>
            <a:r>
              <a:rPr lang="en-US" dirty="0"/>
              <a:t>The row gives the ones and tenths digits. The column gives the hundredths digit. For \(z=1.23\), find row \(1.2\) and column \(.03\).</a:t>
            </a:r>
          </a:p>
        </p:txBody>
      </p:sp>
      <p:sp>
        <p:nvSpPr>
          <p:cNvPr id="4" name="Slide Number Placeholder 3"/>
          <p:cNvSpPr>
            <a:spLocks noGrp="1"/>
          </p:cNvSpPr>
          <p:nvPr>
            <p:ph type="sldNum" sz="quarter" idx="5"/>
          </p:nvPr>
        </p:nvSpPr>
        <p:spPr/>
        <p:txBody>
          <a:bodyPr/>
          <a:lstStyle/>
          <a:p>
            <a:fld id="{D88087DC-B753-0E4D-AABF-1CAE5E9128A4}" type="slidenum">
              <a:rPr lang="en-US" smtClean="0"/>
              <a:t>9</a:t>
            </a:fld>
            <a:endParaRPr lang="en-US"/>
          </a:p>
        </p:txBody>
      </p:sp>
    </p:spTree>
    <p:extLst>
      <p:ext uri="{BB962C8B-B14F-4D97-AF65-F5344CB8AC3E}">
        <p14:creationId xmlns:p14="http://schemas.microsoft.com/office/powerpoint/2010/main" val="3414535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notation will be convenient later when we study confidence intervals and hypothesis tests.</a:t>
            </a:r>
          </a:p>
        </p:txBody>
      </p:sp>
      <p:sp>
        <p:nvSpPr>
          <p:cNvPr id="4" name="Slide Number Placeholder 3"/>
          <p:cNvSpPr>
            <a:spLocks noGrp="1"/>
          </p:cNvSpPr>
          <p:nvPr>
            <p:ph type="sldNum" sz="quarter" idx="5"/>
          </p:nvPr>
        </p:nvSpPr>
        <p:spPr/>
        <p:txBody>
          <a:bodyPr/>
          <a:lstStyle/>
          <a:p>
            <a:fld id="{D88087DC-B753-0E4D-AABF-1CAE5E9128A4}" type="slidenum">
              <a:rPr lang="en-US" smtClean="0"/>
              <a:t>22</a:t>
            </a:fld>
            <a:endParaRPr lang="en-US"/>
          </a:p>
        </p:txBody>
      </p:sp>
    </p:spTree>
    <p:extLst>
      <p:ext uri="{BB962C8B-B14F-4D97-AF65-F5344CB8AC3E}">
        <p14:creationId xmlns:p14="http://schemas.microsoft.com/office/powerpoint/2010/main" val="901299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0BDCF-E8E1-D397-5518-E4062DED2429}"/>
              </a:ext>
            </a:extLst>
          </p:cNvPr>
          <p:cNvSpPr>
            <a:spLocks noGrp="1"/>
          </p:cNvSpPr>
          <p:nvPr>
            <p:ph type="ctrTitle"/>
          </p:nvPr>
        </p:nvSpPr>
        <p:spPr>
          <a:xfrm>
            <a:off x="1524000" y="1122363"/>
            <a:ext cx="9144000" cy="2387600"/>
          </a:xfrm>
        </p:spPr>
        <p:txBody>
          <a:bodyPr anchor="b"/>
          <a:lstStyle>
            <a:lvl1pPr algn="ctr">
              <a:defRPr sz="4800" baseline="0">
                <a:latin typeface="Arial"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C7DE2FAE-7571-B51A-D1B5-EACA5C6AA599}"/>
              </a:ext>
            </a:extLst>
          </p:cNvPr>
          <p:cNvSpPr>
            <a:spLocks noGrp="1"/>
          </p:cNvSpPr>
          <p:nvPr>
            <p:ph type="subTitle" idx="1"/>
          </p:nvPr>
        </p:nvSpPr>
        <p:spPr>
          <a:xfrm>
            <a:off x="1524000" y="3602038"/>
            <a:ext cx="9144000" cy="1655762"/>
          </a:xfrm>
        </p:spPr>
        <p:txBody>
          <a:bodyPr/>
          <a:lstStyle>
            <a:lvl1pPr marL="0" indent="0" algn="ctr">
              <a:buNone/>
              <a:defRPr sz="2800" baseline="0">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83933C-5D06-12F6-9F02-93889F406B57}"/>
              </a:ext>
            </a:extLst>
          </p:cNvPr>
          <p:cNvSpPr>
            <a:spLocks noGrp="1"/>
          </p:cNvSpPr>
          <p:nvPr>
            <p:ph type="dt" sz="half" idx="10"/>
          </p:nvPr>
        </p:nvSpPr>
        <p:spPr/>
        <p:txBody>
          <a:bodyPr/>
          <a:lstStyle/>
          <a:p>
            <a:fld id="{68A70E0C-661E-5F4C-856A-2868FFB9F102}" type="datetimeFigureOut">
              <a:rPr lang="en-US" smtClean="0"/>
              <a:t>9/27/26</a:t>
            </a:fld>
            <a:endParaRPr lang="en-US"/>
          </a:p>
        </p:txBody>
      </p:sp>
      <p:sp>
        <p:nvSpPr>
          <p:cNvPr id="5" name="Footer Placeholder 4">
            <a:extLst>
              <a:ext uri="{FF2B5EF4-FFF2-40B4-BE49-F238E27FC236}">
                <a16:creationId xmlns:a16="http://schemas.microsoft.com/office/drawing/2014/main" id="{245CC292-1229-B59E-15AE-F9FED168F35E}"/>
              </a:ext>
            </a:extLst>
          </p:cNvPr>
          <p:cNvSpPr>
            <a:spLocks noGrp="1"/>
          </p:cNvSpPr>
          <p:nvPr>
            <p:ph type="ftr" sz="quarter" idx="11"/>
          </p:nvPr>
        </p:nvSpPr>
        <p:spPr/>
        <p:txBody>
          <a:bodyPr/>
          <a:lstStyle/>
          <a:p>
            <a:r>
              <a:rPr lang="en-US"/>
              <a:t>Chp</a:t>
            </a:r>
            <a:r>
              <a:rPr lang="en-US" altLang="zh-CN"/>
              <a:t>1:</a:t>
            </a:r>
            <a:r>
              <a:rPr lang="zh-CN" altLang="en-US"/>
              <a:t> </a:t>
            </a:r>
            <a:r>
              <a:rPr lang="en-US" altLang="zh-CN"/>
              <a:t>Overview</a:t>
            </a:r>
            <a:r>
              <a:rPr lang="zh-CN" altLang="en-US"/>
              <a:t> </a:t>
            </a:r>
            <a:r>
              <a:rPr lang="en-US" altLang="zh-CN"/>
              <a:t>and</a:t>
            </a:r>
            <a:r>
              <a:rPr lang="zh-CN" altLang="en-US"/>
              <a:t> </a:t>
            </a:r>
            <a:r>
              <a:rPr lang="en-US" altLang="zh-CN"/>
              <a:t>Descriptive</a:t>
            </a:r>
            <a:r>
              <a:rPr lang="zh-CN" altLang="en-US"/>
              <a:t> </a:t>
            </a:r>
            <a:r>
              <a:rPr lang="en-US" altLang="zh-CN"/>
              <a:t>Statistics</a:t>
            </a:r>
            <a:endParaRPr lang="en-US"/>
          </a:p>
        </p:txBody>
      </p:sp>
      <p:sp>
        <p:nvSpPr>
          <p:cNvPr id="6" name="Slide Number Placeholder 5">
            <a:extLst>
              <a:ext uri="{FF2B5EF4-FFF2-40B4-BE49-F238E27FC236}">
                <a16:creationId xmlns:a16="http://schemas.microsoft.com/office/drawing/2014/main" id="{4D3458F4-56E3-D106-EFB4-D8A9A28C633E}"/>
              </a:ext>
            </a:extLst>
          </p:cNvPr>
          <p:cNvSpPr>
            <a:spLocks noGrp="1"/>
          </p:cNvSpPr>
          <p:nvPr>
            <p:ph type="sldNum" sz="quarter" idx="12"/>
          </p:nvPr>
        </p:nvSpPr>
        <p:spPr/>
        <p:txBody>
          <a:bodyPr/>
          <a:lstStyle/>
          <a:p>
            <a:fld id="{1B0FE9FE-FD1B-2B4A-8D68-FF88F2C603D6}" type="slidenum">
              <a:rPr lang="en-US" smtClean="0"/>
              <a:t>‹#›</a:t>
            </a:fld>
            <a:endParaRPr lang="en-US"/>
          </a:p>
        </p:txBody>
      </p:sp>
    </p:spTree>
    <p:extLst>
      <p:ext uri="{BB962C8B-B14F-4D97-AF65-F5344CB8AC3E}">
        <p14:creationId xmlns:p14="http://schemas.microsoft.com/office/powerpoint/2010/main" val="24189760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6769C-A6E4-0E68-BAF0-0BF4E161D2F8}"/>
              </a:ext>
            </a:extLst>
          </p:cNvPr>
          <p:cNvSpPr>
            <a:spLocks noGrp="1"/>
          </p:cNvSpPr>
          <p:nvPr>
            <p:ph type="title"/>
          </p:nvPr>
        </p:nvSpPr>
        <p:spPr>
          <a:xfrm>
            <a:off x="142504" y="117167"/>
            <a:ext cx="10515600" cy="1325563"/>
          </a:xfrm>
        </p:spPr>
        <p:txBody>
          <a:bodyPr/>
          <a:lstStyle>
            <a:lvl1pPr>
              <a:defRPr sz="4200" baseline="0">
                <a:latin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67D51174-C98E-49C2-D460-BC2C2E8F2515}"/>
              </a:ext>
            </a:extLst>
          </p:cNvPr>
          <p:cNvSpPr>
            <a:spLocks noGrp="1"/>
          </p:cNvSpPr>
          <p:nvPr>
            <p:ph idx="1"/>
          </p:nvPr>
        </p:nvSpPr>
        <p:spPr>
          <a:xfrm>
            <a:off x="244434" y="1540617"/>
            <a:ext cx="10515600" cy="4351338"/>
          </a:xfr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6AF3A2-87E5-6A47-F4D2-C3B1E2A11F85}"/>
              </a:ext>
            </a:extLst>
          </p:cNvPr>
          <p:cNvSpPr>
            <a:spLocks noGrp="1"/>
          </p:cNvSpPr>
          <p:nvPr>
            <p:ph type="dt" sz="half" idx="10"/>
          </p:nvPr>
        </p:nvSpPr>
        <p:spPr/>
        <p:txBody>
          <a:bodyPr/>
          <a:lstStyle/>
          <a:p>
            <a:fld id="{68A70E0C-661E-5F4C-856A-2868FFB9F102}" type="datetimeFigureOut">
              <a:rPr lang="en-US" smtClean="0"/>
              <a:t>9/27/26</a:t>
            </a:fld>
            <a:endParaRPr lang="en-US"/>
          </a:p>
        </p:txBody>
      </p:sp>
      <p:sp>
        <p:nvSpPr>
          <p:cNvPr id="5" name="Footer Placeholder 4">
            <a:extLst>
              <a:ext uri="{FF2B5EF4-FFF2-40B4-BE49-F238E27FC236}">
                <a16:creationId xmlns:a16="http://schemas.microsoft.com/office/drawing/2014/main" id="{0494A674-D754-24A7-4FEC-AAB299B22F8B}"/>
              </a:ext>
            </a:extLst>
          </p:cNvPr>
          <p:cNvSpPr>
            <a:spLocks noGrp="1"/>
          </p:cNvSpPr>
          <p:nvPr>
            <p:ph type="ftr" sz="quarter" idx="11"/>
          </p:nvPr>
        </p:nvSpPr>
        <p:spPr/>
        <p:txBody>
          <a:bodyPr/>
          <a:lstStyle/>
          <a:p>
            <a:r>
              <a:rPr lang="en-US"/>
              <a:t>Chp</a:t>
            </a:r>
            <a:r>
              <a:rPr lang="en-US" altLang="zh-CN"/>
              <a:t>1:</a:t>
            </a:r>
            <a:r>
              <a:rPr lang="zh-CN" altLang="en-US"/>
              <a:t> </a:t>
            </a:r>
            <a:r>
              <a:rPr lang="en-US" altLang="zh-CN"/>
              <a:t>Overview</a:t>
            </a:r>
            <a:r>
              <a:rPr lang="zh-CN" altLang="en-US"/>
              <a:t> </a:t>
            </a:r>
            <a:r>
              <a:rPr lang="en-US" altLang="zh-CN"/>
              <a:t>and</a:t>
            </a:r>
            <a:r>
              <a:rPr lang="zh-CN" altLang="en-US"/>
              <a:t> </a:t>
            </a:r>
            <a:r>
              <a:rPr lang="en-US" altLang="zh-CN"/>
              <a:t>Descriptive</a:t>
            </a:r>
            <a:r>
              <a:rPr lang="zh-CN" altLang="en-US"/>
              <a:t> </a:t>
            </a:r>
            <a:r>
              <a:rPr lang="en-US" altLang="zh-CN"/>
              <a:t>Statistics</a:t>
            </a:r>
            <a:endParaRPr lang="en-US"/>
          </a:p>
        </p:txBody>
      </p:sp>
      <p:sp>
        <p:nvSpPr>
          <p:cNvPr id="6" name="Slide Number Placeholder 5">
            <a:extLst>
              <a:ext uri="{FF2B5EF4-FFF2-40B4-BE49-F238E27FC236}">
                <a16:creationId xmlns:a16="http://schemas.microsoft.com/office/drawing/2014/main" id="{597E9AAE-DFD1-202F-BDEE-84C4F1EDC1AE}"/>
              </a:ext>
            </a:extLst>
          </p:cNvPr>
          <p:cNvSpPr>
            <a:spLocks noGrp="1"/>
          </p:cNvSpPr>
          <p:nvPr>
            <p:ph type="sldNum" sz="quarter" idx="12"/>
          </p:nvPr>
        </p:nvSpPr>
        <p:spPr/>
        <p:txBody>
          <a:bodyPr/>
          <a:lstStyle/>
          <a:p>
            <a:fld id="{1B0FE9FE-FD1B-2B4A-8D68-FF88F2C603D6}" type="slidenum">
              <a:rPr lang="en-US" smtClean="0"/>
              <a:t>‹#›</a:t>
            </a:fld>
            <a:endParaRPr lang="en-US"/>
          </a:p>
        </p:txBody>
      </p:sp>
    </p:spTree>
    <p:extLst>
      <p:ext uri="{BB962C8B-B14F-4D97-AF65-F5344CB8AC3E}">
        <p14:creationId xmlns:p14="http://schemas.microsoft.com/office/powerpoint/2010/main" val="21292253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35653-7140-B5F6-7329-FBE8381232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0827FA-41A6-9FBE-3545-CAC407CD13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81C7A5-3399-55D2-77DD-89F99CDDD467}"/>
              </a:ext>
            </a:extLst>
          </p:cNvPr>
          <p:cNvSpPr>
            <a:spLocks noGrp="1"/>
          </p:cNvSpPr>
          <p:nvPr>
            <p:ph type="dt" sz="half" idx="10"/>
          </p:nvPr>
        </p:nvSpPr>
        <p:spPr/>
        <p:txBody>
          <a:bodyPr/>
          <a:lstStyle/>
          <a:p>
            <a:fld id="{68A70E0C-661E-5F4C-856A-2868FFB9F102}" type="datetimeFigureOut">
              <a:rPr lang="en-US" smtClean="0"/>
              <a:t>9/27/26</a:t>
            </a:fld>
            <a:endParaRPr lang="en-US"/>
          </a:p>
        </p:txBody>
      </p:sp>
      <p:sp>
        <p:nvSpPr>
          <p:cNvPr id="5" name="Footer Placeholder 4">
            <a:extLst>
              <a:ext uri="{FF2B5EF4-FFF2-40B4-BE49-F238E27FC236}">
                <a16:creationId xmlns:a16="http://schemas.microsoft.com/office/drawing/2014/main" id="{518712EF-C5A8-A367-D3D3-DAB241C267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CDB7AC-CFD6-317B-B7EF-B92396EA4344}"/>
              </a:ext>
            </a:extLst>
          </p:cNvPr>
          <p:cNvSpPr>
            <a:spLocks noGrp="1"/>
          </p:cNvSpPr>
          <p:nvPr>
            <p:ph type="sldNum" sz="quarter" idx="12"/>
          </p:nvPr>
        </p:nvSpPr>
        <p:spPr/>
        <p:txBody>
          <a:bodyPr/>
          <a:lstStyle/>
          <a:p>
            <a:fld id="{1B0FE9FE-FD1B-2B4A-8D68-FF88F2C603D6}" type="slidenum">
              <a:rPr lang="en-US" smtClean="0"/>
              <a:t>‹#›</a:t>
            </a:fld>
            <a:endParaRPr lang="en-US"/>
          </a:p>
        </p:txBody>
      </p:sp>
    </p:spTree>
    <p:extLst>
      <p:ext uri="{BB962C8B-B14F-4D97-AF65-F5344CB8AC3E}">
        <p14:creationId xmlns:p14="http://schemas.microsoft.com/office/powerpoint/2010/main" val="3469493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47691-B28B-F1A5-68FA-107F164D4D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500A1B-BFA9-731F-238F-60A2D1A9B2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B3D08F-3612-1C99-038B-40FF02046B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5B684F-AE5B-4F83-5D5A-D8AD853A3272}"/>
              </a:ext>
            </a:extLst>
          </p:cNvPr>
          <p:cNvSpPr>
            <a:spLocks noGrp="1"/>
          </p:cNvSpPr>
          <p:nvPr>
            <p:ph type="dt" sz="half" idx="10"/>
          </p:nvPr>
        </p:nvSpPr>
        <p:spPr/>
        <p:txBody>
          <a:bodyPr/>
          <a:lstStyle/>
          <a:p>
            <a:fld id="{68A70E0C-661E-5F4C-856A-2868FFB9F102}" type="datetimeFigureOut">
              <a:rPr lang="en-US" smtClean="0"/>
              <a:t>9/27/26</a:t>
            </a:fld>
            <a:endParaRPr lang="en-US"/>
          </a:p>
        </p:txBody>
      </p:sp>
      <p:sp>
        <p:nvSpPr>
          <p:cNvPr id="6" name="Footer Placeholder 5">
            <a:extLst>
              <a:ext uri="{FF2B5EF4-FFF2-40B4-BE49-F238E27FC236}">
                <a16:creationId xmlns:a16="http://schemas.microsoft.com/office/drawing/2014/main" id="{FAE374CA-FAF9-C321-0FAB-7DD91AE362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9DCEC7-8D10-D7CD-F9EF-81229CAEF6FB}"/>
              </a:ext>
            </a:extLst>
          </p:cNvPr>
          <p:cNvSpPr>
            <a:spLocks noGrp="1"/>
          </p:cNvSpPr>
          <p:nvPr>
            <p:ph type="sldNum" sz="quarter" idx="12"/>
          </p:nvPr>
        </p:nvSpPr>
        <p:spPr/>
        <p:txBody>
          <a:bodyPr/>
          <a:lstStyle/>
          <a:p>
            <a:fld id="{1B0FE9FE-FD1B-2B4A-8D68-FF88F2C603D6}" type="slidenum">
              <a:rPr lang="en-US" smtClean="0"/>
              <a:t>‹#›</a:t>
            </a:fld>
            <a:endParaRPr lang="en-US"/>
          </a:p>
        </p:txBody>
      </p:sp>
    </p:spTree>
    <p:extLst>
      <p:ext uri="{BB962C8B-B14F-4D97-AF65-F5344CB8AC3E}">
        <p14:creationId xmlns:p14="http://schemas.microsoft.com/office/powerpoint/2010/main" val="1784890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02C16-2D10-AAAB-B895-88BBF525D24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ED30C4-8949-03A0-9A86-8E53272C25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982C09-3C62-CD9F-2616-92C7EF878D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BBEB7E-357A-330B-661B-D1FFDC50CE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C250FE-C905-2B70-292C-2F176EE5E7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E8A05C-F7EE-E705-46AF-5668CC06C987}"/>
              </a:ext>
            </a:extLst>
          </p:cNvPr>
          <p:cNvSpPr>
            <a:spLocks noGrp="1"/>
          </p:cNvSpPr>
          <p:nvPr>
            <p:ph type="dt" sz="half" idx="10"/>
          </p:nvPr>
        </p:nvSpPr>
        <p:spPr/>
        <p:txBody>
          <a:bodyPr/>
          <a:lstStyle/>
          <a:p>
            <a:fld id="{68A70E0C-661E-5F4C-856A-2868FFB9F102}" type="datetimeFigureOut">
              <a:rPr lang="en-US" smtClean="0"/>
              <a:t>9/27/26</a:t>
            </a:fld>
            <a:endParaRPr lang="en-US"/>
          </a:p>
        </p:txBody>
      </p:sp>
      <p:sp>
        <p:nvSpPr>
          <p:cNvPr id="8" name="Footer Placeholder 7">
            <a:extLst>
              <a:ext uri="{FF2B5EF4-FFF2-40B4-BE49-F238E27FC236}">
                <a16:creationId xmlns:a16="http://schemas.microsoft.com/office/drawing/2014/main" id="{28CA39D3-3999-0FAC-D4AB-4399F41076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73A15F-526A-C7C7-4814-AD6F09B2A2D6}"/>
              </a:ext>
            </a:extLst>
          </p:cNvPr>
          <p:cNvSpPr>
            <a:spLocks noGrp="1"/>
          </p:cNvSpPr>
          <p:nvPr>
            <p:ph type="sldNum" sz="quarter" idx="12"/>
          </p:nvPr>
        </p:nvSpPr>
        <p:spPr/>
        <p:txBody>
          <a:bodyPr/>
          <a:lstStyle/>
          <a:p>
            <a:fld id="{1B0FE9FE-FD1B-2B4A-8D68-FF88F2C603D6}" type="slidenum">
              <a:rPr lang="en-US" smtClean="0"/>
              <a:t>‹#›</a:t>
            </a:fld>
            <a:endParaRPr lang="en-US"/>
          </a:p>
        </p:txBody>
      </p:sp>
    </p:spTree>
    <p:extLst>
      <p:ext uri="{BB962C8B-B14F-4D97-AF65-F5344CB8AC3E}">
        <p14:creationId xmlns:p14="http://schemas.microsoft.com/office/powerpoint/2010/main" val="181735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4AAEF-FEC3-E80D-C64D-390C740D36CD}"/>
              </a:ext>
            </a:extLst>
          </p:cNvPr>
          <p:cNvSpPr>
            <a:spLocks noGrp="1"/>
          </p:cNvSpPr>
          <p:nvPr>
            <p:ph type="title"/>
          </p:nvPr>
        </p:nvSpPr>
        <p:spPr>
          <a:xfrm>
            <a:off x="113806" y="136525"/>
            <a:ext cx="10515600" cy="1325563"/>
          </a:xfrm>
        </p:spPr>
        <p:txBody>
          <a:bodyPr/>
          <a:lstStyle>
            <a:lvl1pPr>
              <a:defRPr baseline="0">
                <a:latin typeface="Arial" panose="020B0604020202020204" pitchFamily="34" charset="0"/>
              </a:defRPr>
            </a:lvl1pPr>
          </a:lstStyle>
          <a:p>
            <a:r>
              <a:rPr lang="en-US"/>
              <a:t>Click to edit Master title style</a:t>
            </a:r>
          </a:p>
        </p:txBody>
      </p:sp>
      <p:sp>
        <p:nvSpPr>
          <p:cNvPr id="3" name="Date Placeholder 2">
            <a:extLst>
              <a:ext uri="{FF2B5EF4-FFF2-40B4-BE49-F238E27FC236}">
                <a16:creationId xmlns:a16="http://schemas.microsoft.com/office/drawing/2014/main" id="{3CCD0FFF-C333-40A4-055F-A36A3F17D7B3}"/>
              </a:ext>
            </a:extLst>
          </p:cNvPr>
          <p:cNvSpPr>
            <a:spLocks noGrp="1"/>
          </p:cNvSpPr>
          <p:nvPr>
            <p:ph type="dt" sz="half" idx="10"/>
          </p:nvPr>
        </p:nvSpPr>
        <p:spPr/>
        <p:txBody>
          <a:bodyPr/>
          <a:lstStyle/>
          <a:p>
            <a:fld id="{68A70E0C-661E-5F4C-856A-2868FFB9F102}" type="datetimeFigureOut">
              <a:rPr lang="en-US" smtClean="0"/>
              <a:t>9/27/26</a:t>
            </a:fld>
            <a:endParaRPr lang="en-US"/>
          </a:p>
        </p:txBody>
      </p:sp>
      <p:sp>
        <p:nvSpPr>
          <p:cNvPr id="4" name="Footer Placeholder 3">
            <a:extLst>
              <a:ext uri="{FF2B5EF4-FFF2-40B4-BE49-F238E27FC236}">
                <a16:creationId xmlns:a16="http://schemas.microsoft.com/office/drawing/2014/main" id="{94059EAF-95A8-43FA-9239-10A2294271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76B5DE-F790-9925-AB7E-9C2DFED7FAF8}"/>
              </a:ext>
            </a:extLst>
          </p:cNvPr>
          <p:cNvSpPr>
            <a:spLocks noGrp="1"/>
          </p:cNvSpPr>
          <p:nvPr>
            <p:ph type="sldNum" sz="quarter" idx="12"/>
          </p:nvPr>
        </p:nvSpPr>
        <p:spPr/>
        <p:txBody>
          <a:bodyPr/>
          <a:lstStyle/>
          <a:p>
            <a:fld id="{1B0FE9FE-FD1B-2B4A-8D68-FF88F2C603D6}" type="slidenum">
              <a:rPr lang="en-US" smtClean="0"/>
              <a:t>‹#›</a:t>
            </a:fld>
            <a:endParaRPr lang="en-US"/>
          </a:p>
        </p:txBody>
      </p:sp>
    </p:spTree>
    <p:extLst>
      <p:ext uri="{BB962C8B-B14F-4D97-AF65-F5344CB8AC3E}">
        <p14:creationId xmlns:p14="http://schemas.microsoft.com/office/powerpoint/2010/main" val="3722875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ECC6F3-79B8-D2A7-BEA8-36B151B41007}"/>
              </a:ext>
            </a:extLst>
          </p:cNvPr>
          <p:cNvSpPr>
            <a:spLocks noGrp="1"/>
          </p:cNvSpPr>
          <p:nvPr>
            <p:ph type="dt" sz="half" idx="10"/>
          </p:nvPr>
        </p:nvSpPr>
        <p:spPr/>
        <p:txBody>
          <a:bodyPr/>
          <a:lstStyle/>
          <a:p>
            <a:fld id="{68A70E0C-661E-5F4C-856A-2868FFB9F102}" type="datetimeFigureOut">
              <a:rPr lang="en-US" smtClean="0"/>
              <a:t>9/27/26</a:t>
            </a:fld>
            <a:endParaRPr lang="en-US"/>
          </a:p>
        </p:txBody>
      </p:sp>
      <p:sp>
        <p:nvSpPr>
          <p:cNvPr id="3" name="Footer Placeholder 2">
            <a:extLst>
              <a:ext uri="{FF2B5EF4-FFF2-40B4-BE49-F238E27FC236}">
                <a16:creationId xmlns:a16="http://schemas.microsoft.com/office/drawing/2014/main" id="{74ABA0DC-52C2-34E6-218B-BD3A91ABB4B8}"/>
              </a:ext>
            </a:extLst>
          </p:cNvPr>
          <p:cNvSpPr>
            <a:spLocks noGrp="1"/>
          </p:cNvSpPr>
          <p:nvPr>
            <p:ph type="ftr" sz="quarter" idx="11"/>
          </p:nvPr>
        </p:nvSpPr>
        <p:spPr/>
        <p:txBody>
          <a:bodyPr/>
          <a:lstStyle/>
          <a:p>
            <a:r>
              <a:rPr lang="en-US"/>
              <a:t>Chp</a:t>
            </a:r>
            <a:r>
              <a:rPr lang="en-US" altLang="zh-CN"/>
              <a:t>1:</a:t>
            </a:r>
            <a:r>
              <a:rPr lang="zh-CN" altLang="en-US"/>
              <a:t> </a:t>
            </a:r>
            <a:r>
              <a:rPr lang="en-US" altLang="zh-CN"/>
              <a:t>Overview</a:t>
            </a:r>
            <a:r>
              <a:rPr lang="zh-CN" altLang="en-US"/>
              <a:t> </a:t>
            </a:r>
            <a:r>
              <a:rPr lang="en-US" altLang="zh-CN"/>
              <a:t>and</a:t>
            </a:r>
            <a:r>
              <a:rPr lang="zh-CN" altLang="en-US"/>
              <a:t> </a:t>
            </a:r>
            <a:r>
              <a:rPr lang="en-US" altLang="zh-CN"/>
              <a:t>Descriptive</a:t>
            </a:r>
            <a:r>
              <a:rPr lang="zh-CN" altLang="en-US"/>
              <a:t> </a:t>
            </a:r>
            <a:r>
              <a:rPr lang="en-US" altLang="zh-CN"/>
              <a:t>Statistics</a:t>
            </a:r>
            <a:endParaRPr lang="en-US"/>
          </a:p>
        </p:txBody>
      </p:sp>
      <p:sp>
        <p:nvSpPr>
          <p:cNvPr id="4" name="Slide Number Placeholder 3">
            <a:extLst>
              <a:ext uri="{FF2B5EF4-FFF2-40B4-BE49-F238E27FC236}">
                <a16:creationId xmlns:a16="http://schemas.microsoft.com/office/drawing/2014/main" id="{8E7282C2-F7DA-E2B0-F0B7-9C544A8D41C5}"/>
              </a:ext>
            </a:extLst>
          </p:cNvPr>
          <p:cNvSpPr>
            <a:spLocks noGrp="1"/>
          </p:cNvSpPr>
          <p:nvPr>
            <p:ph type="sldNum" sz="quarter" idx="12"/>
          </p:nvPr>
        </p:nvSpPr>
        <p:spPr/>
        <p:txBody>
          <a:bodyPr/>
          <a:lstStyle/>
          <a:p>
            <a:fld id="{1B0FE9FE-FD1B-2B4A-8D68-FF88F2C603D6}" type="slidenum">
              <a:rPr lang="en-US" smtClean="0"/>
              <a:t>‹#›</a:t>
            </a:fld>
            <a:endParaRPr lang="en-US"/>
          </a:p>
        </p:txBody>
      </p:sp>
    </p:spTree>
    <p:extLst>
      <p:ext uri="{BB962C8B-B14F-4D97-AF65-F5344CB8AC3E}">
        <p14:creationId xmlns:p14="http://schemas.microsoft.com/office/powerpoint/2010/main" val="934984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01B15-B6DA-5A7F-CC8B-6452C6503D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1294ED-A0DB-B427-EA40-560B88DC2A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B961C7-2EE4-A225-0B46-BB62A18A8A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3A5BB2-EF66-4AAA-688E-AE0FE1DE81D5}"/>
              </a:ext>
            </a:extLst>
          </p:cNvPr>
          <p:cNvSpPr>
            <a:spLocks noGrp="1"/>
          </p:cNvSpPr>
          <p:nvPr>
            <p:ph type="dt" sz="half" idx="10"/>
          </p:nvPr>
        </p:nvSpPr>
        <p:spPr/>
        <p:txBody>
          <a:bodyPr/>
          <a:lstStyle/>
          <a:p>
            <a:fld id="{68A70E0C-661E-5F4C-856A-2868FFB9F102}" type="datetimeFigureOut">
              <a:rPr lang="en-US" smtClean="0"/>
              <a:t>9/27/26</a:t>
            </a:fld>
            <a:endParaRPr lang="en-US"/>
          </a:p>
        </p:txBody>
      </p:sp>
      <p:sp>
        <p:nvSpPr>
          <p:cNvPr id="6" name="Footer Placeholder 5">
            <a:extLst>
              <a:ext uri="{FF2B5EF4-FFF2-40B4-BE49-F238E27FC236}">
                <a16:creationId xmlns:a16="http://schemas.microsoft.com/office/drawing/2014/main" id="{2026D826-3CB1-1438-5BB6-B01960B8DD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5FD372-3928-D46A-AA62-C5F9FDE400F1}"/>
              </a:ext>
            </a:extLst>
          </p:cNvPr>
          <p:cNvSpPr>
            <a:spLocks noGrp="1"/>
          </p:cNvSpPr>
          <p:nvPr>
            <p:ph type="sldNum" sz="quarter" idx="12"/>
          </p:nvPr>
        </p:nvSpPr>
        <p:spPr/>
        <p:txBody>
          <a:bodyPr/>
          <a:lstStyle/>
          <a:p>
            <a:fld id="{1B0FE9FE-FD1B-2B4A-8D68-FF88F2C603D6}" type="slidenum">
              <a:rPr lang="en-US" smtClean="0"/>
              <a:t>‹#›</a:t>
            </a:fld>
            <a:endParaRPr lang="en-US"/>
          </a:p>
        </p:txBody>
      </p:sp>
    </p:spTree>
    <p:extLst>
      <p:ext uri="{BB962C8B-B14F-4D97-AF65-F5344CB8AC3E}">
        <p14:creationId xmlns:p14="http://schemas.microsoft.com/office/powerpoint/2010/main" val="3748123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84E7-204F-7307-D4C0-9FD166E4D3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5F4E5A-A845-B455-8A4B-944C04FE22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DAEBB9-32A0-DA08-2898-976286B12B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D8E67E-E3A3-4B87-0093-07601F53D72F}"/>
              </a:ext>
            </a:extLst>
          </p:cNvPr>
          <p:cNvSpPr>
            <a:spLocks noGrp="1"/>
          </p:cNvSpPr>
          <p:nvPr>
            <p:ph type="dt" sz="half" idx="10"/>
          </p:nvPr>
        </p:nvSpPr>
        <p:spPr/>
        <p:txBody>
          <a:bodyPr/>
          <a:lstStyle/>
          <a:p>
            <a:fld id="{68A70E0C-661E-5F4C-856A-2868FFB9F102}" type="datetimeFigureOut">
              <a:rPr lang="en-US" smtClean="0"/>
              <a:t>9/27/26</a:t>
            </a:fld>
            <a:endParaRPr lang="en-US"/>
          </a:p>
        </p:txBody>
      </p:sp>
      <p:sp>
        <p:nvSpPr>
          <p:cNvPr id="6" name="Footer Placeholder 5">
            <a:extLst>
              <a:ext uri="{FF2B5EF4-FFF2-40B4-BE49-F238E27FC236}">
                <a16:creationId xmlns:a16="http://schemas.microsoft.com/office/drawing/2014/main" id="{685E2B8D-4FE3-C3F8-F0B7-A674E92ED7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C07546-9655-BAFC-4863-C954181920A5}"/>
              </a:ext>
            </a:extLst>
          </p:cNvPr>
          <p:cNvSpPr>
            <a:spLocks noGrp="1"/>
          </p:cNvSpPr>
          <p:nvPr>
            <p:ph type="sldNum" sz="quarter" idx="12"/>
          </p:nvPr>
        </p:nvSpPr>
        <p:spPr/>
        <p:txBody>
          <a:bodyPr/>
          <a:lstStyle/>
          <a:p>
            <a:fld id="{1B0FE9FE-FD1B-2B4A-8D68-FF88F2C603D6}" type="slidenum">
              <a:rPr lang="en-US" smtClean="0"/>
              <a:t>‹#›</a:t>
            </a:fld>
            <a:endParaRPr lang="en-US"/>
          </a:p>
        </p:txBody>
      </p:sp>
    </p:spTree>
    <p:extLst>
      <p:ext uri="{BB962C8B-B14F-4D97-AF65-F5344CB8AC3E}">
        <p14:creationId xmlns:p14="http://schemas.microsoft.com/office/powerpoint/2010/main" val="2379886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07EBF-9C03-0919-66C7-CBB7815485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D061933-0CD1-7F4E-7ED8-406D5399F5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CD4C1B-331F-806B-1727-6C5D1269853D}"/>
              </a:ext>
            </a:extLst>
          </p:cNvPr>
          <p:cNvSpPr>
            <a:spLocks noGrp="1"/>
          </p:cNvSpPr>
          <p:nvPr>
            <p:ph type="dt" sz="half" idx="10"/>
          </p:nvPr>
        </p:nvSpPr>
        <p:spPr/>
        <p:txBody>
          <a:bodyPr/>
          <a:lstStyle/>
          <a:p>
            <a:fld id="{68A70E0C-661E-5F4C-856A-2868FFB9F102}" type="datetimeFigureOut">
              <a:rPr lang="en-US" smtClean="0"/>
              <a:t>9/27/26</a:t>
            </a:fld>
            <a:endParaRPr lang="en-US"/>
          </a:p>
        </p:txBody>
      </p:sp>
      <p:sp>
        <p:nvSpPr>
          <p:cNvPr id="5" name="Footer Placeholder 4">
            <a:extLst>
              <a:ext uri="{FF2B5EF4-FFF2-40B4-BE49-F238E27FC236}">
                <a16:creationId xmlns:a16="http://schemas.microsoft.com/office/drawing/2014/main" id="{FD24817F-9FF4-17FE-5724-3976A6AC20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0BD49-1DB8-7555-615D-5AC6C7EEFC0B}"/>
              </a:ext>
            </a:extLst>
          </p:cNvPr>
          <p:cNvSpPr>
            <a:spLocks noGrp="1"/>
          </p:cNvSpPr>
          <p:nvPr>
            <p:ph type="sldNum" sz="quarter" idx="12"/>
          </p:nvPr>
        </p:nvSpPr>
        <p:spPr/>
        <p:txBody>
          <a:bodyPr/>
          <a:lstStyle/>
          <a:p>
            <a:fld id="{1B0FE9FE-FD1B-2B4A-8D68-FF88F2C603D6}" type="slidenum">
              <a:rPr lang="en-US" smtClean="0"/>
              <a:t>‹#›</a:t>
            </a:fld>
            <a:endParaRPr lang="en-US"/>
          </a:p>
        </p:txBody>
      </p:sp>
    </p:spTree>
    <p:extLst>
      <p:ext uri="{BB962C8B-B14F-4D97-AF65-F5344CB8AC3E}">
        <p14:creationId xmlns:p14="http://schemas.microsoft.com/office/powerpoint/2010/main" val="3274243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957D9E-9CF9-7139-160A-D87056A46C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D26BCC-8E57-9ED1-3ADE-D8AE64580F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961A1E-FFC6-C928-7F2C-567752609BEA}"/>
              </a:ext>
            </a:extLst>
          </p:cNvPr>
          <p:cNvSpPr>
            <a:spLocks noGrp="1"/>
          </p:cNvSpPr>
          <p:nvPr>
            <p:ph type="dt" sz="half" idx="10"/>
          </p:nvPr>
        </p:nvSpPr>
        <p:spPr/>
        <p:txBody>
          <a:bodyPr/>
          <a:lstStyle/>
          <a:p>
            <a:fld id="{68A70E0C-661E-5F4C-856A-2868FFB9F102}" type="datetimeFigureOut">
              <a:rPr lang="en-US" smtClean="0"/>
              <a:t>9/27/26</a:t>
            </a:fld>
            <a:endParaRPr lang="en-US"/>
          </a:p>
        </p:txBody>
      </p:sp>
      <p:sp>
        <p:nvSpPr>
          <p:cNvPr id="5" name="Footer Placeholder 4">
            <a:extLst>
              <a:ext uri="{FF2B5EF4-FFF2-40B4-BE49-F238E27FC236}">
                <a16:creationId xmlns:a16="http://schemas.microsoft.com/office/drawing/2014/main" id="{39E57482-DF0B-DE3A-D14E-FA7230AE31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519C2D-A80A-B3EA-6B77-886B5B64A45F}"/>
              </a:ext>
            </a:extLst>
          </p:cNvPr>
          <p:cNvSpPr>
            <a:spLocks noGrp="1"/>
          </p:cNvSpPr>
          <p:nvPr>
            <p:ph type="sldNum" sz="quarter" idx="12"/>
          </p:nvPr>
        </p:nvSpPr>
        <p:spPr/>
        <p:txBody>
          <a:bodyPr/>
          <a:lstStyle/>
          <a:p>
            <a:fld id="{1B0FE9FE-FD1B-2B4A-8D68-FF88F2C603D6}" type="slidenum">
              <a:rPr lang="en-US" smtClean="0"/>
              <a:t>‹#›</a:t>
            </a:fld>
            <a:endParaRPr lang="en-US"/>
          </a:p>
        </p:txBody>
      </p:sp>
    </p:spTree>
    <p:extLst>
      <p:ext uri="{BB962C8B-B14F-4D97-AF65-F5344CB8AC3E}">
        <p14:creationId xmlns:p14="http://schemas.microsoft.com/office/powerpoint/2010/main" val="1192557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DB9E09-AFA0-F3B0-E63F-149155BAAF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B84BF4-C049-ECC2-665F-4B6C27FC33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0136FC-475B-3320-C92F-1DC46BEC6C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A70E0C-661E-5F4C-856A-2868FFB9F102}" type="datetimeFigureOut">
              <a:rPr lang="en-US" smtClean="0"/>
              <a:t>9/27/26</a:t>
            </a:fld>
            <a:endParaRPr lang="en-US"/>
          </a:p>
        </p:txBody>
      </p:sp>
      <p:sp>
        <p:nvSpPr>
          <p:cNvPr id="5" name="Footer Placeholder 4">
            <a:extLst>
              <a:ext uri="{FF2B5EF4-FFF2-40B4-BE49-F238E27FC236}">
                <a16:creationId xmlns:a16="http://schemas.microsoft.com/office/drawing/2014/main" id="{FBCEA429-0D6E-6137-1969-5F54FBEEA7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1CD3B0E-3C27-761C-FD41-45576366EC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0FE9FE-FD1B-2B4A-8D68-FF88F2C603D6}" type="slidenum">
              <a:rPr lang="en-US" smtClean="0"/>
              <a:t>‹#›</a:t>
            </a:fld>
            <a:endParaRPr lang="en-US"/>
          </a:p>
        </p:txBody>
      </p:sp>
    </p:spTree>
    <p:extLst>
      <p:ext uri="{BB962C8B-B14F-4D97-AF65-F5344CB8AC3E}">
        <p14:creationId xmlns:p14="http://schemas.microsoft.com/office/powerpoint/2010/main" val="2164329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8A9AE-2D29-91B1-A571-0DAC732F9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6E1DEC-268A-416C-6A91-CA42C90FD23B}"/>
              </a:ext>
            </a:extLst>
          </p:cNvPr>
          <p:cNvSpPr>
            <a:spLocks noGrp="1"/>
          </p:cNvSpPr>
          <p:nvPr>
            <p:ph type="ctrTitle"/>
          </p:nvPr>
        </p:nvSpPr>
        <p:spPr>
          <a:xfrm>
            <a:off x="1137683" y="1041400"/>
            <a:ext cx="9916633" cy="2387600"/>
          </a:xfrm>
        </p:spPr>
        <p:txBody>
          <a:bodyPr>
            <a:normAutofit/>
          </a:bodyPr>
          <a:lstStyle/>
          <a:p>
            <a:r>
              <a:rPr lang="en-US" b="1" dirty="0"/>
              <a:t> </a:t>
            </a:r>
            <a:r>
              <a:rPr lang="en-US" altLang="zh-CN" dirty="0"/>
              <a:t>The Normal Distribution</a:t>
            </a:r>
          </a:p>
        </p:txBody>
      </p:sp>
      <p:sp>
        <p:nvSpPr>
          <p:cNvPr id="3" name="Subtitle 2">
            <a:extLst>
              <a:ext uri="{FF2B5EF4-FFF2-40B4-BE49-F238E27FC236}">
                <a16:creationId xmlns:a16="http://schemas.microsoft.com/office/drawing/2014/main" id="{2D451645-1711-E260-8D80-C50011B46A67}"/>
              </a:ext>
            </a:extLst>
          </p:cNvPr>
          <p:cNvSpPr>
            <a:spLocks noGrp="1"/>
          </p:cNvSpPr>
          <p:nvPr>
            <p:ph type="subTitle" idx="1"/>
          </p:nvPr>
        </p:nvSpPr>
        <p:spPr/>
        <p:txBody>
          <a:bodyPr/>
          <a:lstStyle/>
          <a:p>
            <a:r>
              <a:rPr lang="en-US" altLang="zh-CN" dirty="0" err="1"/>
              <a:t>Chpt</a:t>
            </a:r>
            <a:r>
              <a:rPr lang="zh-CN" altLang="en-US" dirty="0"/>
              <a:t> </a:t>
            </a:r>
            <a:r>
              <a:rPr lang="en-US" altLang="zh-CN" dirty="0"/>
              <a:t>4.3</a:t>
            </a:r>
          </a:p>
          <a:p>
            <a:r>
              <a:rPr lang="en-US" altLang="zh-CN" dirty="0"/>
              <a:t>Stat</a:t>
            </a:r>
            <a:r>
              <a:rPr lang="zh-CN" altLang="en-US" dirty="0"/>
              <a:t> </a:t>
            </a:r>
            <a:r>
              <a:rPr lang="en-US" altLang="zh-CN" dirty="0"/>
              <a:t>511,</a:t>
            </a:r>
            <a:r>
              <a:rPr lang="zh-CN" altLang="en-US" dirty="0"/>
              <a:t> </a:t>
            </a:r>
            <a:r>
              <a:rPr lang="en-US" altLang="zh-CN" dirty="0"/>
              <a:t>Fall</a:t>
            </a:r>
            <a:r>
              <a:rPr lang="zh-CN" altLang="en-US" dirty="0"/>
              <a:t> </a:t>
            </a:r>
            <a:r>
              <a:rPr lang="en-US" altLang="zh-CN" dirty="0"/>
              <a:t>2026</a:t>
            </a:r>
            <a:endParaRPr lang="en-US" dirty="0"/>
          </a:p>
        </p:txBody>
      </p:sp>
    </p:spTree>
    <p:extLst>
      <p:ext uri="{BB962C8B-B14F-4D97-AF65-F5344CB8AC3E}">
        <p14:creationId xmlns:p14="http://schemas.microsoft.com/office/powerpoint/2010/main" val="1082805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F8163DAC-600C-D9E4-9E23-386D88D8F692}"/>
              </a:ext>
            </a:extLst>
          </p:cNvPr>
          <p:cNvSpPr>
            <a:spLocks noGrp="1" noChangeArrowheads="1"/>
          </p:cNvSpPr>
          <p:nvPr>
            <p:ph type="title"/>
          </p:nvPr>
        </p:nvSpPr>
        <p:spPr/>
        <p:txBody>
          <a:bodyPr/>
          <a:lstStyle/>
          <a:p>
            <a:r>
              <a:rPr lang="en-US" dirty="0"/>
              <a:t>The Normal Distribution</a:t>
            </a:r>
            <a:endParaRPr lang="en-US" altLang="en-US" dirty="0"/>
          </a:p>
        </p:txBody>
      </p:sp>
      <p:sp>
        <p:nvSpPr>
          <p:cNvPr id="125955" name="Rectangle 3">
            <a:extLst>
              <a:ext uri="{FF2B5EF4-FFF2-40B4-BE49-F238E27FC236}">
                <a16:creationId xmlns:a16="http://schemas.microsoft.com/office/drawing/2014/main" id="{06253B9F-F61E-65E0-58A8-8B4E09F0916B}"/>
              </a:ext>
            </a:extLst>
          </p:cNvPr>
          <p:cNvSpPr>
            <a:spLocks noGrp="1" noChangeArrowheads="1"/>
          </p:cNvSpPr>
          <p:nvPr>
            <p:ph type="body" idx="1"/>
          </p:nvPr>
        </p:nvSpPr>
        <p:spPr>
          <a:xfrm>
            <a:off x="244434" y="1540616"/>
            <a:ext cx="10515600" cy="3945783"/>
          </a:xfrm>
        </p:spPr>
        <p:txBody>
          <a:bodyPr>
            <a:normAutofit/>
          </a:bodyPr>
          <a:lstStyle/>
          <a:p>
            <a:r>
              <a:rPr lang="en-US" dirty="0"/>
              <a:t>The normal distribution is a continuous probability distribution with a symmetric, bell-shaped density curve.</a:t>
            </a:r>
          </a:p>
          <a:p>
            <a:endParaRPr lang="en-US" dirty="0"/>
          </a:p>
          <a:p>
            <a:r>
              <a:rPr lang="en-US" dirty="0"/>
              <a:t>It provides a useful model for measurements such as adult heights within a relatively homogeneous population and some types of measurement error.</a:t>
            </a:r>
          </a:p>
          <a:p>
            <a:endParaRPr lang="en-US" dirty="0"/>
          </a:p>
          <a:p>
            <a:r>
              <a:rPr lang="en-US" dirty="0"/>
              <a:t>It plays a central role in statistical inference.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89285A63-1D76-1976-E7D0-113661AEE28B}"/>
              </a:ext>
            </a:extLst>
          </p:cNvPr>
          <p:cNvSpPr>
            <a:spLocks noGrp="1" noChangeArrowheads="1"/>
          </p:cNvSpPr>
          <p:nvPr>
            <p:ph type="title"/>
          </p:nvPr>
        </p:nvSpPr>
        <p:spPr>
          <a:noFill/>
        </p:spPr>
        <p:txBody>
          <a:bodyPr/>
          <a:lstStyle/>
          <a:p>
            <a:r>
              <a:rPr lang="en-US" altLang="en-US" dirty="0"/>
              <a:t>Definition and Notation</a:t>
            </a:r>
          </a:p>
        </p:txBody>
      </p:sp>
      <mc:AlternateContent xmlns:mc="http://schemas.openxmlformats.org/markup-compatibility/2006">
        <mc:Choice xmlns:a14="http://schemas.microsoft.com/office/drawing/2010/main" Requires="a14">
          <p:sp>
            <p:nvSpPr>
              <p:cNvPr id="135174" name="Rectangle 6">
                <a:extLst>
                  <a:ext uri="{FF2B5EF4-FFF2-40B4-BE49-F238E27FC236}">
                    <a16:creationId xmlns:a16="http://schemas.microsoft.com/office/drawing/2014/main" id="{6650F424-5BB9-E1F7-0EFD-DE9E8E87331A}"/>
                  </a:ext>
                </a:extLst>
              </p:cNvPr>
              <p:cNvSpPr>
                <a:spLocks noGrp="1" noChangeArrowheads="1"/>
              </p:cNvSpPr>
              <p:nvPr>
                <p:ph type="body" idx="1"/>
              </p:nvPr>
            </p:nvSpPr>
            <p:spPr>
              <a:xfrm>
                <a:off x="244434" y="1540616"/>
                <a:ext cx="10515600" cy="3945783"/>
              </a:xfrm>
            </p:spPr>
            <p:txBody>
              <a:bodyPr>
                <a:normAutofit fontScale="92500" lnSpcReduction="10000"/>
              </a:bodyPr>
              <a:lstStyle/>
              <a:p>
                <a:pPr marL="0" indent="0">
                  <a:buNone/>
                </a:pPr>
                <a:r>
                  <a:rPr lang="en-US" dirty="0"/>
                  <a:t>A continuous random variable </a:t>
                </a:r>
                <a14:m>
                  <m:oMath xmlns:m="http://schemas.openxmlformats.org/officeDocument/2006/math">
                    <m:r>
                      <a:rPr lang="en-US" b="0" i="1" dirty="0" smtClean="0">
                        <a:latin typeface="Cambria Math" panose="02040503050406030204" pitchFamily="18" charset="0"/>
                      </a:rPr>
                      <m:t>𝑋</m:t>
                    </m:r>
                  </m:oMath>
                </a14:m>
                <a:r>
                  <a:rPr lang="en-US" dirty="0"/>
                  <a:t> </a:t>
                </a:r>
                <a:r>
                  <a:rPr lang="en-US" altLang="zh-CN" dirty="0"/>
                  <a:t>follows</a:t>
                </a:r>
                <a:r>
                  <a:rPr lang="en-US" dirty="0"/>
                  <a:t> a </a:t>
                </a:r>
                <a:r>
                  <a:rPr lang="en-US" b="1" dirty="0"/>
                  <a:t>normal distribution</a:t>
                </a:r>
                <a:endParaRPr lang="en-US" dirty="0"/>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m:oMathPara>
                </a14:m>
                <a:endParaRPr lang="en-US" dirty="0"/>
              </a:p>
              <a:p>
                <a:pPr marL="0" indent="0">
                  <a:buNone/>
                </a:pPr>
                <a:endParaRPr lang="en-US" dirty="0"/>
              </a:p>
              <a:p>
                <a:pPr marL="0" indent="0">
                  <a:buNone/>
                </a:pPr>
                <a:r>
                  <a:rPr lang="en-US" dirty="0"/>
                  <a:t>if its probability density function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r>
                                <a:rPr lang="en-US" b="0" i="1" smtClean="0">
                                  <a:latin typeface="Cambria Math" panose="02040503050406030204" pitchFamily="18" charset="0"/>
                                </a:rPr>
                                <m:t>𝜋</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e>
                          </m:rad>
                        </m:den>
                      </m:f>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altLang="zh-CN" b="0" i="1" smtClean="0">
                                              <a:latin typeface="Cambria Math" panose="02040503050406030204" pitchFamily="18" charset="0"/>
                                            </a:rPr>
                                            <m:t>𝜇</m:t>
                                          </m:r>
                                        </m:e>
                                      </m:d>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den>
                              </m:f>
                            </m:e>
                          </m:d>
                        </m:e>
                      </m:func>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&lt;</m:t>
                      </m:r>
                      <m:r>
                        <a:rPr lang="en-US" b="0" i="1" smtClean="0">
                          <a:latin typeface="Cambria Math" panose="02040503050406030204" pitchFamily="18" charset="0"/>
                        </a:rPr>
                        <m:t>𝑥</m:t>
                      </m:r>
                      <m:r>
                        <a:rPr lang="en-US" b="0" i="1" smtClean="0">
                          <a:latin typeface="Cambria Math" panose="02040503050406030204" pitchFamily="18" charset="0"/>
                        </a:rPr>
                        <m:t>&lt;∞</m:t>
                      </m:r>
                    </m:oMath>
                  </m:oMathPara>
                </a14:m>
                <a:endParaRPr lang="en-US" dirty="0"/>
              </a:p>
              <a:p>
                <a:pPr marL="0" indent="0">
                  <a:buNone/>
                </a:pPr>
                <a:endParaRPr lang="en-US" dirty="0"/>
              </a:p>
              <a:p>
                <a:pPr marL="0" indent="0">
                  <a:buNone/>
                </a:pPr>
                <a:r>
                  <a:rPr lang="en-US" dirty="0"/>
                  <a:t>Where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&lt;</m:t>
                    </m:r>
                    <m:r>
                      <a:rPr lang="en-US" b="0" i="1" smtClean="0">
                        <a:latin typeface="Cambria Math" panose="02040503050406030204" pitchFamily="18" charset="0"/>
                      </a:rPr>
                      <m:t>𝜇</m:t>
                    </m:r>
                    <m:r>
                      <a:rPr lang="en-US" i="1">
                        <a:latin typeface="Cambria Math" panose="02040503050406030204" pitchFamily="18" charset="0"/>
                      </a:rPr>
                      <m:t>&lt;∞</m:t>
                    </m:r>
                    <m:r>
                      <a:rPr lang="en-US" b="0" i="1" smtClean="0">
                        <a:latin typeface="Cambria Math" panose="02040503050406030204" pitchFamily="18" charset="0"/>
                      </a:rPr>
                      <m:t>,</m:t>
                    </m:r>
                    <m:r>
                      <a:rPr lang="en-US" b="0" i="1" smtClean="0">
                        <a:latin typeface="Cambria Math" panose="02040503050406030204" pitchFamily="18" charset="0"/>
                      </a:rPr>
                      <m:t>𝜎</m:t>
                    </m:r>
                    <m:r>
                      <a:rPr lang="en-US" b="0" i="1" smtClean="0">
                        <a:latin typeface="Cambria Math" panose="02040503050406030204" pitchFamily="18" charset="0"/>
                      </a:rPr>
                      <m:t>&gt;0</m:t>
                    </m:r>
                  </m:oMath>
                </a14:m>
                <a:endParaRPr lang="en-US" dirty="0"/>
              </a:p>
            </p:txBody>
          </p:sp>
        </mc:Choice>
        <mc:Fallback>
          <p:sp>
            <p:nvSpPr>
              <p:cNvPr id="135174" name="Rectangle 6">
                <a:extLst>
                  <a:ext uri="{FF2B5EF4-FFF2-40B4-BE49-F238E27FC236}">
                    <a16:creationId xmlns:a16="http://schemas.microsoft.com/office/drawing/2014/main" id="{6650F424-5BB9-E1F7-0EFD-DE9E8E87331A}"/>
                  </a:ext>
                </a:extLst>
              </p:cNvPr>
              <p:cNvSpPr>
                <a:spLocks noGrp="1" noRot="1" noChangeAspect="1" noMove="1" noResize="1" noEditPoints="1" noAdjustHandles="1" noChangeArrowheads="1" noChangeShapeType="1" noTextEdit="1"/>
              </p:cNvSpPr>
              <p:nvPr>
                <p:ph type="body" idx="1"/>
              </p:nvPr>
            </p:nvSpPr>
            <p:spPr>
              <a:xfrm>
                <a:off x="244434" y="1540616"/>
                <a:ext cx="10515600" cy="3945783"/>
              </a:xfrm>
              <a:blipFill>
                <a:blip r:embed="rId3"/>
                <a:stretch>
                  <a:fillRect l="-1086" t="-3526"/>
                </a:stretch>
              </a:blipFill>
            </p:spPr>
            <p:txBody>
              <a:bodyPr/>
              <a:lstStyle/>
              <a:p>
                <a:r>
                  <a:rPr 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C3AAE34-B98B-15D2-5DD1-0428E67CF474}"/>
                  </a:ext>
                </a:extLst>
              </p:cNvPr>
              <p:cNvSpPr>
                <a:spLocks noGrp="1"/>
              </p:cNvSpPr>
              <p:nvPr>
                <p:ph type="title"/>
              </p:nvPr>
            </p:nvSpPr>
            <p:spPr/>
            <p:txBody>
              <a:bodyPr/>
              <a:lstStyle/>
              <a:p>
                <a:r>
                  <a:rPr lang="en-US" dirty="0"/>
                  <a:t>Interpreting </a:t>
                </a:r>
                <a14:m>
                  <m:oMath xmlns:m="http://schemas.openxmlformats.org/officeDocument/2006/math">
                    <m:r>
                      <a:rPr lang="en-US" i="1">
                        <a:latin typeface="Cambria Math" panose="02040503050406030204" pitchFamily="18" charset="0"/>
                      </a:rPr>
                      <m:t>𝜇</m:t>
                    </m:r>
                    <m:r>
                      <a:rPr lang="en-US" i="1">
                        <a:latin typeface="Cambria Math" panose="02040503050406030204" pitchFamily="18" charset="0"/>
                      </a:rPr>
                      <m:t> </m:t>
                    </m:r>
                  </m:oMath>
                </a14:m>
                <a:r>
                  <a:rPr lang="en-US" dirty="0"/>
                  <a:t>and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 </m:t>
                    </m:r>
                  </m:oMath>
                </a14:m>
                <a:endParaRPr lang="en-US" dirty="0"/>
              </a:p>
            </p:txBody>
          </p:sp>
        </mc:Choice>
        <mc:Fallback xmlns="">
          <p:sp>
            <p:nvSpPr>
              <p:cNvPr id="2" name="Title 1">
                <a:extLst>
                  <a:ext uri="{FF2B5EF4-FFF2-40B4-BE49-F238E27FC236}">
                    <a16:creationId xmlns:a16="http://schemas.microsoft.com/office/drawing/2014/main" id="{9C3AAE34-B98B-15D2-5DD1-0428E67CF474}"/>
                  </a:ext>
                </a:extLst>
              </p:cNvPr>
              <p:cNvSpPr>
                <a:spLocks noGrp="1" noRot="1" noChangeAspect="1" noMove="1" noResize="1" noEditPoints="1" noAdjustHandles="1" noChangeArrowheads="1" noChangeShapeType="1" noTextEdit="1"/>
              </p:cNvSpPr>
              <p:nvPr>
                <p:ph type="title"/>
              </p:nvPr>
            </p:nvSpPr>
            <p:spPr>
              <a:blipFill>
                <a:blip r:embed="rId3"/>
                <a:stretch>
                  <a:fillRect l="-22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210109B-D322-689E-13B6-D806A3A0D7DA}"/>
                  </a:ext>
                </a:extLst>
              </p:cNvPr>
              <p:cNvSpPr>
                <a:spLocks noGrp="1"/>
              </p:cNvSpPr>
              <p:nvPr>
                <p:ph idx="1"/>
              </p:nvPr>
            </p:nvSpPr>
            <p:spPr/>
            <p:txBody>
              <a:bodyPr>
                <a:normAutofit/>
              </a:bodyPr>
              <a:lstStyle/>
              <a:p>
                <a:pPr marL="0" indent="0">
                  <a:buNone/>
                </a:pPr>
                <a:r>
                  <a:rPr lang="en-US" dirty="0"/>
                  <a:t>The parameters are the mean and variance:</a:t>
                </a: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m:t>
                      </m:r>
                      <m:d>
                        <m:dPr>
                          <m:ctrlPr>
                            <a:rPr lang="en-US" i="1">
                              <a:latin typeface="Cambria Math" panose="02040503050406030204" pitchFamily="18" charset="0"/>
                            </a:rPr>
                          </m:ctrlPr>
                        </m:dPr>
                        <m:e>
                          <m:r>
                            <a:rPr lang="en-US" i="1">
                              <a:latin typeface="Cambria Math" panose="02040503050406030204" pitchFamily="18" charset="0"/>
                            </a:rPr>
                            <m:t>𝑋</m:t>
                          </m:r>
                        </m:e>
                      </m:d>
                      <m:r>
                        <a:rPr lang="en-US" i="1">
                          <a:latin typeface="Cambria Math" panose="02040503050406030204" pitchFamily="18" charset="0"/>
                        </a:rPr>
                        <m:t>=</m:t>
                      </m:r>
                      <m:r>
                        <a:rPr lang="en-US" i="1">
                          <a:latin typeface="Cambria Math" panose="02040503050406030204" pitchFamily="18" charset="0"/>
                        </a:rPr>
                        <m:t>𝜇</m:t>
                      </m:r>
                      <m:r>
                        <a:rPr lang="en-US" altLang="zh-CN">
                          <a:latin typeface="Cambria Math" panose="02040503050406030204" pitchFamily="18" charset="0"/>
                        </a:rPr>
                        <m:t>,</m:t>
                      </m:r>
                    </m:oMath>
                  </m:oMathPara>
                </a14:m>
                <a:endParaRPr lang="en-US" altLang="zh-CN"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𝑉𝑎𝑟</m:t>
                      </m:r>
                      <m:d>
                        <m:dPr>
                          <m:ctrlPr>
                            <a:rPr lang="en-US" i="1">
                              <a:latin typeface="Cambria Math" panose="02040503050406030204" pitchFamily="18" charset="0"/>
                            </a:rPr>
                          </m:ctrlPr>
                        </m:dPr>
                        <m:e>
                          <m:r>
                            <a:rPr lang="en-US" i="1">
                              <a:latin typeface="Cambria Math" panose="02040503050406030204" pitchFamily="18" charset="0"/>
                            </a:rPr>
                            <m:t>𝑋</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oMath>
                  </m:oMathPara>
                </a14:m>
                <a:endParaRPr lang="en-US" i="1" dirty="0">
                  <a:latin typeface="Cambria Math" panose="02040503050406030204" pitchFamily="18" charset="0"/>
                </a:endParaRPr>
              </a:p>
              <a:p>
                <a14:m>
                  <m:oMath xmlns:m="http://schemas.openxmlformats.org/officeDocument/2006/math">
                    <m:r>
                      <a:rPr lang="en-US" i="1">
                        <a:latin typeface="Cambria Math" panose="02040503050406030204" pitchFamily="18" charset="0"/>
                      </a:rPr>
                      <m:t>𝜇</m:t>
                    </m:r>
                    <m:r>
                      <a:rPr lang="en-US" i="1">
                        <a:latin typeface="Cambria Math" panose="02040503050406030204" pitchFamily="18" charset="0"/>
                      </a:rPr>
                      <m:t> </m:t>
                    </m:r>
                  </m:oMath>
                </a14:m>
                <a:r>
                  <a:rPr lang="en-US" b="1" dirty="0"/>
                  <a:t>determines the center.</a:t>
                </a:r>
                <a:r>
                  <a:rPr lang="en-US" dirty="0"/>
                  <a:t> The curve is symmetric about </a:t>
                </a:r>
                <a14:m>
                  <m:oMath xmlns:m="http://schemas.openxmlformats.org/officeDocument/2006/math">
                    <m:r>
                      <a:rPr lang="en-US" i="1">
                        <a:latin typeface="Cambria Math" panose="02040503050406030204" pitchFamily="18" charset="0"/>
                      </a:rPr>
                      <m:t>𝜇</m:t>
                    </m:r>
                  </m:oMath>
                </a14:m>
                <a:r>
                  <a:rPr lang="en-US" dirty="0"/>
                  <a:t>, and the mean, median, and mode all equal </a:t>
                </a:r>
                <a14:m>
                  <m:oMath xmlns:m="http://schemas.openxmlformats.org/officeDocument/2006/math">
                    <m:r>
                      <a:rPr lang="en-US" i="1">
                        <a:latin typeface="Cambria Math" panose="02040503050406030204" pitchFamily="18" charset="0"/>
                      </a:rPr>
                      <m:t>𝜇</m:t>
                    </m:r>
                  </m:oMath>
                </a14:m>
                <a:r>
                  <a:rPr lang="en-US" dirty="0"/>
                  <a:t>.</a:t>
                </a:r>
              </a:p>
              <a:p>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 </m:t>
                    </m:r>
                  </m:oMath>
                </a14:m>
                <a:r>
                  <a:rPr lang="en-US" b="1" dirty="0"/>
                  <a:t>determines the spread.</a:t>
                </a:r>
                <a:r>
                  <a:rPr lang="en-US" dirty="0"/>
                  <a:t> A larger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 </m:t>
                    </m:r>
                  </m:oMath>
                </a14:m>
                <a:r>
                  <a:rPr lang="en-US" dirty="0"/>
                  <a:t>produces a wider, flatter curve. A smaller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 </m:t>
                    </m:r>
                  </m:oMath>
                </a14:m>
                <a:r>
                  <a:rPr lang="en-US" dirty="0"/>
                  <a:t>produces a narrower, taller curve.</a:t>
                </a:r>
              </a:p>
              <a:p>
                <a:r>
                  <a:rPr lang="en-US" dirty="0"/>
                  <a:t>Changing </a:t>
                </a:r>
                <a14:m>
                  <m:oMath xmlns:m="http://schemas.openxmlformats.org/officeDocument/2006/math">
                    <m:r>
                      <a:rPr lang="en-US" i="1">
                        <a:latin typeface="Cambria Math" panose="02040503050406030204" pitchFamily="18" charset="0"/>
                      </a:rPr>
                      <m:t>𝜇</m:t>
                    </m:r>
                    <m:r>
                      <a:rPr lang="en-US" i="1">
                        <a:latin typeface="Cambria Math" panose="02040503050406030204" pitchFamily="18" charset="0"/>
                      </a:rPr>
                      <m:t> </m:t>
                    </m:r>
                  </m:oMath>
                </a14:m>
                <a:r>
                  <a:rPr lang="en-US" dirty="0"/>
                  <a:t>shifts the curve horizontally without changing its shape.</a:t>
                </a:r>
              </a:p>
              <a:p>
                <a:endParaRPr lang="en-US" dirty="0"/>
              </a:p>
            </p:txBody>
          </p:sp>
        </mc:Choice>
        <mc:Fallback>
          <p:sp>
            <p:nvSpPr>
              <p:cNvPr id="3" name="Content Placeholder 2">
                <a:extLst>
                  <a:ext uri="{FF2B5EF4-FFF2-40B4-BE49-F238E27FC236}">
                    <a16:creationId xmlns:a16="http://schemas.microsoft.com/office/drawing/2014/main" id="{D210109B-D322-689E-13B6-D806A3A0D7DA}"/>
                  </a:ext>
                </a:extLst>
              </p:cNvPr>
              <p:cNvSpPr>
                <a:spLocks noGrp="1" noRot="1" noChangeAspect="1" noMove="1" noResize="1" noEditPoints="1" noAdjustHandles="1" noChangeArrowheads="1" noChangeShapeType="1" noTextEdit="1"/>
              </p:cNvSpPr>
              <p:nvPr>
                <p:ph idx="1"/>
              </p:nvPr>
            </p:nvSpPr>
            <p:spPr>
              <a:blipFill>
                <a:blip r:embed="rId4"/>
                <a:stretch>
                  <a:fillRect l="-1206" t="-2616" r="-1448"/>
                </a:stretch>
              </a:blipFill>
            </p:spPr>
            <p:txBody>
              <a:bodyPr/>
              <a:lstStyle/>
              <a:p>
                <a:r>
                  <a:rPr lang="en-US">
                    <a:noFill/>
                  </a:rPr>
                  <a:t> </a:t>
                </a:r>
              </a:p>
            </p:txBody>
          </p:sp>
        </mc:Fallback>
      </mc:AlternateContent>
    </p:spTree>
    <p:extLst>
      <p:ext uri="{BB962C8B-B14F-4D97-AF65-F5344CB8AC3E}">
        <p14:creationId xmlns:p14="http://schemas.microsoft.com/office/powerpoint/2010/main" val="1617510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9E48A96F-10D5-1973-A4DE-5E68C76A8D2A}"/>
              </a:ext>
            </a:extLst>
          </p:cNvPr>
          <p:cNvSpPr>
            <a:spLocks noGrp="1" noChangeArrowheads="1"/>
          </p:cNvSpPr>
          <p:nvPr>
            <p:ph type="title"/>
          </p:nvPr>
        </p:nvSpPr>
        <p:spPr>
          <a:noFill/>
        </p:spPr>
        <p:txBody>
          <a:bodyPr/>
          <a:lstStyle/>
          <a:p>
            <a:r>
              <a:rPr lang="en-US" altLang="en-US"/>
              <a:t>The Normal Distribution</a:t>
            </a:r>
          </a:p>
        </p:txBody>
      </p:sp>
      <mc:AlternateContent xmlns:mc="http://schemas.openxmlformats.org/markup-compatibility/2006" xmlns:a14="http://schemas.microsoft.com/office/drawing/2010/main">
        <mc:Choice Requires="a14">
          <p:sp>
            <p:nvSpPr>
              <p:cNvPr id="129027" name="Rectangle 3">
                <a:extLst>
                  <a:ext uri="{FF2B5EF4-FFF2-40B4-BE49-F238E27FC236}">
                    <a16:creationId xmlns:a16="http://schemas.microsoft.com/office/drawing/2014/main" id="{4CAF1B61-6090-C06D-3B87-6AADEA45A39F}"/>
                  </a:ext>
                </a:extLst>
              </p:cNvPr>
              <p:cNvSpPr>
                <a:spLocks noGrp="1" noChangeArrowheads="1"/>
              </p:cNvSpPr>
              <p:nvPr>
                <p:ph type="body" idx="1"/>
              </p:nvPr>
            </p:nvSpPr>
            <p:spPr>
              <a:noFill/>
            </p:spPr>
            <p:txBody>
              <a:bodyPr/>
              <a:lstStyle/>
              <a:p>
                <a:pPr>
                  <a:tabLst>
                    <a:tab pos="457200" algn="l"/>
                    <a:tab pos="1371600" algn="l"/>
                    <a:tab pos="1547813" algn="l"/>
                  </a:tabLst>
                </a:pPr>
                <a:r>
                  <a:rPr lang="en-US" altLang="en-US" dirty="0">
                    <a:sym typeface="Symbol" pitchFamily="2" charset="2"/>
                  </a:rPr>
                  <a:t>Normal density for several different </a:t>
                </a:r>
                <a14:m>
                  <m:oMath xmlns:m="http://schemas.openxmlformats.org/officeDocument/2006/math">
                    <m:r>
                      <a:rPr lang="en-US" altLang="en-US" i="1" dirty="0" smtClean="0">
                        <a:latin typeface="Cambria Math" panose="02040503050406030204" pitchFamily="18" charset="0"/>
                        <a:sym typeface="Symbol" pitchFamily="2" charset="2"/>
                      </a:rPr>
                      <m:t>(</m:t>
                    </m:r>
                    <m:r>
                      <a:rPr lang="en-US" altLang="en-US" b="0" i="1" dirty="0" smtClean="0">
                        <a:latin typeface="Cambria Math" panose="02040503050406030204" pitchFamily="18" charset="0"/>
                        <a:sym typeface="Symbol" pitchFamily="2" charset="2"/>
                      </a:rPr>
                      <m:t>𝜇</m:t>
                    </m:r>
                    <m:r>
                      <a:rPr lang="en-US" altLang="en-US" i="1" dirty="0" smtClean="0">
                        <a:latin typeface="Cambria Math" panose="02040503050406030204" pitchFamily="18" charset="0"/>
                        <a:sym typeface="Symbol" pitchFamily="2" charset="2"/>
                      </a:rPr>
                      <m:t>, </m:t>
                    </m:r>
                    <m:sSup>
                      <m:sSupPr>
                        <m:ctrlPr>
                          <a:rPr lang="en-US" altLang="zh-CN" b="0" i="1" dirty="0" smtClean="0">
                            <a:latin typeface="Cambria Math" panose="02040503050406030204" pitchFamily="18" charset="0"/>
                            <a:sym typeface="Symbol" pitchFamily="2" charset="2"/>
                          </a:rPr>
                        </m:ctrlPr>
                      </m:sSupPr>
                      <m:e>
                        <m:r>
                          <a:rPr lang="en-US" altLang="en-US" b="0" i="1" dirty="0" smtClean="0">
                            <a:latin typeface="Cambria Math" panose="02040503050406030204" pitchFamily="18" charset="0"/>
                            <a:sym typeface="Symbol" pitchFamily="2" charset="2"/>
                          </a:rPr>
                          <m:t>𝜎</m:t>
                        </m:r>
                      </m:e>
                      <m:sup>
                        <m:r>
                          <a:rPr lang="en-US" altLang="zh-CN" b="0" i="1" dirty="0" smtClean="0">
                            <a:latin typeface="Cambria Math" panose="02040503050406030204" pitchFamily="18" charset="0"/>
                            <a:sym typeface="Symbol" pitchFamily="2" charset="2"/>
                          </a:rPr>
                          <m:t>2</m:t>
                        </m:r>
                      </m:sup>
                    </m:sSup>
                    <m:r>
                      <a:rPr lang="en-US" altLang="en-US" i="1" dirty="0" smtClean="0">
                        <a:latin typeface="Cambria Math" panose="02040503050406030204" pitchFamily="18" charset="0"/>
                        <a:sym typeface="Symbol" pitchFamily="2" charset="2"/>
                      </a:rPr>
                      <m:t>) </m:t>
                    </m:r>
                  </m:oMath>
                </a14:m>
                <a:r>
                  <a:rPr lang="en-US" altLang="en-US" dirty="0">
                    <a:sym typeface="Symbol" pitchFamily="2" charset="2"/>
                  </a:rPr>
                  <a:t>pairs. </a:t>
                </a:r>
              </a:p>
            </p:txBody>
          </p:sp>
        </mc:Choice>
        <mc:Fallback xmlns="">
          <p:sp>
            <p:nvSpPr>
              <p:cNvPr id="129027" name="Rectangle 3">
                <a:extLst>
                  <a:ext uri="{FF2B5EF4-FFF2-40B4-BE49-F238E27FC236}">
                    <a16:creationId xmlns:a16="http://schemas.microsoft.com/office/drawing/2014/main" id="{4CAF1B61-6090-C06D-3B87-6AADEA45A39F}"/>
                  </a:ext>
                </a:extLst>
              </p:cNvPr>
              <p:cNvSpPr>
                <a:spLocks noGrp="1" noRot="1" noChangeAspect="1" noMove="1" noResize="1" noEditPoints="1" noAdjustHandles="1" noChangeArrowheads="1" noChangeShapeType="1" noTextEdit="1"/>
              </p:cNvSpPr>
              <p:nvPr>
                <p:ph type="body" idx="1"/>
              </p:nvPr>
            </p:nvSpPr>
            <p:spPr>
              <a:blipFill>
                <a:blip r:embed="rId3"/>
                <a:stretch>
                  <a:fillRect l="-1043" t="-2521"/>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50A38067-62A3-D358-B65D-92DB02A9B2B5}"/>
              </a:ext>
            </a:extLst>
          </p:cNvPr>
          <p:cNvPicPr>
            <a:picLocks noChangeAspect="1"/>
          </p:cNvPicPr>
          <p:nvPr/>
        </p:nvPicPr>
        <p:blipFill>
          <a:blip r:embed="rId4"/>
          <a:stretch>
            <a:fillRect/>
          </a:stretch>
        </p:blipFill>
        <p:spPr>
          <a:xfrm>
            <a:off x="1347676" y="2284450"/>
            <a:ext cx="8909505" cy="385446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9390C-45EA-3D98-2BD0-C79F02717216}"/>
              </a:ext>
            </a:extLst>
          </p:cNvPr>
          <p:cNvSpPr>
            <a:spLocks noGrp="1"/>
          </p:cNvSpPr>
          <p:nvPr>
            <p:ph type="title"/>
          </p:nvPr>
        </p:nvSpPr>
        <p:spPr/>
        <p:txBody>
          <a:bodyPr/>
          <a:lstStyle/>
          <a:p>
            <a:r>
              <a:rPr lang="en-US" dirty="0"/>
              <a:t>Computing Normal Probabilities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2033C7E-1AD7-9CA6-4943-33D62CF2626A}"/>
                  </a:ext>
                </a:extLst>
              </p:cNvPr>
              <p:cNvSpPr>
                <a:spLocks noGrp="1"/>
              </p:cNvSpPr>
              <p:nvPr>
                <p:ph idx="1"/>
              </p:nvPr>
            </p:nvSpPr>
            <p:spPr/>
            <p:txBody>
              <a:bodyPr/>
              <a:lstStyle/>
              <a:p>
                <a:pPr marL="0" indent="0">
                  <a:buNone/>
                </a:pPr>
                <a:r>
                  <a:rPr lang="en-US" dirty="0"/>
                  <a:t>For</a:t>
                </a:r>
                <a:r>
                  <a:rPr lang="zh-CN" altLang="en-US" dirty="0"/>
                  <a:t> </a:t>
                </a:r>
                <a14:m>
                  <m:oMath xmlns:m="http://schemas.openxmlformats.org/officeDocument/2006/math">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a:rPr lang="en-US" altLang="zh-CN" b="0" i="1" smtClean="0">
                        <a:latin typeface="Cambria Math" panose="02040503050406030204" pitchFamily="18" charset="0"/>
                      </a:rPr>
                      <m:t>𝜇</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𝜎</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oMath>
                </a14:m>
                <a:r>
                  <a:rPr lang="en-US" altLang="zh-CN" dirty="0"/>
                  <a:t>,</a:t>
                </a:r>
                <a:r>
                  <a:rPr lang="zh-CN" altLang="en-US" dirty="0"/>
                  <a:t> </a:t>
                </a:r>
                <a:r>
                  <a:rPr lang="en-US" dirty="0"/>
                  <a:t>probabilities are areas under the density curve:</a:t>
                </a:r>
              </a:p>
              <a:p>
                <a:pPr marL="0" indent="0">
                  <a:buNone/>
                </a:pPr>
                <a14:m>
                  <m:oMathPara xmlns:m="http://schemas.openxmlformats.org/officeDocument/2006/math">
                    <m:oMathParaPr>
                      <m:jc m:val="centerGroup"/>
                    </m:oMathParaPr>
                    <m:oMath xmlns:m="http://schemas.openxmlformats.org/officeDocument/2006/math">
                      <m:r>
                        <a:rPr lang="en-US" altLang="en-US" i="1" dirty="0">
                          <a:latin typeface="Cambria Math" panose="02040503050406030204" pitchFamily="18" charset="0"/>
                          <a:sym typeface="Symbol" pitchFamily="2" charset="2"/>
                        </a:rPr>
                        <m:t>𝑃</m:t>
                      </m:r>
                      <m:d>
                        <m:dPr>
                          <m:ctrlPr>
                            <a:rPr lang="en-US" altLang="en-US" i="1" dirty="0">
                              <a:latin typeface="Cambria Math" panose="02040503050406030204" pitchFamily="18" charset="0"/>
                              <a:sym typeface="Symbol" pitchFamily="2" charset="2"/>
                            </a:rPr>
                          </m:ctrlPr>
                        </m:dPr>
                        <m:e>
                          <m:r>
                            <a:rPr lang="en-US" altLang="en-US" i="1" dirty="0">
                              <a:latin typeface="Cambria Math" panose="02040503050406030204" pitchFamily="18" charset="0"/>
                              <a:sym typeface="Symbol" pitchFamily="2" charset="2"/>
                            </a:rPr>
                            <m:t>𝑎</m:t>
                          </m:r>
                          <m:r>
                            <a:rPr lang="en-US" altLang="en-US" i="1" dirty="0">
                              <a:latin typeface="Cambria Math" panose="02040503050406030204" pitchFamily="18" charset="0"/>
                              <a:sym typeface="Symbol" pitchFamily="2" charset="2"/>
                            </a:rPr>
                            <m:t>  </m:t>
                          </m:r>
                          <m:r>
                            <a:rPr lang="en-US" altLang="en-US" i="1" dirty="0">
                              <a:latin typeface="Cambria Math" panose="02040503050406030204" pitchFamily="18" charset="0"/>
                              <a:sym typeface="Symbol" pitchFamily="2" charset="2"/>
                            </a:rPr>
                            <m:t>𝑋</m:t>
                          </m:r>
                          <m:r>
                            <a:rPr lang="en-US" altLang="en-US" i="1" dirty="0">
                              <a:latin typeface="Cambria Math" panose="02040503050406030204" pitchFamily="18" charset="0"/>
                              <a:sym typeface="Symbol" pitchFamily="2" charset="2"/>
                            </a:rPr>
                            <m:t>  </m:t>
                          </m:r>
                          <m:r>
                            <a:rPr lang="en-US" altLang="en-US" i="1" dirty="0">
                              <a:latin typeface="Cambria Math" panose="02040503050406030204" pitchFamily="18" charset="0"/>
                              <a:sym typeface="Symbol" pitchFamily="2" charset="2"/>
                            </a:rPr>
                            <m:t>𝑏</m:t>
                          </m:r>
                        </m:e>
                      </m:d>
                      <m:r>
                        <a:rPr lang="en-US" altLang="zh-CN" b="0" i="1" dirty="0" smtClean="0">
                          <a:latin typeface="Cambria Math" panose="02040503050406030204" pitchFamily="18" charset="0"/>
                          <a:sym typeface="Symbol" pitchFamily="2" charset="2"/>
                        </a:rPr>
                        <m:t>=</m:t>
                      </m:r>
                      <m:nary>
                        <m:naryPr>
                          <m:ctrlPr>
                            <a:rPr lang="en-US" i="1">
                              <a:latin typeface="Cambria Math" panose="02040503050406030204" pitchFamily="18" charset="0"/>
                            </a:rPr>
                          </m:ctrlPr>
                        </m:naryPr>
                        <m:sub>
                          <m:r>
                            <m:rPr>
                              <m:brk m:alnAt="23"/>
                            </m:rPr>
                            <a:rPr lang="en-US" i="1">
                              <a:latin typeface="Cambria Math" panose="02040503050406030204" pitchFamily="18" charset="0"/>
                            </a:rPr>
                            <m:t>𝑎</m:t>
                          </m:r>
                        </m:sub>
                        <m:sup>
                          <m:r>
                            <a:rPr lang="en-US" i="1">
                              <a:latin typeface="Cambria Math" panose="02040503050406030204" pitchFamily="18" charset="0"/>
                            </a:rPr>
                            <m:t>𝑏</m:t>
                          </m:r>
                        </m:sup>
                        <m:e>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e>
                              </m:rad>
                            </m:den>
                          </m:f>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altLang="zh-CN" i="1">
                                                  <a:latin typeface="Cambria Math" panose="02040503050406030204" pitchFamily="18" charset="0"/>
                                                </a:rPr>
                                                <m:t>𝜇</m:t>
                                              </m:r>
                                            </m:e>
                                          </m:d>
                                        </m:e>
                                        <m:sup>
                                          <m:r>
                                            <a:rPr lang="en-US" i="1">
                                              <a:latin typeface="Cambria Math" panose="02040503050406030204" pitchFamily="18" charset="0"/>
                                            </a:rPr>
                                            <m:t>2</m:t>
                                          </m:r>
                                        </m:sup>
                                      </m:sSup>
                                    </m:num>
                                    <m:den>
                                      <m:r>
                                        <a:rPr lang="en-US" i="1">
                                          <a:latin typeface="Cambria Math" panose="02040503050406030204" pitchFamily="18" charset="0"/>
                                        </a:rPr>
                                        <m:t>2</m:t>
                                      </m:r>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den>
                                  </m:f>
                                </m:e>
                              </m:d>
                            </m:e>
                          </m:func>
                          <m:r>
                            <a:rPr lang="en-US" i="1">
                              <a:latin typeface="Cambria Math" panose="02040503050406030204" pitchFamily="18" charset="0"/>
                            </a:rPr>
                            <m:t>𝑑𝑥</m:t>
                          </m:r>
                        </m:e>
                      </m:nary>
                    </m:oMath>
                  </m:oMathPara>
                </a14:m>
                <a:endParaRPr lang="en-US" dirty="0"/>
              </a:p>
              <a:p>
                <a:r>
                  <a:rPr lang="en-US" dirty="0"/>
                  <a:t>We use numerical methods to compute normal probabilities</a:t>
                </a:r>
              </a:p>
              <a:p>
                <a:r>
                  <a:rPr lang="en-US" dirty="0"/>
                  <a:t>Tables and software provide probabilities for the </a:t>
                </a:r>
                <a:r>
                  <a:rPr lang="en-US" b="1" dirty="0"/>
                  <a:t>standard normal distribution</a:t>
                </a:r>
                <a:r>
                  <a:rPr lang="en-US" altLang="zh-CN" dirty="0"/>
                  <a:t>,</a:t>
                </a:r>
                <a:r>
                  <a:rPr lang="zh-CN" altLang="en-US" dirty="0"/>
                  <a:t> </a:t>
                </a:r>
                <a14:m>
                  <m:oMath xmlns:m="http://schemas.openxmlformats.org/officeDocument/2006/math">
                    <m:r>
                      <a:rPr lang="en-US" altLang="zh-CN" b="0" i="1" smtClean="0">
                        <a:latin typeface="Cambria Math" panose="02040503050406030204" pitchFamily="18" charset="0"/>
                      </a:rPr>
                      <m:t>𝑁</m:t>
                    </m:r>
                    <m:r>
                      <a:rPr lang="en-US" altLang="zh-CN" b="0" i="1" smtClean="0">
                        <a:latin typeface="Cambria Math" panose="02040503050406030204" pitchFamily="18" charset="0"/>
                      </a:rPr>
                      <m:t>(0,1)</m:t>
                    </m:r>
                  </m:oMath>
                </a14:m>
                <a:endParaRPr lang="en-US" dirty="0"/>
              </a:p>
              <a:p>
                <a:r>
                  <a:rPr lang="en-US" dirty="0"/>
                  <a:t>By </a:t>
                </a:r>
                <a:r>
                  <a:rPr lang="en-US" b="1" dirty="0"/>
                  <a:t>standardizing</a:t>
                </a:r>
                <a:r>
                  <a:rPr lang="en-US" dirty="0"/>
                  <a:t>, we can use this one distribution to calculate probabilities for any normal random variable.</a:t>
                </a:r>
              </a:p>
            </p:txBody>
          </p:sp>
        </mc:Choice>
        <mc:Fallback>
          <p:sp>
            <p:nvSpPr>
              <p:cNvPr id="3" name="Content Placeholder 2">
                <a:extLst>
                  <a:ext uri="{FF2B5EF4-FFF2-40B4-BE49-F238E27FC236}">
                    <a16:creationId xmlns:a16="http://schemas.microsoft.com/office/drawing/2014/main" id="{42033C7E-1AD7-9CA6-4943-33D62CF2626A}"/>
                  </a:ext>
                </a:extLst>
              </p:cNvPr>
              <p:cNvSpPr>
                <a:spLocks noGrp="1" noRot="1" noChangeAspect="1" noMove="1" noResize="1" noEditPoints="1" noAdjustHandles="1" noChangeArrowheads="1" noChangeShapeType="1" noTextEdit="1"/>
              </p:cNvSpPr>
              <p:nvPr>
                <p:ph idx="1"/>
              </p:nvPr>
            </p:nvSpPr>
            <p:spPr>
              <a:blipFill>
                <a:blip r:embed="rId2"/>
                <a:stretch>
                  <a:fillRect l="-1206" t="-32267" r="-121"/>
                </a:stretch>
              </a:blipFill>
            </p:spPr>
            <p:txBody>
              <a:bodyPr/>
              <a:lstStyle/>
              <a:p>
                <a:r>
                  <a:rPr lang="en-US">
                    <a:noFill/>
                  </a:rPr>
                  <a:t> </a:t>
                </a:r>
              </a:p>
            </p:txBody>
          </p:sp>
        </mc:Fallback>
      </mc:AlternateContent>
    </p:spTree>
    <p:extLst>
      <p:ext uri="{BB962C8B-B14F-4D97-AF65-F5344CB8AC3E}">
        <p14:creationId xmlns:p14="http://schemas.microsoft.com/office/powerpoint/2010/main" val="350371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CD9B2DCF-567E-F5EB-027D-2992591232AA}"/>
              </a:ext>
            </a:extLst>
          </p:cNvPr>
          <p:cNvSpPr>
            <a:spLocks noGrp="1" noChangeArrowheads="1"/>
          </p:cNvSpPr>
          <p:nvPr>
            <p:ph type="title"/>
          </p:nvPr>
        </p:nvSpPr>
        <p:spPr>
          <a:noFill/>
        </p:spPr>
        <p:txBody>
          <a:bodyPr/>
          <a:lstStyle/>
          <a:p>
            <a:r>
              <a:rPr lang="en-US" altLang="en-US"/>
              <a:t>The Standard Normal Distribution</a:t>
            </a:r>
          </a:p>
        </p:txBody>
      </p:sp>
      <mc:AlternateContent xmlns:mc="http://schemas.openxmlformats.org/markup-compatibility/2006">
        <mc:Choice xmlns:a14="http://schemas.microsoft.com/office/drawing/2010/main" Requires="a14">
          <p:sp>
            <p:nvSpPr>
              <p:cNvPr id="135171" name="Rectangle 3">
                <a:extLst>
                  <a:ext uri="{FF2B5EF4-FFF2-40B4-BE49-F238E27FC236}">
                    <a16:creationId xmlns:a16="http://schemas.microsoft.com/office/drawing/2014/main" id="{87099A57-D7FF-C92F-DEFD-AC0F4580E93D}"/>
                  </a:ext>
                </a:extLst>
              </p:cNvPr>
              <p:cNvSpPr>
                <a:spLocks noGrp="1" noChangeArrowheads="1"/>
              </p:cNvSpPr>
              <p:nvPr>
                <p:ph type="body" idx="1"/>
              </p:nvPr>
            </p:nvSpPr>
            <p:spPr>
              <a:noFill/>
            </p:spPr>
            <p:txBody>
              <a:bodyPr>
                <a:normAutofit fontScale="92500" lnSpcReduction="20000"/>
              </a:bodyPr>
              <a:lstStyle/>
              <a:p>
                <a:pPr marL="0" indent="0">
                  <a:buNone/>
                  <a:tabLst>
                    <a:tab pos="457200" algn="l"/>
                    <a:tab pos="1371600" algn="l"/>
                    <a:tab pos="1547813" algn="l"/>
                  </a:tabLst>
                </a:pPr>
                <a:r>
                  <a:rPr lang="en-US" dirty="0"/>
                  <a:t>The </a:t>
                </a:r>
                <a:r>
                  <a:rPr lang="en-US" b="1" dirty="0"/>
                  <a:t>standard normal distribution</a:t>
                </a:r>
                <a:r>
                  <a:rPr lang="en-US" dirty="0"/>
                  <a:t> </a:t>
                </a:r>
                <a:r>
                  <a:rPr lang="en-US" altLang="zh-CN" dirty="0"/>
                  <a:t>has</a:t>
                </a:r>
                <a:r>
                  <a:rPr lang="zh-CN" altLang="en-US" dirty="0"/>
                  <a:t> </a:t>
                </a:r>
                <a:r>
                  <a:rPr lang="en-US" dirty="0"/>
                  <a:t>mean 0 and variance 1, denoted by</a:t>
                </a:r>
              </a:p>
              <a:p>
                <a:pPr marL="0" indent="0">
                  <a:buNone/>
                  <a:tabLst>
                    <a:tab pos="457200" algn="l"/>
                    <a:tab pos="1371600" algn="l"/>
                    <a:tab pos="1547813" algn="l"/>
                  </a:tabLst>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sym typeface="Symbol" pitchFamily="2" charset="2"/>
                        </a:rPr>
                        <m:t>𝑍</m:t>
                      </m:r>
                      <m:r>
                        <a:rPr lang="en-US" altLang="en-US" b="0" i="1" smtClean="0">
                          <a:latin typeface="Cambria Math" panose="02040503050406030204" pitchFamily="18" charset="0"/>
                          <a:sym typeface="Symbol" pitchFamily="2" charset="2"/>
                        </a:rPr>
                        <m:t>~</m:t>
                      </m:r>
                      <m:r>
                        <a:rPr lang="en-US" altLang="en-US" b="0" i="1" smtClean="0">
                          <a:latin typeface="Cambria Math" panose="02040503050406030204" pitchFamily="18" charset="0"/>
                          <a:sym typeface="Symbol" pitchFamily="2" charset="2"/>
                        </a:rPr>
                        <m:t>𝑁</m:t>
                      </m:r>
                      <m:r>
                        <a:rPr lang="en-US" altLang="en-US" b="0" i="1" smtClean="0">
                          <a:latin typeface="Cambria Math" panose="02040503050406030204" pitchFamily="18" charset="0"/>
                          <a:sym typeface="Symbol" pitchFamily="2" charset="2"/>
                        </a:rPr>
                        <m:t>(0,1)</m:t>
                      </m:r>
                    </m:oMath>
                  </m:oMathPara>
                </a14:m>
                <a:endParaRPr lang="en-US" altLang="en-US" dirty="0">
                  <a:sym typeface="Symbol" pitchFamily="2" charset="2"/>
                </a:endParaRPr>
              </a:p>
              <a:p>
                <a:pPr>
                  <a:tabLst>
                    <a:tab pos="457200" algn="l"/>
                    <a:tab pos="1371600" algn="l"/>
                    <a:tab pos="1547813" algn="l"/>
                  </a:tabLst>
                </a:pPr>
                <a:r>
                  <a:rPr lang="en-US" altLang="zh-CN" dirty="0"/>
                  <a:t>PDF</a:t>
                </a:r>
                <a:endParaRPr lang="en-US" dirty="0"/>
              </a:p>
              <a:p>
                <a:pPr marL="0" indent="0">
                  <a:buNone/>
                  <a:tabLst>
                    <a:tab pos="457200" algn="l"/>
                    <a:tab pos="1371600" algn="l"/>
                    <a:tab pos="1547813" algn="l"/>
                  </a:tabLst>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r>
                            <a:rPr lang="en-US" b="0" i="1" smtClean="0">
                              <a:latin typeface="Cambria Math" panose="02040503050406030204" pitchFamily="18" charset="0"/>
                            </a:rPr>
                            <m:t>;0,1</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den>
                      </m:f>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i="1">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2</m:t>
                                      </m:r>
                                    </m:sup>
                                  </m:sSup>
                                </m:num>
                                <m:den>
                                  <m:r>
                                    <a:rPr lang="en-US" i="1">
                                      <a:latin typeface="Cambria Math" panose="02040503050406030204" pitchFamily="18" charset="0"/>
                                    </a:rPr>
                                    <m:t>2</m:t>
                                  </m:r>
                                </m:den>
                              </m:f>
                            </m:e>
                          </m:d>
                        </m:e>
                      </m:func>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&lt;</m:t>
                      </m:r>
                      <m:r>
                        <a:rPr lang="en-US" b="0" i="1" smtClean="0">
                          <a:latin typeface="Cambria Math" panose="02040503050406030204" pitchFamily="18" charset="0"/>
                        </a:rPr>
                        <m:t>𝑧</m:t>
                      </m:r>
                      <m:r>
                        <a:rPr lang="en-US" b="0" i="1" smtClean="0">
                          <a:latin typeface="Cambria Math" panose="02040503050406030204" pitchFamily="18" charset="0"/>
                        </a:rPr>
                        <m:t>&lt;∞</m:t>
                      </m:r>
                    </m:oMath>
                  </m:oMathPara>
                </a14:m>
                <a:br>
                  <a:rPr lang="en-US" altLang="en-US" dirty="0">
                    <a:sym typeface="Symbol" pitchFamily="2" charset="2"/>
                  </a:rPr>
                </a:br>
                <a:endParaRPr lang="en-US" altLang="en-US" dirty="0">
                  <a:sym typeface="Symbol" pitchFamily="2" charset="2"/>
                </a:endParaRPr>
              </a:p>
              <a:p>
                <a:pPr lvl="1">
                  <a:tabLst>
                    <a:tab pos="457200" algn="l"/>
                    <a:tab pos="1371600" algn="l"/>
                    <a:tab pos="1547813" algn="l"/>
                  </a:tabLst>
                </a:pPr>
                <a:r>
                  <a:rPr lang="en-US" altLang="en-US" dirty="0">
                    <a:sym typeface="Symbol" pitchFamily="2" charset="2"/>
                  </a:rPr>
                  <a:t>Its inflection points are at 1 and </a:t>
                </a:r>
                <a:r>
                  <a:rPr lang="en-US" altLang="en-US" dirty="0"/>
                  <a:t>–1. </a:t>
                </a:r>
              </a:p>
              <a:p>
                <a:pPr>
                  <a:tabLst>
                    <a:tab pos="457200" algn="l"/>
                    <a:tab pos="1371600" algn="l"/>
                    <a:tab pos="1547813" algn="l"/>
                  </a:tabLst>
                </a:pPr>
                <a:r>
                  <a:rPr lang="en-US" altLang="zh-CN" dirty="0"/>
                  <a:t>CDF</a:t>
                </a:r>
                <a:endParaRPr lang="en-US" dirty="0"/>
              </a:p>
              <a:p>
                <a:pPr marL="0" indent="0">
                  <a:buNone/>
                  <a:tabLst>
                    <a:tab pos="457200" algn="l"/>
                    <a:tab pos="1371600" algn="l"/>
                    <a:tab pos="1547813" algn="l"/>
                  </a:tabLst>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Φ</m:t>
                      </m:r>
                      <m:d>
                        <m:dPr>
                          <m:ctrlPr>
                            <a:rPr lang="en-US" altLang="en-US" i="1" smtClean="0">
                              <a:latin typeface="Cambria Math" panose="02040503050406030204" pitchFamily="18" charset="0"/>
                            </a:rPr>
                          </m:ctrlPr>
                        </m:dPr>
                        <m:e>
                          <m:r>
                            <a:rPr lang="en-US" altLang="en-US" b="0" i="1" smtClean="0">
                              <a:latin typeface="Cambria Math" panose="02040503050406030204" pitchFamily="18" charset="0"/>
                            </a:rPr>
                            <m:t>𝑧</m:t>
                          </m:r>
                        </m:e>
                      </m:d>
                      <m:r>
                        <a:rPr lang="en-US" altLang="en-US" b="0" i="1" smtClean="0">
                          <a:latin typeface="Cambria Math" panose="02040503050406030204" pitchFamily="18" charset="0"/>
                        </a:rPr>
                        <m:t>=</m:t>
                      </m:r>
                      <m:r>
                        <a:rPr lang="en-US" altLang="en-US" b="0" i="1" smtClean="0">
                          <a:latin typeface="Cambria Math" panose="02040503050406030204" pitchFamily="18" charset="0"/>
                        </a:rPr>
                        <m:t>𝑃</m:t>
                      </m:r>
                      <m:d>
                        <m:dPr>
                          <m:ctrlPr>
                            <a:rPr lang="en-US" altLang="en-US" b="0" i="1" smtClean="0">
                              <a:latin typeface="Cambria Math" panose="02040503050406030204" pitchFamily="18" charset="0"/>
                            </a:rPr>
                          </m:ctrlPr>
                        </m:dPr>
                        <m:e>
                          <m:r>
                            <a:rPr lang="en-US" altLang="en-US" b="0" i="1" smtClean="0">
                              <a:latin typeface="Cambria Math" panose="02040503050406030204" pitchFamily="18" charset="0"/>
                            </a:rPr>
                            <m:t>𝑍</m:t>
                          </m:r>
                          <m:r>
                            <a:rPr lang="en-US" altLang="en-US" b="0" i="1" smtClean="0">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𝑧</m:t>
                          </m:r>
                        </m:e>
                      </m:d>
                      <m:r>
                        <a:rPr lang="en-US" altLang="en-US" b="0" i="1" smtClean="0">
                          <a:latin typeface="Cambria Math" panose="02040503050406030204" pitchFamily="18" charset="0"/>
                        </a:rPr>
                        <m:t>=</m:t>
                      </m:r>
                      <m:nary>
                        <m:naryPr>
                          <m:ctrlPr>
                            <a:rPr lang="en-US" b="0" i="1" smtClean="0">
                              <a:latin typeface="Cambria Math" panose="02040503050406030204" pitchFamily="18" charset="0"/>
                            </a:rPr>
                          </m:ctrlPr>
                        </m:naryPr>
                        <m: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rPr>
                            <m:t>𝑧</m:t>
                          </m:r>
                        </m:sup>
                        <m:e>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rPr>
                                    <m:t>𝜋</m:t>
                                  </m:r>
                                </m:e>
                              </m:rad>
                            </m:den>
                          </m:f>
                          <m:func>
                            <m:funcPr>
                              <m:ctrlPr>
                                <a:rPr lang="en-US" i="1">
                                  <a:latin typeface="Cambria Math" panose="02040503050406030204" pitchFamily="18" charset="0"/>
                                </a:rPr>
                              </m:ctrlPr>
                            </m:funcPr>
                            <m:fName>
                              <m:r>
                                <m:rPr>
                                  <m:sty m:val="p"/>
                                </m:rPr>
                                <a:rPr lang="en-US">
                                  <a:latin typeface="Cambria Math" panose="02040503050406030204" pitchFamily="18" charset="0"/>
                                </a:rPr>
                                <m:t>exp</m:t>
                              </m:r>
                            </m:fName>
                            <m:e>
                              <m:d>
                                <m:dPr>
                                  <m:ctrlPr>
                                    <a:rPr lang="en-US" i="1">
                                      <a:latin typeface="Cambria Math" panose="02040503050406030204" pitchFamily="18" charset="0"/>
                                    </a:rPr>
                                  </m:ctrlPr>
                                </m:dPr>
                                <m:e>
                                  <m:r>
                                    <a:rPr lang="en-US" i="1">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num>
                                    <m:den>
                                      <m:r>
                                        <a:rPr lang="en-US" i="1">
                                          <a:latin typeface="Cambria Math" panose="02040503050406030204" pitchFamily="18" charset="0"/>
                                        </a:rPr>
                                        <m:t>2</m:t>
                                      </m:r>
                                    </m:den>
                                  </m:f>
                                </m:e>
                              </m:d>
                            </m:e>
                          </m:func>
                          <m:r>
                            <a:rPr lang="en-US" i="1">
                              <a:latin typeface="Cambria Math" panose="02040503050406030204" pitchFamily="18" charset="0"/>
                            </a:rPr>
                            <m:t>𝑑𝑥</m:t>
                          </m:r>
                        </m:e>
                      </m:nary>
                    </m:oMath>
                  </m:oMathPara>
                </a14:m>
                <a:br>
                  <a:rPr lang="en-US" altLang="en-US" dirty="0"/>
                </a:br>
                <a14:m>
                  <m:oMath xmlns:m="http://schemas.openxmlformats.org/officeDocument/2006/math">
                    <m:r>
                      <m:rPr>
                        <m:sty m:val="p"/>
                      </m:rPr>
                      <a:rPr lang="en-US" altLang="zh-CN" b="0" i="1">
                        <a:latin typeface="Cambria Math" panose="02040503050406030204" pitchFamily="18" charset="0"/>
                      </a:rPr>
                      <m:t>Φ</m:t>
                    </m:r>
                    <m:d>
                      <m:dPr>
                        <m:ctrlPr>
                          <a:rPr lang="en-US" altLang="en-US" i="1">
                            <a:latin typeface="Cambria Math" panose="02040503050406030204" pitchFamily="18" charset="0"/>
                          </a:rPr>
                        </m:ctrlPr>
                      </m:dPr>
                      <m:e>
                        <m:r>
                          <a:rPr lang="en-US" altLang="en-US" b="0" i="1">
                            <a:latin typeface="Cambria Math" panose="02040503050406030204" pitchFamily="18" charset="0"/>
                          </a:rPr>
                          <m:t>𝑧</m:t>
                        </m:r>
                      </m:e>
                    </m:d>
                    <m:r>
                      <a:rPr lang="en-US" altLang="en-US" b="0" i="1">
                        <a:latin typeface="Cambria Math" panose="02040503050406030204" pitchFamily="18" charset="0"/>
                      </a:rPr>
                      <m:t> </m:t>
                    </m:r>
                  </m:oMath>
                </a14:m>
                <a:r>
                  <a:rPr lang="en-US" dirty="0"/>
                  <a:t>is the </a:t>
                </a:r>
                <a:r>
                  <a:rPr lang="en-US" b="1" dirty="0"/>
                  <a:t>area under the standard normal curve to the left of </a:t>
                </a:r>
                <a14:m>
                  <m:oMath xmlns:m="http://schemas.openxmlformats.org/officeDocument/2006/math">
                    <m:r>
                      <a:rPr lang="en-US" b="1" i="1" dirty="0" smtClean="0">
                        <a:latin typeface="Cambria Math" panose="02040503050406030204" pitchFamily="18" charset="0"/>
                      </a:rPr>
                      <m:t>𝒛</m:t>
                    </m:r>
                  </m:oMath>
                </a14:m>
                <a:r>
                  <a:rPr lang="en-US" dirty="0"/>
                  <a:t>.</a:t>
                </a:r>
              </a:p>
              <a:p>
                <a:pPr marL="0" indent="0">
                  <a:buNone/>
                  <a:tabLst>
                    <a:tab pos="457200" algn="l"/>
                    <a:tab pos="1371600" algn="l"/>
                    <a:tab pos="1547813" algn="l"/>
                  </a:tabLst>
                </a:pPr>
                <a:endParaRPr lang="en-US" altLang="en-US" dirty="0"/>
              </a:p>
            </p:txBody>
          </p:sp>
        </mc:Choice>
        <mc:Fallback>
          <p:sp>
            <p:nvSpPr>
              <p:cNvPr id="135171" name="Rectangle 3">
                <a:extLst>
                  <a:ext uri="{FF2B5EF4-FFF2-40B4-BE49-F238E27FC236}">
                    <a16:creationId xmlns:a16="http://schemas.microsoft.com/office/drawing/2014/main" id="{87099A57-D7FF-C92F-DEFD-AC0F4580E93D}"/>
                  </a:ext>
                </a:extLst>
              </p:cNvPr>
              <p:cNvSpPr>
                <a:spLocks noGrp="1" noRot="1" noChangeAspect="1" noMove="1" noResize="1" noEditPoints="1" noAdjustHandles="1" noChangeArrowheads="1" noChangeShapeType="1" noTextEdit="1"/>
              </p:cNvSpPr>
              <p:nvPr>
                <p:ph type="body" idx="1"/>
              </p:nvPr>
            </p:nvSpPr>
            <p:spPr>
              <a:blipFill>
                <a:blip r:embed="rId2"/>
                <a:stretch>
                  <a:fillRect l="-1086" t="-3779" b="-40698"/>
                </a:stretch>
              </a:blipFill>
            </p:spPr>
            <p:txBody>
              <a:bodyPr/>
              <a:lstStyle/>
              <a:p>
                <a:r>
                  <a:rPr 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4F865A3C-34DB-2FB1-2DF3-0C0208647F40}"/>
              </a:ext>
            </a:extLst>
          </p:cNvPr>
          <p:cNvSpPr>
            <a:spLocks noGrp="1" noChangeArrowheads="1"/>
          </p:cNvSpPr>
          <p:nvPr>
            <p:ph type="title"/>
          </p:nvPr>
        </p:nvSpPr>
        <p:spPr>
          <a:noFill/>
        </p:spPr>
        <p:txBody>
          <a:bodyPr/>
          <a:lstStyle/>
          <a:p>
            <a:r>
              <a:rPr lang="en-US" altLang="en-US"/>
              <a:t>The Standard Normal Distribution</a:t>
            </a:r>
          </a:p>
        </p:txBody>
      </p:sp>
      <mc:AlternateContent xmlns:mc="http://schemas.openxmlformats.org/markup-compatibility/2006">
        <mc:Choice xmlns:a14="http://schemas.microsoft.com/office/drawing/2010/main" Requires="a14">
          <p:sp>
            <p:nvSpPr>
              <p:cNvPr id="136195" name="Rectangle 3">
                <a:extLst>
                  <a:ext uri="{FF2B5EF4-FFF2-40B4-BE49-F238E27FC236}">
                    <a16:creationId xmlns:a16="http://schemas.microsoft.com/office/drawing/2014/main" id="{A2411BE8-90D3-5B3A-CBF6-0C7B3CC1A0AF}"/>
                  </a:ext>
                </a:extLst>
              </p:cNvPr>
              <p:cNvSpPr>
                <a:spLocks noGrp="1" noChangeArrowheads="1"/>
              </p:cNvSpPr>
              <p:nvPr>
                <p:ph type="body" idx="1"/>
              </p:nvPr>
            </p:nvSpPr>
            <p:spPr>
              <a:xfrm>
                <a:off x="281504" y="1253331"/>
                <a:ext cx="10515600" cy="4351338"/>
              </a:xfrm>
              <a:noFill/>
            </p:spPr>
            <p:txBody>
              <a:bodyPr/>
              <a:lstStyle/>
              <a:p>
                <a:pPr>
                  <a:tabLst>
                    <a:tab pos="457200" algn="l"/>
                    <a:tab pos="1371600" algn="l"/>
                    <a:tab pos="1547813" algn="l"/>
                  </a:tabLst>
                </a:pPr>
                <a:r>
                  <a:rPr lang="en-US" altLang="en-US" dirty="0"/>
                  <a:t>The standard normal distribution is a reference distribution from which information</a:t>
                </a:r>
                <a:r>
                  <a:rPr lang="zh-CN" altLang="en-US" dirty="0"/>
                  <a:t> </a:t>
                </a:r>
                <a:r>
                  <a:rPr lang="en-US" altLang="en-US" dirty="0"/>
                  <a:t>about other normal distributions can be obtained. </a:t>
                </a:r>
              </a:p>
              <a:p>
                <a:pPr>
                  <a:tabLst>
                    <a:tab pos="457200" algn="l"/>
                    <a:tab pos="1371600" algn="l"/>
                    <a:tab pos="1547813" algn="l"/>
                  </a:tabLst>
                </a:pPr>
                <a:r>
                  <a:rPr lang="en-US" altLang="en-US" dirty="0"/>
                  <a:t>Appendix Table gives  </a:t>
                </a:r>
                <a14:m>
                  <m:oMath xmlns:m="http://schemas.openxmlformats.org/officeDocument/2006/math">
                    <m:r>
                      <a:rPr lang="en-US" altLang="en-US" i="1" dirty="0" smtClean="0">
                        <a:latin typeface="Cambria Math" panose="02040503050406030204" pitchFamily="18" charset="0"/>
                      </a:rPr>
                      <m:t>𝑃</m:t>
                    </m:r>
                    <m:r>
                      <a:rPr lang="en-US" altLang="en-US" i="1" dirty="0">
                        <a:latin typeface="Cambria Math" panose="02040503050406030204" pitchFamily="18" charset="0"/>
                      </a:rPr>
                      <m:t>(</m:t>
                    </m:r>
                    <m:r>
                      <a:rPr lang="en-US" altLang="en-US" i="1" dirty="0">
                        <a:latin typeface="Cambria Math" panose="02040503050406030204" pitchFamily="18" charset="0"/>
                      </a:rPr>
                      <m:t>𝑍</m:t>
                    </m:r>
                    <m:r>
                      <a:rPr lang="en-US" altLang="en-US" i="1" dirty="0">
                        <a:latin typeface="Cambria Math" panose="02040503050406030204" pitchFamily="18" charset="0"/>
                      </a:rPr>
                      <m:t> ≤ </m:t>
                    </m:r>
                    <m:r>
                      <a:rPr lang="en-US" altLang="en-US" i="1" dirty="0">
                        <a:latin typeface="Cambria Math" panose="02040503050406030204" pitchFamily="18" charset="0"/>
                      </a:rPr>
                      <m:t>𝑧</m:t>
                    </m:r>
                    <m:r>
                      <a:rPr lang="en-US" altLang="en-US" i="1" dirty="0">
                        <a:latin typeface="Cambria Math" panose="02040503050406030204" pitchFamily="18" charset="0"/>
                      </a:rPr>
                      <m:t>)</m:t>
                    </m:r>
                  </m:oMath>
                </a14:m>
                <a:r>
                  <a:rPr lang="en-US" altLang="en-US" dirty="0"/>
                  <a:t>, the area under the standard normal density curve to the left of </a:t>
                </a:r>
                <a:r>
                  <a:rPr lang="en-US" altLang="en-US" i="1" dirty="0"/>
                  <a:t>z</a:t>
                </a:r>
                <a:r>
                  <a:rPr lang="en-US" altLang="en-US" dirty="0"/>
                  <a:t>.</a:t>
                </a:r>
              </a:p>
            </p:txBody>
          </p:sp>
        </mc:Choice>
        <mc:Fallback>
          <p:sp>
            <p:nvSpPr>
              <p:cNvPr id="136195" name="Rectangle 3">
                <a:extLst>
                  <a:ext uri="{FF2B5EF4-FFF2-40B4-BE49-F238E27FC236}">
                    <a16:creationId xmlns:a16="http://schemas.microsoft.com/office/drawing/2014/main" id="{A2411BE8-90D3-5B3A-CBF6-0C7B3CC1A0AF}"/>
                  </a:ext>
                </a:extLst>
              </p:cNvPr>
              <p:cNvSpPr>
                <a:spLocks noGrp="1" noRot="1" noChangeAspect="1" noMove="1" noResize="1" noEditPoints="1" noAdjustHandles="1" noChangeArrowheads="1" noChangeShapeType="1" noTextEdit="1"/>
              </p:cNvSpPr>
              <p:nvPr>
                <p:ph type="body" idx="1"/>
              </p:nvPr>
            </p:nvSpPr>
            <p:spPr>
              <a:xfrm>
                <a:off x="281504" y="1253331"/>
                <a:ext cx="10515600" cy="4351338"/>
              </a:xfrm>
              <a:blipFill>
                <a:blip r:embed="rId2"/>
                <a:stretch>
                  <a:fillRect l="-1086" t="-2326" r="-1206"/>
                </a:stretch>
              </a:blipFill>
            </p:spPr>
            <p:txBody>
              <a:bodyPr/>
              <a:lstStyle/>
              <a:p>
                <a:r>
                  <a:rPr lang="en-US">
                    <a:noFill/>
                  </a:rPr>
                  <a:t> </a:t>
                </a:r>
              </a:p>
            </p:txBody>
          </p:sp>
        </mc:Fallback>
      </mc:AlternateContent>
      <p:pic>
        <p:nvPicPr>
          <p:cNvPr id="2" name="Picture 8">
            <a:extLst>
              <a:ext uri="{FF2B5EF4-FFF2-40B4-BE49-F238E27FC236}">
                <a16:creationId xmlns:a16="http://schemas.microsoft.com/office/drawing/2014/main" id="{FB7A142D-FF5F-231F-5E21-9EB045D4F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2781" y="3853644"/>
            <a:ext cx="6778297" cy="26445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0E52-0189-61E7-41C7-406D295C4F8C}"/>
              </a:ext>
            </a:extLst>
          </p:cNvPr>
          <p:cNvSpPr>
            <a:spLocks noGrp="1"/>
          </p:cNvSpPr>
          <p:nvPr>
            <p:ph type="title"/>
          </p:nvPr>
        </p:nvSpPr>
        <p:spPr>
          <a:xfrm>
            <a:off x="7779189" y="5797435"/>
            <a:ext cx="3445169" cy="341757"/>
          </a:xfrm>
        </p:spPr>
        <p:txBody>
          <a:bodyPr>
            <a:noAutofit/>
          </a:bodyPr>
          <a:lstStyle/>
          <a:p>
            <a:r>
              <a:rPr lang="en-US" sz="2800" dirty="0"/>
              <a:t>Appendix Table 3</a:t>
            </a:r>
          </a:p>
        </p:txBody>
      </p:sp>
      <p:pic>
        <p:nvPicPr>
          <p:cNvPr id="4" name="Picture 3">
            <a:extLst>
              <a:ext uri="{FF2B5EF4-FFF2-40B4-BE49-F238E27FC236}">
                <a16:creationId xmlns:a16="http://schemas.microsoft.com/office/drawing/2014/main" id="{08A55B26-53AA-C3E8-262A-1BC980E1DC63}"/>
              </a:ext>
            </a:extLst>
          </p:cNvPr>
          <p:cNvPicPr>
            <a:picLocks noChangeAspect="1"/>
          </p:cNvPicPr>
          <p:nvPr/>
        </p:nvPicPr>
        <p:blipFill>
          <a:blip r:embed="rId3"/>
          <a:stretch>
            <a:fillRect/>
          </a:stretch>
        </p:blipFill>
        <p:spPr>
          <a:xfrm>
            <a:off x="485973" y="60104"/>
            <a:ext cx="5476350" cy="5908210"/>
          </a:xfrm>
          <a:prstGeom prst="rect">
            <a:avLst/>
          </a:prstGeom>
        </p:spPr>
      </p:pic>
      <p:pic>
        <p:nvPicPr>
          <p:cNvPr id="5" name="Picture 4">
            <a:extLst>
              <a:ext uri="{FF2B5EF4-FFF2-40B4-BE49-F238E27FC236}">
                <a16:creationId xmlns:a16="http://schemas.microsoft.com/office/drawing/2014/main" id="{1EF7F274-D266-E4BE-6512-75448B3B3CF2}"/>
              </a:ext>
            </a:extLst>
          </p:cNvPr>
          <p:cNvPicPr>
            <a:picLocks noChangeAspect="1"/>
          </p:cNvPicPr>
          <p:nvPr/>
        </p:nvPicPr>
        <p:blipFill>
          <a:blip r:embed="rId4"/>
          <a:stretch>
            <a:fillRect/>
          </a:stretch>
        </p:blipFill>
        <p:spPr>
          <a:xfrm>
            <a:off x="6096000" y="0"/>
            <a:ext cx="5962322" cy="5708822"/>
          </a:xfrm>
          <a:prstGeom prst="rect">
            <a:avLst/>
          </a:prstGeom>
        </p:spPr>
      </p:pic>
    </p:spTree>
    <p:extLst>
      <p:ext uri="{BB962C8B-B14F-4D97-AF65-F5344CB8AC3E}">
        <p14:creationId xmlns:p14="http://schemas.microsoft.com/office/powerpoint/2010/main" val="972947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002311ED-979F-C45F-4B4B-F0414FFE1C2C}"/>
              </a:ext>
            </a:extLst>
          </p:cNvPr>
          <p:cNvSpPr>
            <a:spLocks noGrp="1" noChangeArrowheads="1"/>
          </p:cNvSpPr>
          <p:nvPr>
            <p:ph type="title"/>
          </p:nvPr>
        </p:nvSpPr>
        <p:spPr>
          <a:xfrm>
            <a:off x="142504" y="117167"/>
            <a:ext cx="10313461" cy="1325563"/>
          </a:xfrm>
          <a:noFill/>
        </p:spPr>
        <p:txBody>
          <a:bodyPr/>
          <a:lstStyle/>
          <a:p>
            <a:pPr>
              <a:tabLst>
                <a:tab pos="457200" algn="l"/>
                <a:tab pos="1371600" algn="l"/>
                <a:tab pos="1547813" algn="l"/>
              </a:tabLst>
            </a:pPr>
            <a:r>
              <a:rPr lang="en-US" altLang="en-US" dirty="0"/>
              <a:t>Determine </a:t>
            </a:r>
            <a:r>
              <a:rPr lang="en-US" altLang="zh-CN" dirty="0"/>
              <a:t>S</a:t>
            </a:r>
            <a:r>
              <a:rPr lang="en-US" altLang="en-US" dirty="0"/>
              <a:t>tandard </a:t>
            </a:r>
            <a:r>
              <a:rPr lang="en-US" altLang="zh-CN" dirty="0"/>
              <a:t>N</a:t>
            </a:r>
            <a:r>
              <a:rPr lang="en-US" altLang="en-US" dirty="0"/>
              <a:t>ormal </a:t>
            </a:r>
            <a:r>
              <a:rPr lang="en-US" altLang="zh-CN" dirty="0"/>
              <a:t>P</a:t>
            </a:r>
            <a:r>
              <a:rPr lang="en-US" altLang="en-US" dirty="0"/>
              <a:t>robabilities</a:t>
            </a:r>
          </a:p>
        </p:txBody>
      </p:sp>
      <mc:AlternateContent xmlns:mc="http://schemas.openxmlformats.org/markup-compatibility/2006">
        <mc:Choice xmlns:a14="http://schemas.microsoft.com/office/drawing/2010/main" Requires="a14">
          <p:sp>
            <p:nvSpPr>
              <p:cNvPr id="138243" name="Rectangle 3">
                <a:extLst>
                  <a:ext uri="{FF2B5EF4-FFF2-40B4-BE49-F238E27FC236}">
                    <a16:creationId xmlns:a16="http://schemas.microsoft.com/office/drawing/2014/main" id="{EF41F4E9-D14C-18D5-704B-79CB68A6396B}"/>
                  </a:ext>
                </a:extLst>
              </p:cNvPr>
              <p:cNvSpPr>
                <a:spLocks noGrp="1" noChangeArrowheads="1"/>
              </p:cNvSpPr>
              <p:nvPr>
                <p:ph type="body" idx="1"/>
              </p:nvPr>
            </p:nvSpPr>
            <p:spPr>
              <a:xfrm>
                <a:off x="244434" y="1540616"/>
                <a:ext cx="10515600" cy="4823114"/>
              </a:xfrm>
              <a:noFill/>
            </p:spPr>
            <p:txBody>
              <a:bodyPr>
                <a:normAutofit/>
              </a:bodyPr>
              <a:lstStyle/>
              <a:p>
                <a:pPr>
                  <a:tabLst>
                    <a:tab pos="457200" algn="l"/>
                    <a:tab pos="1371600" algn="l"/>
                    <a:tab pos="1547813" algn="l"/>
                  </a:tabLst>
                </a:pPr>
                <a14:m>
                  <m:oMath xmlns:m="http://schemas.openxmlformats.org/officeDocument/2006/math">
                    <m:r>
                      <a:rPr lang="en-US" altLang="en-US" i="1" dirty="0" smtClean="0">
                        <a:latin typeface="Cambria Math" panose="02040503050406030204" pitchFamily="18" charset="0"/>
                      </a:rPr>
                      <m:t>𝑃</m:t>
                    </m:r>
                    <m:r>
                      <a:rPr lang="en-US" altLang="en-US" i="1" dirty="0">
                        <a:latin typeface="Cambria Math" panose="02040503050406030204" pitchFamily="18" charset="0"/>
                      </a:rPr>
                      <m:t>(</m:t>
                    </m:r>
                    <m:r>
                      <a:rPr lang="en-US" altLang="en-US" i="1" dirty="0">
                        <a:latin typeface="Cambria Math" panose="02040503050406030204" pitchFamily="18" charset="0"/>
                      </a:rPr>
                      <m:t>𝑍</m:t>
                    </m:r>
                    <m:r>
                      <a:rPr lang="en-US" altLang="en-US" i="1" dirty="0">
                        <a:latin typeface="Cambria Math" panose="02040503050406030204" pitchFamily="18" charset="0"/>
                      </a:rPr>
                      <m:t> ≤ 1.25</m:t>
                    </m:r>
                    <m:r>
                      <a:rPr lang="en-US" altLang="en-US" i="1" dirty="0">
                        <a:latin typeface="Cambria Math" panose="02040503050406030204" pitchFamily="18" charset="0"/>
                      </a:rPr>
                      <m:t>)</m:t>
                    </m:r>
                  </m:oMath>
                </a14:m>
                <a:endParaRPr lang="en-US" altLang="en-US" dirty="0"/>
              </a:p>
              <a:p>
                <a:pPr>
                  <a:tabLst>
                    <a:tab pos="457200" algn="l"/>
                    <a:tab pos="1371600" algn="l"/>
                    <a:tab pos="1547813" algn="l"/>
                  </a:tabLst>
                </a:pPr>
                <a:endParaRPr lang="en-US" altLang="en-US" dirty="0"/>
              </a:p>
            </p:txBody>
          </p:sp>
        </mc:Choice>
        <mc:Fallback>
          <p:sp>
            <p:nvSpPr>
              <p:cNvPr id="138243" name="Rectangle 3">
                <a:extLst>
                  <a:ext uri="{FF2B5EF4-FFF2-40B4-BE49-F238E27FC236}">
                    <a16:creationId xmlns:a16="http://schemas.microsoft.com/office/drawing/2014/main" id="{EF41F4E9-D14C-18D5-704B-79CB68A6396B}"/>
                  </a:ext>
                </a:extLst>
              </p:cNvPr>
              <p:cNvSpPr>
                <a:spLocks noGrp="1" noRot="1" noChangeAspect="1" noMove="1" noResize="1" noEditPoints="1" noAdjustHandles="1" noChangeArrowheads="1" noChangeShapeType="1" noTextEdit="1"/>
              </p:cNvSpPr>
              <p:nvPr>
                <p:ph type="body" idx="1"/>
              </p:nvPr>
            </p:nvSpPr>
            <p:spPr>
              <a:xfrm>
                <a:off x="244434" y="1540616"/>
                <a:ext cx="10515600" cy="4823114"/>
              </a:xfrm>
              <a:blipFill>
                <a:blip r:embed="rId2"/>
                <a:stretch>
                  <a:fillRect l="-1086" t="-1575"/>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E870BD92-A29D-0660-62C4-F80AC02ACAA6}"/>
              </a:ext>
            </a:extLst>
          </p:cNvPr>
          <p:cNvPicPr>
            <a:picLocks noChangeAspect="1"/>
          </p:cNvPicPr>
          <p:nvPr/>
        </p:nvPicPr>
        <p:blipFill>
          <a:blip r:embed="rId3"/>
          <a:stretch>
            <a:fillRect/>
          </a:stretch>
        </p:blipFill>
        <p:spPr>
          <a:xfrm>
            <a:off x="5787887" y="1286390"/>
            <a:ext cx="5433391" cy="5202380"/>
          </a:xfrm>
          <a:prstGeom prst="rect">
            <a:avLst/>
          </a:prstGeom>
        </p:spPr>
      </p:pic>
      <p:pic>
        <p:nvPicPr>
          <p:cNvPr id="3" name="Picture 11">
            <a:extLst>
              <a:ext uri="{FF2B5EF4-FFF2-40B4-BE49-F238E27FC236}">
                <a16:creationId xmlns:a16="http://schemas.microsoft.com/office/drawing/2014/main" id="{C1FB5EF7-4693-9D0C-3B3C-31B5F4280D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504" y="4279470"/>
            <a:ext cx="4543646" cy="21821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A1E77-5D9B-93A7-EA86-9FB019D3C213}"/>
            </a:ext>
          </a:extLst>
        </p:cNvPr>
        <p:cNvGrpSpPr/>
        <p:nvPr/>
      </p:nvGrpSpPr>
      <p:grpSpPr>
        <a:xfrm>
          <a:off x="0" y="0"/>
          <a:ext cx="0" cy="0"/>
          <a:chOff x="0" y="0"/>
          <a:chExt cx="0" cy="0"/>
        </a:xfrm>
      </p:grpSpPr>
      <p:sp>
        <p:nvSpPr>
          <p:cNvPr id="138242" name="Rectangle 2">
            <a:extLst>
              <a:ext uri="{FF2B5EF4-FFF2-40B4-BE49-F238E27FC236}">
                <a16:creationId xmlns:a16="http://schemas.microsoft.com/office/drawing/2014/main" id="{163AC438-006B-F68B-6EE0-62C71CBBC960}"/>
              </a:ext>
            </a:extLst>
          </p:cNvPr>
          <p:cNvSpPr>
            <a:spLocks noGrp="1" noChangeArrowheads="1"/>
          </p:cNvSpPr>
          <p:nvPr>
            <p:ph type="title"/>
          </p:nvPr>
        </p:nvSpPr>
        <p:spPr>
          <a:xfrm>
            <a:off x="142504" y="117167"/>
            <a:ext cx="10313461" cy="1325563"/>
          </a:xfrm>
          <a:noFill/>
        </p:spPr>
        <p:txBody>
          <a:bodyPr/>
          <a:lstStyle/>
          <a:p>
            <a:pPr>
              <a:tabLst>
                <a:tab pos="457200" algn="l"/>
                <a:tab pos="1371600" algn="l"/>
                <a:tab pos="1547813" algn="l"/>
              </a:tabLst>
            </a:pPr>
            <a:r>
              <a:rPr lang="en-US" altLang="en-US" dirty="0"/>
              <a:t>Determine </a:t>
            </a:r>
            <a:r>
              <a:rPr lang="en-US" altLang="zh-CN" dirty="0"/>
              <a:t>S</a:t>
            </a:r>
            <a:r>
              <a:rPr lang="en-US" altLang="en-US" dirty="0"/>
              <a:t>tandard </a:t>
            </a:r>
            <a:r>
              <a:rPr lang="en-US" altLang="zh-CN" dirty="0"/>
              <a:t>N</a:t>
            </a:r>
            <a:r>
              <a:rPr lang="en-US" altLang="en-US" dirty="0"/>
              <a:t>ormal </a:t>
            </a:r>
            <a:r>
              <a:rPr lang="en-US" altLang="zh-CN" dirty="0"/>
              <a:t>P</a:t>
            </a:r>
            <a:r>
              <a:rPr lang="en-US" altLang="en-US" dirty="0"/>
              <a:t>robabilities</a:t>
            </a:r>
          </a:p>
        </p:txBody>
      </p:sp>
      <mc:AlternateContent xmlns:mc="http://schemas.openxmlformats.org/markup-compatibility/2006">
        <mc:Choice xmlns:a14="http://schemas.microsoft.com/office/drawing/2010/main" Requires="a14">
          <p:sp>
            <p:nvSpPr>
              <p:cNvPr id="138243" name="Rectangle 3">
                <a:extLst>
                  <a:ext uri="{FF2B5EF4-FFF2-40B4-BE49-F238E27FC236}">
                    <a16:creationId xmlns:a16="http://schemas.microsoft.com/office/drawing/2014/main" id="{6856DDF2-C9D6-BF05-3B9C-F099301E98F1}"/>
                  </a:ext>
                </a:extLst>
              </p:cNvPr>
              <p:cNvSpPr>
                <a:spLocks noGrp="1" noChangeArrowheads="1"/>
              </p:cNvSpPr>
              <p:nvPr>
                <p:ph type="body" idx="1"/>
              </p:nvPr>
            </p:nvSpPr>
            <p:spPr>
              <a:xfrm>
                <a:off x="244434" y="1540616"/>
                <a:ext cx="10515600" cy="4823114"/>
              </a:xfrm>
              <a:noFill/>
            </p:spPr>
            <p:txBody>
              <a:bodyPr>
                <a:normAutofit/>
              </a:bodyPr>
              <a:lstStyle/>
              <a:p>
                <a:pPr>
                  <a:tabLst>
                    <a:tab pos="457200" algn="l"/>
                    <a:tab pos="1371600" algn="l"/>
                    <a:tab pos="1547813" algn="l"/>
                  </a:tabLst>
                </a:pPr>
                <a14:m>
                  <m:oMath xmlns:m="http://schemas.openxmlformats.org/officeDocument/2006/math">
                    <m:r>
                      <a:rPr lang="en-US" altLang="en-US" i="1" dirty="0" smtClean="0">
                        <a:latin typeface="Cambria Math" panose="02040503050406030204" pitchFamily="18" charset="0"/>
                      </a:rPr>
                      <m:t>𝑃</m:t>
                    </m:r>
                    <m:r>
                      <a:rPr lang="en-US" altLang="en-US" i="1" dirty="0">
                        <a:latin typeface="Cambria Math" panose="02040503050406030204" pitchFamily="18" charset="0"/>
                      </a:rPr>
                      <m:t>(</m:t>
                    </m:r>
                    <m:r>
                      <a:rPr lang="en-US" altLang="en-US" i="1" dirty="0">
                        <a:latin typeface="Cambria Math" panose="02040503050406030204" pitchFamily="18" charset="0"/>
                      </a:rPr>
                      <m:t>𝑍</m:t>
                    </m:r>
                    <m:r>
                      <a:rPr lang="en-US" altLang="en-US" i="1" dirty="0">
                        <a:latin typeface="Cambria Math" panose="02040503050406030204" pitchFamily="18" charset="0"/>
                      </a:rPr>
                      <m:t> &gt; 1.25)</m:t>
                    </m:r>
                  </m:oMath>
                </a14:m>
                <a:endParaRPr lang="en-US" altLang="en-US" dirty="0"/>
              </a:p>
            </p:txBody>
          </p:sp>
        </mc:Choice>
        <mc:Fallback>
          <p:sp>
            <p:nvSpPr>
              <p:cNvPr id="138243" name="Rectangle 3">
                <a:extLst>
                  <a:ext uri="{FF2B5EF4-FFF2-40B4-BE49-F238E27FC236}">
                    <a16:creationId xmlns:a16="http://schemas.microsoft.com/office/drawing/2014/main" id="{6856DDF2-C9D6-BF05-3B9C-F099301E98F1}"/>
                  </a:ext>
                </a:extLst>
              </p:cNvPr>
              <p:cNvSpPr>
                <a:spLocks noGrp="1" noRot="1" noChangeAspect="1" noMove="1" noResize="1" noEditPoints="1" noAdjustHandles="1" noChangeArrowheads="1" noChangeShapeType="1" noTextEdit="1"/>
              </p:cNvSpPr>
              <p:nvPr>
                <p:ph type="body" idx="1"/>
              </p:nvPr>
            </p:nvSpPr>
            <p:spPr>
              <a:xfrm>
                <a:off x="244434" y="1540616"/>
                <a:ext cx="10515600" cy="4823114"/>
              </a:xfrm>
              <a:blipFill>
                <a:blip r:embed="rId2"/>
                <a:stretch>
                  <a:fillRect l="-1086" t="-1575"/>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06F5785F-78C8-73CF-B2D2-170D71FCFD7F}"/>
              </a:ext>
            </a:extLst>
          </p:cNvPr>
          <p:cNvPicPr>
            <a:picLocks noChangeAspect="1"/>
          </p:cNvPicPr>
          <p:nvPr/>
        </p:nvPicPr>
        <p:blipFill>
          <a:blip r:embed="rId3"/>
          <a:stretch>
            <a:fillRect/>
          </a:stretch>
        </p:blipFill>
        <p:spPr>
          <a:xfrm>
            <a:off x="5787887" y="1286390"/>
            <a:ext cx="5433391" cy="5202380"/>
          </a:xfrm>
          <a:prstGeom prst="rect">
            <a:avLst/>
          </a:prstGeom>
        </p:spPr>
      </p:pic>
      <p:pic>
        <p:nvPicPr>
          <p:cNvPr id="3" name="Picture 15">
            <a:extLst>
              <a:ext uri="{FF2B5EF4-FFF2-40B4-BE49-F238E27FC236}">
                <a16:creationId xmlns:a16="http://schemas.microsoft.com/office/drawing/2014/main" id="{C5510196-2D85-FAAB-14AA-57D5BC73AA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504" y="4106170"/>
            <a:ext cx="4253024" cy="2182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658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CB385-4102-0872-BB45-2E573DBB24F4}"/>
            </a:ext>
          </a:extLst>
        </p:cNvPr>
        <p:cNvGrpSpPr/>
        <p:nvPr/>
      </p:nvGrpSpPr>
      <p:grpSpPr>
        <a:xfrm>
          <a:off x="0" y="0"/>
          <a:ext cx="0" cy="0"/>
          <a:chOff x="0" y="0"/>
          <a:chExt cx="0" cy="0"/>
        </a:xfrm>
      </p:grpSpPr>
      <p:sp>
        <p:nvSpPr>
          <p:cNvPr id="138242" name="Rectangle 2">
            <a:extLst>
              <a:ext uri="{FF2B5EF4-FFF2-40B4-BE49-F238E27FC236}">
                <a16:creationId xmlns:a16="http://schemas.microsoft.com/office/drawing/2014/main" id="{A9841C94-8311-61E1-7A12-364ECCC34116}"/>
              </a:ext>
            </a:extLst>
          </p:cNvPr>
          <p:cNvSpPr>
            <a:spLocks noGrp="1" noChangeArrowheads="1"/>
          </p:cNvSpPr>
          <p:nvPr>
            <p:ph type="title"/>
          </p:nvPr>
        </p:nvSpPr>
        <p:spPr>
          <a:xfrm>
            <a:off x="142504" y="117167"/>
            <a:ext cx="10313461" cy="1325563"/>
          </a:xfrm>
          <a:noFill/>
        </p:spPr>
        <p:txBody>
          <a:bodyPr/>
          <a:lstStyle/>
          <a:p>
            <a:pPr>
              <a:tabLst>
                <a:tab pos="457200" algn="l"/>
                <a:tab pos="1371600" algn="l"/>
                <a:tab pos="1547813" algn="l"/>
              </a:tabLst>
            </a:pPr>
            <a:r>
              <a:rPr lang="en-US" altLang="en-US" dirty="0"/>
              <a:t>Determine </a:t>
            </a:r>
            <a:r>
              <a:rPr lang="en-US" altLang="zh-CN" dirty="0"/>
              <a:t>S</a:t>
            </a:r>
            <a:r>
              <a:rPr lang="en-US" altLang="en-US" dirty="0"/>
              <a:t>tandard </a:t>
            </a:r>
            <a:r>
              <a:rPr lang="en-US" altLang="zh-CN" dirty="0"/>
              <a:t>N</a:t>
            </a:r>
            <a:r>
              <a:rPr lang="en-US" altLang="en-US" dirty="0"/>
              <a:t>ormal </a:t>
            </a:r>
            <a:r>
              <a:rPr lang="en-US" altLang="zh-CN" dirty="0"/>
              <a:t>P</a:t>
            </a:r>
            <a:r>
              <a:rPr lang="en-US" altLang="en-US" dirty="0"/>
              <a:t>robabilities</a:t>
            </a:r>
          </a:p>
        </p:txBody>
      </p:sp>
      <mc:AlternateContent xmlns:mc="http://schemas.openxmlformats.org/markup-compatibility/2006">
        <mc:Choice xmlns:a14="http://schemas.microsoft.com/office/drawing/2010/main" Requires="a14">
          <p:sp>
            <p:nvSpPr>
              <p:cNvPr id="138243" name="Rectangle 3">
                <a:extLst>
                  <a:ext uri="{FF2B5EF4-FFF2-40B4-BE49-F238E27FC236}">
                    <a16:creationId xmlns:a16="http://schemas.microsoft.com/office/drawing/2014/main" id="{F0963B99-CF6D-2E83-EFBC-E96AF0137598}"/>
                  </a:ext>
                </a:extLst>
              </p:cNvPr>
              <p:cNvSpPr>
                <a:spLocks noGrp="1" noChangeArrowheads="1"/>
              </p:cNvSpPr>
              <p:nvPr>
                <p:ph type="body" idx="1"/>
              </p:nvPr>
            </p:nvSpPr>
            <p:spPr>
              <a:xfrm>
                <a:off x="244434" y="1540616"/>
                <a:ext cx="10515600" cy="4823114"/>
              </a:xfrm>
              <a:noFill/>
            </p:spPr>
            <p:txBody>
              <a:bodyPr>
                <a:normAutofit/>
              </a:bodyPr>
              <a:lstStyle/>
              <a:p>
                <a:pPr>
                  <a:tabLst>
                    <a:tab pos="457200" algn="l"/>
                    <a:tab pos="1371600" algn="l"/>
                    <a:tab pos="1547813" algn="l"/>
                  </a:tabLst>
                </a:pPr>
                <a14:m>
                  <m:oMath xmlns:m="http://schemas.openxmlformats.org/officeDocument/2006/math">
                    <m:r>
                      <a:rPr lang="en-US" altLang="en-US" i="1" dirty="0" smtClean="0">
                        <a:latin typeface="Cambria Math" panose="02040503050406030204" pitchFamily="18" charset="0"/>
                      </a:rPr>
                      <m:t>𝑃</m:t>
                    </m:r>
                    <m:r>
                      <a:rPr lang="en-US" altLang="en-US" i="1" dirty="0">
                        <a:latin typeface="Cambria Math" panose="02040503050406030204" pitchFamily="18" charset="0"/>
                      </a:rPr>
                      <m:t>(</m:t>
                    </m:r>
                    <m:r>
                      <a:rPr lang="en-US" altLang="en-US" i="1" dirty="0">
                        <a:latin typeface="Cambria Math" panose="02040503050406030204" pitchFamily="18" charset="0"/>
                      </a:rPr>
                      <m:t>𝑍</m:t>
                    </m:r>
                    <m:r>
                      <a:rPr lang="en-US" altLang="en-US" i="1" dirty="0">
                        <a:latin typeface="Cambria Math" panose="02040503050406030204" pitchFamily="18" charset="0"/>
                        <a:ea typeface="Cambria Math" panose="02040503050406030204" pitchFamily="18" charset="0"/>
                      </a:rPr>
                      <m:t>≤</m:t>
                    </m:r>
                    <m:r>
                      <a:rPr lang="en-US" altLang="en-US" b="0" i="1" dirty="0" smtClean="0">
                        <a:latin typeface="Cambria Math" panose="02040503050406030204" pitchFamily="18" charset="0"/>
                        <a:ea typeface="Cambria Math" panose="02040503050406030204" pitchFamily="18" charset="0"/>
                      </a:rPr>
                      <m:t> </m:t>
                    </m:r>
                    <m:r>
                      <a:rPr lang="en-US" altLang="en-US" i="1" dirty="0">
                        <a:latin typeface="Cambria Math" panose="02040503050406030204" pitchFamily="18" charset="0"/>
                      </a:rPr>
                      <m:t>–1.25)</m:t>
                    </m:r>
                  </m:oMath>
                </a14:m>
                <a:endParaRPr lang="en-US" altLang="en-US" dirty="0"/>
              </a:p>
              <a:p>
                <a:pPr marL="0" indent="0">
                  <a:buNone/>
                  <a:tabLst>
                    <a:tab pos="457200" algn="l"/>
                    <a:tab pos="1371600" algn="l"/>
                    <a:tab pos="1547813" algn="l"/>
                  </a:tabLst>
                </a:pPr>
                <a:r>
                  <a:rPr lang="en-US" altLang="en-US" dirty="0"/>
                  <a:t>Symmetric bell curve</a:t>
                </a:r>
              </a:p>
              <a:p>
                <a:pPr marL="0" indent="0">
                  <a:buNone/>
                  <a:tabLst>
                    <a:tab pos="457200" algn="l"/>
                    <a:tab pos="1371600" algn="l"/>
                    <a:tab pos="1547813" algn="l"/>
                  </a:tabLst>
                </a:pPr>
                <a:endParaRPr lang="en-US" altLang="en-US" dirty="0"/>
              </a:p>
            </p:txBody>
          </p:sp>
        </mc:Choice>
        <mc:Fallback>
          <p:sp>
            <p:nvSpPr>
              <p:cNvPr id="138243" name="Rectangle 3">
                <a:extLst>
                  <a:ext uri="{FF2B5EF4-FFF2-40B4-BE49-F238E27FC236}">
                    <a16:creationId xmlns:a16="http://schemas.microsoft.com/office/drawing/2014/main" id="{F0963B99-CF6D-2E83-EFBC-E96AF0137598}"/>
                  </a:ext>
                </a:extLst>
              </p:cNvPr>
              <p:cNvSpPr>
                <a:spLocks noGrp="1" noRot="1" noChangeAspect="1" noMove="1" noResize="1" noEditPoints="1" noAdjustHandles="1" noChangeArrowheads="1" noChangeShapeType="1" noTextEdit="1"/>
              </p:cNvSpPr>
              <p:nvPr>
                <p:ph type="body" idx="1"/>
              </p:nvPr>
            </p:nvSpPr>
            <p:spPr>
              <a:xfrm>
                <a:off x="244434" y="1540616"/>
                <a:ext cx="10515600" cy="4823114"/>
              </a:xfrm>
              <a:blipFill>
                <a:blip r:embed="rId2"/>
                <a:stretch>
                  <a:fillRect l="-1206" t="-1575"/>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C674B561-0E90-E0C6-946D-F919AE7FD610}"/>
              </a:ext>
            </a:extLst>
          </p:cNvPr>
          <p:cNvPicPr>
            <a:picLocks noChangeAspect="1"/>
          </p:cNvPicPr>
          <p:nvPr/>
        </p:nvPicPr>
        <p:blipFill>
          <a:blip r:embed="rId3"/>
          <a:stretch>
            <a:fillRect/>
          </a:stretch>
        </p:blipFill>
        <p:spPr>
          <a:xfrm>
            <a:off x="5972373" y="1253764"/>
            <a:ext cx="5037167" cy="5434393"/>
          </a:xfrm>
          <a:prstGeom prst="rect">
            <a:avLst/>
          </a:prstGeom>
        </p:spPr>
      </p:pic>
    </p:spTree>
    <p:extLst>
      <p:ext uri="{BB962C8B-B14F-4D97-AF65-F5344CB8AC3E}">
        <p14:creationId xmlns:p14="http://schemas.microsoft.com/office/powerpoint/2010/main" val="1900170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342CC-FEAE-97D0-850A-B7500758DAEB}"/>
            </a:ext>
          </a:extLst>
        </p:cNvPr>
        <p:cNvGrpSpPr/>
        <p:nvPr/>
      </p:nvGrpSpPr>
      <p:grpSpPr>
        <a:xfrm>
          <a:off x="0" y="0"/>
          <a:ext cx="0" cy="0"/>
          <a:chOff x="0" y="0"/>
          <a:chExt cx="0" cy="0"/>
        </a:xfrm>
      </p:grpSpPr>
      <p:sp>
        <p:nvSpPr>
          <p:cNvPr id="138242" name="Rectangle 2">
            <a:extLst>
              <a:ext uri="{FF2B5EF4-FFF2-40B4-BE49-F238E27FC236}">
                <a16:creationId xmlns:a16="http://schemas.microsoft.com/office/drawing/2014/main" id="{1DDF6FA5-AC2A-6648-D69B-DEEE5BD58149}"/>
              </a:ext>
            </a:extLst>
          </p:cNvPr>
          <p:cNvSpPr>
            <a:spLocks noGrp="1" noChangeArrowheads="1"/>
          </p:cNvSpPr>
          <p:nvPr>
            <p:ph type="title"/>
          </p:nvPr>
        </p:nvSpPr>
        <p:spPr>
          <a:xfrm>
            <a:off x="142504" y="117167"/>
            <a:ext cx="10313461" cy="1325563"/>
          </a:xfrm>
          <a:noFill/>
        </p:spPr>
        <p:txBody>
          <a:bodyPr/>
          <a:lstStyle/>
          <a:p>
            <a:pPr>
              <a:tabLst>
                <a:tab pos="457200" algn="l"/>
                <a:tab pos="1371600" algn="l"/>
                <a:tab pos="1547813" algn="l"/>
              </a:tabLst>
            </a:pPr>
            <a:r>
              <a:rPr lang="en-US" altLang="en-US" dirty="0"/>
              <a:t>Determine </a:t>
            </a:r>
            <a:r>
              <a:rPr lang="en-US" altLang="zh-CN" dirty="0"/>
              <a:t>S</a:t>
            </a:r>
            <a:r>
              <a:rPr lang="en-US" altLang="en-US" dirty="0"/>
              <a:t>tandard </a:t>
            </a:r>
            <a:r>
              <a:rPr lang="en-US" altLang="zh-CN" dirty="0"/>
              <a:t>N</a:t>
            </a:r>
            <a:r>
              <a:rPr lang="en-US" altLang="en-US" dirty="0"/>
              <a:t>ormal </a:t>
            </a:r>
            <a:r>
              <a:rPr lang="en-US" altLang="zh-CN" dirty="0"/>
              <a:t>P</a:t>
            </a:r>
            <a:r>
              <a:rPr lang="en-US" altLang="en-US" dirty="0"/>
              <a:t>robabilities</a:t>
            </a:r>
          </a:p>
        </p:txBody>
      </p:sp>
      <mc:AlternateContent xmlns:mc="http://schemas.openxmlformats.org/markup-compatibility/2006">
        <mc:Choice xmlns:a14="http://schemas.microsoft.com/office/drawing/2010/main" Requires="a14">
          <p:sp>
            <p:nvSpPr>
              <p:cNvPr id="138243" name="Rectangle 3">
                <a:extLst>
                  <a:ext uri="{FF2B5EF4-FFF2-40B4-BE49-F238E27FC236}">
                    <a16:creationId xmlns:a16="http://schemas.microsoft.com/office/drawing/2014/main" id="{F5B4E084-FA91-A3CF-AACA-8BCBC55A3591}"/>
                  </a:ext>
                </a:extLst>
              </p:cNvPr>
              <p:cNvSpPr>
                <a:spLocks noGrp="1" noChangeArrowheads="1"/>
              </p:cNvSpPr>
              <p:nvPr>
                <p:ph type="body" idx="1"/>
              </p:nvPr>
            </p:nvSpPr>
            <p:spPr>
              <a:xfrm>
                <a:off x="244434" y="1540616"/>
                <a:ext cx="10515600" cy="4823114"/>
              </a:xfrm>
              <a:noFill/>
            </p:spPr>
            <p:txBody>
              <a:bodyPr>
                <a:normAutofit/>
              </a:bodyPr>
              <a:lstStyle/>
              <a:p>
                <a:pPr>
                  <a:tabLst>
                    <a:tab pos="457200" algn="l"/>
                    <a:tab pos="1371600" algn="l"/>
                    <a:tab pos="1547813" algn="l"/>
                  </a:tabLst>
                </a:pPr>
                <a14:m>
                  <m:oMath xmlns:m="http://schemas.openxmlformats.org/officeDocument/2006/math">
                    <m:r>
                      <a:rPr lang="en-US" altLang="en-US" i="1" dirty="0" smtClean="0">
                        <a:latin typeface="Cambria Math" panose="02040503050406030204" pitchFamily="18" charset="0"/>
                      </a:rPr>
                      <m:t>𝑃</m:t>
                    </m:r>
                    <m:r>
                      <a:rPr lang="en-US" altLang="en-US" i="1" dirty="0">
                        <a:latin typeface="Cambria Math" panose="02040503050406030204" pitchFamily="18" charset="0"/>
                      </a:rPr>
                      <m:t>(–</m:t>
                    </m:r>
                    <m:r>
                      <a:rPr lang="en-US" altLang="en-US" b="0" i="1" dirty="0" smtClean="0">
                        <a:latin typeface="Cambria Math" panose="02040503050406030204" pitchFamily="18" charset="0"/>
                      </a:rPr>
                      <m:t>0</m:t>
                    </m:r>
                    <m:r>
                      <a:rPr lang="en-US" altLang="en-US" i="1" dirty="0">
                        <a:latin typeface="Cambria Math" panose="02040503050406030204" pitchFamily="18" charset="0"/>
                      </a:rPr>
                      <m:t>.38 </m:t>
                    </m:r>
                    <m:r>
                      <a:rPr lang="en-US" altLang="en-US" b="1" i="1" dirty="0">
                        <a:latin typeface="Cambria Math" panose="02040503050406030204" pitchFamily="18" charset="0"/>
                        <a:sym typeface="Symbol" pitchFamily="2" charset="2"/>
                      </a:rPr>
                      <m:t></m:t>
                    </m:r>
                    <m:r>
                      <a:rPr lang="en-US" altLang="en-US" i="1" dirty="0">
                        <a:latin typeface="Cambria Math" panose="02040503050406030204" pitchFamily="18" charset="0"/>
                        <a:sym typeface="Symbol" pitchFamily="2" charset="2"/>
                      </a:rPr>
                      <m:t> </m:t>
                    </m:r>
                    <m:r>
                      <a:rPr lang="en-US" altLang="en-US" i="1" dirty="0">
                        <a:latin typeface="Cambria Math" panose="02040503050406030204" pitchFamily="18" charset="0"/>
                      </a:rPr>
                      <m:t>𝑍</m:t>
                    </m:r>
                    <m:r>
                      <a:rPr lang="en-US" altLang="en-US" i="1" dirty="0">
                        <a:latin typeface="Cambria Math" panose="02040503050406030204" pitchFamily="18" charset="0"/>
                        <a:ea typeface="Cambria Math" panose="02040503050406030204" pitchFamily="18" charset="0"/>
                      </a:rPr>
                      <m:t>≤</m:t>
                    </m:r>
                    <m:r>
                      <a:rPr lang="en-US" altLang="en-US" i="1" dirty="0">
                        <a:latin typeface="Cambria Math" panose="02040503050406030204" pitchFamily="18" charset="0"/>
                      </a:rPr>
                      <m:t>1.25)</m:t>
                    </m:r>
                  </m:oMath>
                </a14:m>
                <a:endParaRPr lang="en-US" altLang="en-US" dirty="0"/>
              </a:p>
            </p:txBody>
          </p:sp>
        </mc:Choice>
        <mc:Fallback>
          <p:sp>
            <p:nvSpPr>
              <p:cNvPr id="138243" name="Rectangle 3">
                <a:extLst>
                  <a:ext uri="{FF2B5EF4-FFF2-40B4-BE49-F238E27FC236}">
                    <a16:creationId xmlns:a16="http://schemas.microsoft.com/office/drawing/2014/main" id="{F5B4E084-FA91-A3CF-AACA-8BCBC55A3591}"/>
                  </a:ext>
                </a:extLst>
              </p:cNvPr>
              <p:cNvSpPr>
                <a:spLocks noGrp="1" noRot="1" noChangeAspect="1" noMove="1" noResize="1" noEditPoints="1" noAdjustHandles="1" noChangeArrowheads="1" noChangeShapeType="1" noTextEdit="1"/>
              </p:cNvSpPr>
              <p:nvPr>
                <p:ph type="body" idx="1"/>
              </p:nvPr>
            </p:nvSpPr>
            <p:spPr>
              <a:xfrm>
                <a:off x="244434" y="1540616"/>
                <a:ext cx="10515600" cy="4823114"/>
              </a:xfrm>
              <a:blipFill>
                <a:blip r:embed="rId2"/>
                <a:stretch>
                  <a:fillRect l="-1086" t="-1575"/>
                </a:stretch>
              </a:blipFill>
            </p:spPr>
            <p:txBody>
              <a:bodyPr/>
              <a:lstStyle/>
              <a:p>
                <a:r>
                  <a:rPr lang="en-US">
                    <a:noFill/>
                  </a:rPr>
                  <a:t> </a:t>
                </a:r>
              </a:p>
            </p:txBody>
          </p:sp>
        </mc:Fallback>
      </mc:AlternateContent>
      <p:pic>
        <p:nvPicPr>
          <p:cNvPr id="2" name="Picture 10">
            <a:extLst>
              <a:ext uri="{FF2B5EF4-FFF2-40B4-BE49-F238E27FC236}">
                <a16:creationId xmlns:a16="http://schemas.microsoft.com/office/drawing/2014/main" id="{82384F10-6093-E0A4-E6EC-50B2DC7760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434" y="4526701"/>
            <a:ext cx="9357730" cy="1934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693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484EF-089A-7776-E7C5-0F5689F24769}"/>
            </a:ext>
          </a:extLst>
        </p:cNvPr>
        <p:cNvGrpSpPr/>
        <p:nvPr/>
      </p:nvGrpSpPr>
      <p:grpSpPr>
        <a:xfrm>
          <a:off x="0" y="0"/>
          <a:ext cx="0" cy="0"/>
          <a:chOff x="0" y="0"/>
          <a:chExt cx="0" cy="0"/>
        </a:xfrm>
      </p:grpSpPr>
      <p:sp>
        <p:nvSpPr>
          <p:cNvPr id="138242" name="Rectangle 2">
            <a:extLst>
              <a:ext uri="{FF2B5EF4-FFF2-40B4-BE49-F238E27FC236}">
                <a16:creationId xmlns:a16="http://schemas.microsoft.com/office/drawing/2014/main" id="{5C7A5F77-253E-1F5C-9D79-65C49D92A939}"/>
              </a:ext>
            </a:extLst>
          </p:cNvPr>
          <p:cNvSpPr>
            <a:spLocks noGrp="1" noChangeArrowheads="1"/>
          </p:cNvSpPr>
          <p:nvPr>
            <p:ph type="title"/>
          </p:nvPr>
        </p:nvSpPr>
        <p:spPr>
          <a:xfrm>
            <a:off x="142504" y="117167"/>
            <a:ext cx="10313461" cy="1325563"/>
          </a:xfrm>
          <a:noFill/>
        </p:spPr>
        <p:txBody>
          <a:bodyPr/>
          <a:lstStyle/>
          <a:p>
            <a:pPr>
              <a:tabLst>
                <a:tab pos="457200" algn="l"/>
                <a:tab pos="1371600" algn="l"/>
                <a:tab pos="1547813" algn="l"/>
              </a:tabLst>
            </a:pPr>
            <a:r>
              <a:rPr lang="en-US" altLang="en-US" dirty="0"/>
              <a:t>Determine </a:t>
            </a:r>
            <a:r>
              <a:rPr lang="en-US" altLang="zh-CN" dirty="0"/>
              <a:t>S</a:t>
            </a:r>
            <a:r>
              <a:rPr lang="en-US" altLang="en-US" dirty="0"/>
              <a:t>tandard </a:t>
            </a:r>
            <a:r>
              <a:rPr lang="en-US" altLang="zh-CN" dirty="0"/>
              <a:t>N</a:t>
            </a:r>
            <a:r>
              <a:rPr lang="en-US" altLang="en-US" dirty="0"/>
              <a:t>ormal </a:t>
            </a:r>
            <a:r>
              <a:rPr lang="en-US" altLang="zh-CN" dirty="0"/>
              <a:t>P</a:t>
            </a:r>
            <a:r>
              <a:rPr lang="en-US" altLang="en-US" dirty="0"/>
              <a:t>robabilities</a:t>
            </a:r>
          </a:p>
        </p:txBody>
      </p:sp>
      <mc:AlternateContent xmlns:mc="http://schemas.openxmlformats.org/markup-compatibility/2006">
        <mc:Choice xmlns:a14="http://schemas.microsoft.com/office/drawing/2010/main" Requires="a14">
          <p:sp>
            <p:nvSpPr>
              <p:cNvPr id="138243" name="Rectangle 3">
                <a:extLst>
                  <a:ext uri="{FF2B5EF4-FFF2-40B4-BE49-F238E27FC236}">
                    <a16:creationId xmlns:a16="http://schemas.microsoft.com/office/drawing/2014/main" id="{74CCC983-1ADD-D67A-3098-9BB739836625}"/>
                  </a:ext>
                </a:extLst>
              </p:cNvPr>
              <p:cNvSpPr>
                <a:spLocks noGrp="1" noChangeArrowheads="1"/>
              </p:cNvSpPr>
              <p:nvPr>
                <p:ph type="body" idx="1"/>
              </p:nvPr>
            </p:nvSpPr>
            <p:spPr>
              <a:xfrm>
                <a:off x="244434" y="1540616"/>
                <a:ext cx="10515600" cy="4823114"/>
              </a:xfrm>
              <a:noFill/>
            </p:spPr>
            <p:txBody>
              <a:bodyPr>
                <a:normAutofit/>
              </a:bodyPr>
              <a:lstStyle/>
              <a:p>
                <a:pPr>
                  <a:tabLst>
                    <a:tab pos="457200" algn="l"/>
                    <a:tab pos="1371600" algn="l"/>
                    <a:tab pos="1547813" algn="l"/>
                  </a:tabLst>
                </a:pPr>
                <a14:m>
                  <m:oMath xmlns:m="http://schemas.openxmlformats.org/officeDocument/2006/math">
                    <m:r>
                      <a:rPr lang="en-US" altLang="en-US" i="1" dirty="0" smtClean="0">
                        <a:latin typeface="Cambria Math" panose="02040503050406030204" pitchFamily="18" charset="0"/>
                      </a:rPr>
                      <m:t>𝑃</m:t>
                    </m:r>
                    <m:r>
                      <a:rPr lang="en-US" altLang="en-US" i="1" dirty="0">
                        <a:latin typeface="Cambria Math" panose="02040503050406030204" pitchFamily="18" charset="0"/>
                      </a:rPr>
                      <m:t>(–</m:t>
                    </m:r>
                    <m:r>
                      <a:rPr lang="en-US" altLang="en-US" b="0" i="1" dirty="0" smtClean="0">
                        <a:latin typeface="Cambria Math" panose="02040503050406030204" pitchFamily="18" charset="0"/>
                      </a:rPr>
                      <m:t>0</m:t>
                    </m:r>
                    <m:r>
                      <a:rPr lang="en-US" altLang="en-US" i="1" dirty="0">
                        <a:latin typeface="Cambria Math" panose="02040503050406030204" pitchFamily="18" charset="0"/>
                      </a:rPr>
                      <m:t>.38 </m:t>
                    </m:r>
                    <m:r>
                      <a:rPr lang="en-US" altLang="en-US" b="1" i="1" dirty="0">
                        <a:latin typeface="Cambria Math" panose="02040503050406030204" pitchFamily="18" charset="0"/>
                        <a:sym typeface="Symbol" pitchFamily="2" charset="2"/>
                      </a:rPr>
                      <m:t></m:t>
                    </m:r>
                    <m:r>
                      <a:rPr lang="en-US" altLang="en-US" i="1" dirty="0">
                        <a:latin typeface="Cambria Math" panose="02040503050406030204" pitchFamily="18" charset="0"/>
                        <a:sym typeface="Symbol" pitchFamily="2" charset="2"/>
                      </a:rPr>
                      <m:t> </m:t>
                    </m:r>
                    <m:r>
                      <a:rPr lang="en-US" altLang="en-US" i="1" dirty="0">
                        <a:latin typeface="Cambria Math" panose="02040503050406030204" pitchFamily="18" charset="0"/>
                      </a:rPr>
                      <m:t>𝑍</m:t>
                    </m:r>
                    <m:r>
                      <a:rPr lang="en-US" altLang="en-US" i="1" dirty="0">
                        <a:latin typeface="Cambria Math" panose="02040503050406030204" pitchFamily="18" charset="0"/>
                        <a:ea typeface="Cambria Math" panose="02040503050406030204" pitchFamily="18" charset="0"/>
                      </a:rPr>
                      <m:t>≤</m:t>
                    </m:r>
                    <m:r>
                      <a:rPr lang="en-US" altLang="en-US" i="1" dirty="0">
                        <a:latin typeface="Cambria Math" panose="02040503050406030204" pitchFamily="18" charset="0"/>
                      </a:rPr>
                      <m:t>1.25)</m:t>
                    </m:r>
                  </m:oMath>
                </a14:m>
                <a:endParaRPr lang="en-US" altLang="en-US" dirty="0"/>
              </a:p>
            </p:txBody>
          </p:sp>
        </mc:Choice>
        <mc:Fallback>
          <p:sp>
            <p:nvSpPr>
              <p:cNvPr id="138243" name="Rectangle 3">
                <a:extLst>
                  <a:ext uri="{FF2B5EF4-FFF2-40B4-BE49-F238E27FC236}">
                    <a16:creationId xmlns:a16="http://schemas.microsoft.com/office/drawing/2014/main" id="{74CCC983-1ADD-D67A-3098-9BB739836625}"/>
                  </a:ext>
                </a:extLst>
              </p:cNvPr>
              <p:cNvSpPr>
                <a:spLocks noGrp="1" noRot="1" noChangeAspect="1" noMove="1" noResize="1" noEditPoints="1" noAdjustHandles="1" noChangeArrowheads="1" noChangeShapeType="1" noTextEdit="1"/>
              </p:cNvSpPr>
              <p:nvPr>
                <p:ph type="body" idx="1"/>
              </p:nvPr>
            </p:nvSpPr>
            <p:spPr>
              <a:xfrm>
                <a:off x="244434" y="1540616"/>
                <a:ext cx="10515600" cy="4823114"/>
              </a:xfrm>
              <a:blipFill>
                <a:blip r:embed="rId2"/>
                <a:stretch>
                  <a:fillRect l="-1086" t="-1575"/>
                </a:stretch>
              </a:blipFill>
            </p:spPr>
            <p:txBody>
              <a:bodyPr/>
              <a:lstStyle/>
              <a:p>
                <a:r>
                  <a:rPr lang="en-US">
                    <a:noFill/>
                  </a:rPr>
                  <a:t> </a:t>
                </a:r>
              </a:p>
            </p:txBody>
          </p:sp>
        </mc:Fallback>
      </mc:AlternateContent>
      <p:pic>
        <p:nvPicPr>
          <p:cNvPr id="2" name="Picture 10">
            <a:extLst>
              <a:ext uri="{FF2B5EF4-FFF2-40B4-BE49-F238E27FC236}">
                <a16:creationId xmlns:a16="http://schemas.microsoft.com/office/drawing/2014/main" id="{0412AC78-570B-EDE8-33D2-8614BA6965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434" y="4526701"/>
            <a:ext cx="9357730" cy="193491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F720F16-9C68-DD25-67EE-29AAE132ECC6}"/>
              </a:ext>
            </a:extLst>
          </p:cNvPr>
          <p:cNvPicPr>
            <a:picLocks noChangeAspect="1"/>
          </p:cNvPicPr>
          <p:nvPr/>
        </p:nvPicPr>
        <p:blipFill>
          <a:blip r:embed="rId4"/>
          <a:stretch>
            <a:fillRect/>
          </a:stretch>
        </p:blipFill>
        <p:spPr>
          <a:xfrm>
            <a:off x="5972373" y="1253764"/>
            <a:ext cx="5037167" cy="5434393"/>
          </a:xfrm>
          <a:prstGeom prst="rect">
            <a:avLst/>
          </a:prstGeom>
        </p:spPr>
      </p:pic>
    </p:spTree>
    <p:extLst>
      <p:ext uri="{BB962C8B-B14F-4D97-AF65-F5344CB8AC3E}">
        <p14:creationId xmlns:p14="http://schemas.microsoft.com/office/powerpoint/2010/main" val="2320212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402CC-1C90-0F8C-D6BC-5DA4DA928D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03FAC-5777-BE53-BAB2-16FF4828AD02}"/>
              </a:ext>
            </a:extLst>
          </p:cNvPr>
          <p:cNvSpPr>
            <a:spLocks noGrp="1"/>
          </p:cNvSpPr>
          <p:nvPr>
            <p:ph type="title"/>
          </p:nvPr>
        </p:nvSpPr>
        <p:spPr>
          <a:xfrm>
            <a:off x="142503" y="117167"/>
            <a:ext cx="11424185" cy="1325563"/>
          </a:xfrm>
        </p:spPr>
        <p:txBody>
          <a:bodyPr/>
          <a:lstStyle/>
          <a:p>
            <a:r>
              <a:rPr lang="en-US" altLang="zh-CN" dirty="0"/>
              <a:t>Nonstandard</a:t>
            </a:r>
            <a:r>
              <a:rPr lang="zh-CN" altLang="en-US" dirty="0"/>
              <a:t> </a:t>
            </a:r>
            <a:r>
              <a:rPr lang="en-US" altLang="zh-CN" dirty="0"/>
              <a:t>to</a:t>
            </a:r>
            <a:r>
              <a:rPr lang="zh-CN" altLang="en-US" dirty="0"/>
              <a:t> </a:t>
            </a:r>
            <a:r>
              <a:rPr lang="en-US" altLang="zh-CN" dirty="0"/>
              <a:t>Standard</a:t>
            </a:r>
            <a:r>
              <a:rPr lang="zh-CN" altLang="en-US" dirty="0"/>
              <a:t> </a:t>
            </a:r>
            <a:r>
              <a:rPr lang="en-US" altLang="zh-CN" dirty="0"/>
              <a:t>Normal</a:t>
            </a:r>
            <a:r>
              <a:rPr lang="zh-CN" altLang="en-US" dirty="0"/>
              <a:t> </a:t>
            </a:r>
            <a:r>
              <a:rPr lang="en-US" altLang="zh-CN" dirty="0"/>
              <a:t>Distribution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1044AD8-1F1A-C4FE-0539-B279CD303576}"/>
                  </a:ext>
                </a:extLst>
              </p:cNvPr>
              <p:cNvSpPr>
                <a:spLocks noGrp="1"/>
              </p:cNvSpPr>
              <p:nvPr>
                <p:ph idx="1"/>
              </p:nvPr>
            </p:nvSpPr>
            <p:spPr/>
            <p:txBody>
              <a:bodyPr>
                <a:normAutofit/>
              </a:bodyPr>
              <a:lstStyle/>
              <a:p>
                <a:pPr marL="0" indent="0">
                  <a:buNone/>
                </a:pPr>
                <a:r>
                  <a:rPr lang="en-US" altLang="en-US" dirty="0">
                    <a:sym typeface="Symbol" pitchFamily="2" charset="2"/>
                  </a:rPr>
                  <a:t>If </a:t>
                </a:r>
                <a14:m>
                  <m:oMath xmlns:m="http://schemas.openxmlformats.org/officeDocument/2006/math">
                    <m:r>
                      <a:rPr lang="en-US" altLang="en-US" i="1" dirty="0" smtClean="0">
                        <a:latin typeface="Cambria Math" panose="02040503050406030204" pitchFamily="18" charset="0"/>
                        <a:sym typeface="Symbol" pitchFamily="2" charset="2"/>
                      </a:rPr>
                      <m:t>𝑋</m:t>
                    </m:r>
                  </m:oMath>
                </a14:m>
                <a:r>
                  <a:rPr lang="en-US" altLang="en-US" i="1" dirty="0">
                    <a:sym typeface="Symbol" pitchFamily="2" charset="2"/>
                  </a:rPr>
                  <a:t> </a:t>
                </a:r>
                <a:r>
                  <a:rPr lang="en-US" altLang="en-US" dirty="0">
                    <a:sym typeface="Symbol" pitchFamily="2" charset="2"/>
                  </a:rPr>
                  <a:t>has a normal distribution with mean </a:t>
                </a:r>
                <a14:m>
                  <m:oMath xmlns:m="http://schemas.openxmlformats.org/officeDocument/2006/math">
                    <m:r>
                      <a:rPr lang="en-US" altLang="zh-CN" b="0" i="1" dirty="0" smtClean="0">
                        <a:latin typeface="Cambria Math" panose="02040503050406030204" pitchFamily="18" charset="0"/>
                        <a:sym typeface="Symbol" pitchFamily="2" charset="2"/>
                      </a:rPr>
                      <m:t>𝜇</m:t>
                    </m:r>
                  </m:oMath>
                </a14:m>
                <a:r>
                  <a:rPr lang="en-US" altLang="en-US" i="1" dirty="0">
                    <a:sym typeface="Symbol" pitchFamily="2" charset="2"/>
                  </a:rPr>
                  <a:t> </a:t>
                </a:r>
                <a:r>
                  <a:rPr lang="en-US" altLang="en-US" dirty="0">
                    <a:sym typeface="Symbol" pitchFamily="2" charset="2"/>
                  </a:rPr>
                  <a:t>and standard deviation</a:t>
                </a:r>
                <a:r>
                  <a:rPr lang="zh-CN" altLang="en-US" dirty="0">
                    <a:sym typeface="Symbol" pitchFamily="2" charset="2"/>
                  </a:rPr>
                  <a:t> </a:t>
                </a:r>
                <a14:m>
                  <m:oMath xmlns:m="http://schemas.openxmlformats.org/officeDocument/2006/math">
                    <m:r>
                      <a:rPr lang="en-US" altLang="zh-CN" b="0" i="1" smtClean="0">
                        <a:latin typeface="Cambria Math" panose="02040503050406030204" pitchFamily="18" charset="0"/>
                        <a:sym typeface="Symbol" pitchFamily="2" charset="2"/>
                      </a:rPr>
                      <m:t>𝜎</m:t>
                    </m:r>
                  </m:oMath>
                </a14:m>
                <a:r>
                  <a:rPr lang="en-US" altLang="en-US" dirty="0">
                    <a:sym typeface="Symbol" pitchFamily="2" charset="2"/>
                  </a:rPr>
                  <a:t>,</a:t>
                </a:r>
                <a:r>
                  <a:rPr lang="en-US" altLang="en-US" i="1" dirty="0">
                    <a:sym typeface="Symbol" pitchFamily="2" charset="2"/>
                  </a:rPr>
                  <a:t> </a:t>
                </a:r>
                <a:r>
                  <a:rPr lang="en-US" altLang="en-US" dirty="0">
                    <a:sym typeface="Symbol" pitchFamily="2" charset="2"/>
                  </a:rPr>
                  <a:t>then</a:t>
                </a: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𝑍</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𝜇</m:t>
                          </m:r>
                        </m:num>
                        <m:den>
                          <m:r>
                            <a:rPr lang="en-US" altLang="zh-CN" b="0" i="1" smtClean="0">
                              <a:latin typeface="Cambria Math" panose="02040503050406030204" pitchFamily="18" charset="0"/>
                            </a:rPr>
                            <m:t>𝜎</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(0,1)</m:t>
                      </m:r>
                    </m:oMath>
                  </m:oMathPara>
                </a14:m>
                <a:endParaRPr lang="en-US" dirty="0"/>
              </a:p>
              <a:p>
                <a:pPr marL="0" indent="0">
                  <a:buNone/>
                </a:pPr>
                <a:r>
                  <a:rPr lang="en-US" altLang="zh-CN" dirty="0"/>
                  <a:t>Proof</a:t>
                </a:r>
                <a:endParaRPr lang="en-US" dirty="0"/>
              </a:p>
            </p:txBody>
          </p:sp>
        </mc:Choice>
        <mc:Fallback>
          <p:sp>
            <p:nvSpPr>
              <p:cNvPr id="3" name="Content Placeholder 2">
                <a:extLst>
                  <a:ext uri="{FF2B5EF4-FFF2-40B4-BE49-F238E27FC236}">
                    <a16:creationId xmlns:a16="http://schemas.microsoft.com/office/drawing/2014/main" id="{21044AD8-1F1A-C4FE-0539-B279CD303576}"/>
                  </a:ext>
                </a:extLst>
              </p:cNvPr>
              <p:cNvSpPr>
                <a:spLocks noGrp="1" noRot="1" noChangeAspect="1" noMove="1" noResize="1" noEditPoints="1" noAdjustHandles="1" noChangeArrowheads="1" noChangeShapeType="1" noTextEdit="1"/>
              </p:cNvSpPr>
              <p:nvPr>
                <p:ph idx="1"/>
              </p:nvPr>
            </p:nvSpPr>
            <p:spPr>
              <a:blipFill>
                <a:blip r:embed="rId2"/>
                <a:stretch>
                  <a:fillRect l="-1206" t="-2326" r="-362"/>
                </a:stretch>
              </a:blipFill>
            </p:spPr>
            <p:txBody>
              <a:bodyPr/>
              <a:lstStyle/>
              <a:p>
                <a:r>
                  <a:rPr lang="en-US">
                    <a:noFill/>
                  </a:rPr>
                  <a:t> </a:t>
                </a:r>
              </a:p>
            </p:txBody>
          </p:sp>
        </mc:Fallback>
      </mc:AlternateContent>
    </p:spTree>
    <p:extLst>
      <p:ext uri="{BB962C8B-B14F-4D97-AF65-F5344CB8AC3E}">
        <p14:creationId xmlns:p14="http://schemas.microsoft.com/office/powerpoint/2010/main" val="4289500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B3C67-9888-7E07-A7C3-522A7B3E4A26}"/>
              </a:ext>
            </a:extLst>
          </p:cNvPr>
          <p:cNvSpPr>
            <a:spLocks noGrp="1"/>
          </p:cNvSpPr>
          <p:nvPr>
            <p:ph type="title"/>
          </p:nvPr>
        </p:nvSpPr>
        <p:spPr/>
        <p:txBody>
          <a:bodyPr/>
          <a:lstStyle/>
          <a:p>
            <a:r>
              <a:rPr lang="en-US" altLang="zh-CN" dirty="0"/>
              <a:t>Nonstandard</a:t>
            </a:r>
            <a:r>
              <a:rPr lang="zh-CN" altLang="en-US" dirty="0"/>
              <a:t> </a:t>
            </a:r>
            <a:r>
              <a:rPr lang="en-US" altLang="zh-CN" dirty="0"/>
              <a:t>Normal</a:t>
            </a:r>
            <a:r>
              <a:rPr lang="zh-CN" altLang="en-US" dirty="0"/>
              <a:t> </a:t>
            </a:r>
            <a:r>
              <a:rPr lang="en-US" altLang="zh-CN" dirty="0"/>
              <a:t>Distribution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CE8070B-BF66-F61F-826A-627C2ED9E459}"/>
                  </a:ext>
                </a:extLst>
              </p:cNvPr>
              <p:cNvSpPr>
                <a:spLocks noGrp="1"/>
              </p:cNvSpPr>
              <p:nvPr>
                <p:ph idx="1"/>
              </p:nvPr>
            </p:nvSpPr>
            <p:spPr/>
            <p:txBody>
              <a:bodyPr>
                <a:normAutofit/>
              </a:bodyPr>
              <a:lstStyle/>
              <a:p>
                <a:pPr marL="0" indent="0">
                  <a:buNone/>
                </a:pPr>
                <a:r>
                  <a:rPr lang="en-US" altLang="en-US" dirty="0">
                    <a:sym typeface="Symbol" pitchFamily="2" charset="2"/>
                  </a:rPr>
                  <a:t>If </a:t>
                </a:r>
                <a14:m>
                  <m:oMath xmlns:m="http://schemas.openxmlformats.org/officeDocument/2006/math">
                    <m:r>
                      <a:rPr lang="en-US" altLang="en-US" i="1" dirty="0" smtClean="0">
                        <a:latin typeface="Cambria Math" panose="02040503050406030204" pitchFamily="18" charset="0"/>
                        <a:sym typeface="Symbol" pitchFamily="2" charset="2"/>
                      </a:rPr>
                      <m:t>𝑋</m:t>
                    </m:r>
                  </m:oMath>
                </a14:m>
                <a:r>
                  <a:rPr lang="en-US" altLang="en-US" i="1" dirty="0">
                    <a:sym typeface="Symbol" pitchFamily="2" charset="2"/>
                  </a:rPr>
                  <a:t> </a:t>
                </a:r>
                <a:r>
                  <a:rPr lang="en-US" altLang="en-US" dirty="0">
                    <a:sym typeface="Symbol" pitchFamily="2" charset="2"/>
                  </a:rPr>
                  <a:t>has a normal distribution with mean </a:t>
                </a:r>
                <a14:m>
                  <m:oMath xmlns:m="http://schemas.openxmlformats.org/officeDocument/2006/math">
                    <m:r>
                      <a:rPr lang="en-US" altLang="zh-CN" b="0" i="1" dirty="0" smtClean="0">
                        <a:latin typeface="Cambria Math" panose="02040503050406030204" pitchFamily="18" charset="0"/>
                        <a:sym typeface="Symbol" pitchFamily="2" charset="2"/>
                      </a:rPr>
                      <m:t>𝜇</m:t>
                    </m:r>
                  </m:oMath>
                </a14:m>
                <a:r>
                  <a:rPr lang="en-US" altLang="en-US" i="1" dirty="0">
                    <a:sym typeface="Symbol" pitchFamily="2" charset="2"/>
                  </a:rPr>
                  <a:t> </a:t>
                </a:r>
                <a:r>
                  <a:rPr lang="en-US" altLang="en-US" dirty="0">
                    <a:sym typeface="Symbol" pitchFamily="2" charset="2"/>
                  </a:rPr>
                  <a:t>and standard deviation</a:t>
                </a:r>
                <a:r>
                  <a:rPr lang="zh-CN" altLang="en-US" dirty="0">
                    <a:sym typeface="Symbol" pitchFamily="2" charset="2"/>
                  </a:rPr>
                  <a:t> </a:t>
                </a:r>
                <a14:m>
                  <m:oMath xmlns:m="http://schemas.openxmlformats.org/officeDocument/2006/math">
                    <m:r>
                      <a:rPr lang="en-US" altLang="zh-CN" b="0" i="1" smtClean="0">
                        <a:latin typeface="Cambria Math" panose="02040503050406030204" pitchFamily="18" charset="0"/>
                        <a:sym typeface="Symbol" pitchFamily="2" charset="2"/>
                      </a:rPr>
                      <m:t>𝜎</m:t>
                    </m:r>
                  </m:oMath>
                </a14:m>
                <a:r>
                  <a:rPr lang="en-US" altLang="en-US" dirty="0">
                    <a:sym typeface="Symbol" pitchFamily="2" charset="2"/>
                  </a:rPr>
                  <a:t>,</a:t>
                </a:r>
                <a:r>
                  <a:rPr lang="en-US" altLang="en-US" i="1" dirty="0">
                    <a:sym typeface="Symbol" pitchFamily="2" charset="2"/>
                  </a:rPr>
                  <a:t> </a:t>
                </a:r>
                <a:r>
                  <a:rPr lang="en-US" altLang="zh-CN" dirty="0"/>
                  <a:t>How</a:t>
                </a:r>
                <a:r>
                  <a:rPr lang="zh-CN" altLang="en-US" dirty="0"/>
                  <a:t> </a:t>
                </a:r>
                <a:r>
                  <a:rPr lang="en-US" altLang="zh-CN" dirty="0"/>
                  <a:t>do</a:t>
                </a:r>
                <a:r>
                  <a:rPr lang="zh-CN" altLang="en-US" dirty="0"/>
                  <a:t> </a:t>
                </a:r>
                <a:r>
                  <a:rPr lang="en-US" altLang="zh-CN" dirty="0"/>
                  <a:t>we</a:t>
                </a:r>
                <a:r>
                  <a:rPr lang="zh-CN" altLang="en-US" dirty="0"/>
                  <a:t> </a:t>
                </a:r>
                <a:r>
                  <a:rPr lang="en-US" altLang="zh-CN" dirty="0"/>
                  <a:t>get</a:t>
                </a:r>
                <a:endParaRPr lang="en-US" dirty="0"/>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𝑏</m:t>
                      </m:r>
                      <m:r>
                        <a:rPr lang="en-US" altLang="zh-CN" b="0" i="1" smtClean="0">
                          <a:latin typeface="Cambria Math" panose="02040503050406030204" pitchFamily="18" charset="0"/>
                        </a:rPr>
                        <m:t>)</m:t>
                      </m:r>
                    </m:oMath>
                  </m:oMathPara>
                </a14:m>
                <a:endParaRPr lang="en-US" dirty="0"/>
              </a:p>
              <a:p>
                <a:pPr marL="0" indent="0">
                  <a:buNone/>
                </a:pPr>
                <a:r>
                  <a:rPr lang="en-US" altLang="zh-CN" dirty="0"/>
                  <a:t>If</a:t>
                </a:r>
                <a:r>
                  <a:rPr lang="zh-CN" altLang="en-US" dirty="0"/>
                  <a:t> </a:t>
                </a:r>
                <a:r>
                  <a:rPr lang="en-US" altLang="zh-CN" dirty="0"/>
                  <a:t>given</a:t>
                </a:r>
                <a:r>
                  <a:rPr lang="zh-CN" altLang="en-US" dirty="0"/>
                  <a:t> </a:t>
                </a:r>
                <a:r>
                  <a:rPr lang="en-US" altLang="zh-CN" dirty="0"/>
                  <a:t>the</a:t>
                </a:r>
                <a:r>
                  <a:rPr lang="zh-CN" altLang="en-US" dirty="0"/>
                  <a:t> </a:t>
                </a:r>
                <a:r>
                  <a:rPr lang="en-US" altLang="zh-CN" dirty="0"/>
                  <a:t>standard</a:t>
                </a:r>
                <a:r>
                  <a:rPr lang="zh-CN" altLang="en-US" dirty="0"/>
                  <a:t> </a:t>
                </a:r>
                <a:r>
                  <a:rPr lang="en-US" altLang="zh-CN" dirty="0"/>
                  <a:t>normal</a:t>
                </a:r>
                <a:r>
                  <a:rPr lang="zh-CN" altLang="en-US" dirty="0"/>
                  <a:t> </a:t>
                </a:r>
                <a:r>
                  <a:rPr lang="en-US" altLang="zh-CN" dirty="0"/>
                  <a:t>CDF</a:t>
                </a:r>
                <a:r>
                  <a:rPr lang="zh-CN" altLang="en-US" dirty="0"/>
                  <a:t> </a:t>
                </a:r>
                <a:r>
                  <a:rPr lang="en-US" altLang="zh-CN" dirty="0"/>
                  <a:t>table</a:t>
                </a:r>
                <a:endParaRPr lang="en-US" dirty="0"/>
              </a:p>
            </p:txBody>
          </p:sp>
        </mc:Choice>
        <mc:Fallback>
          <p:sp>
            <p:nvSpPr>
              <p:cNvPr id="3" name="Content Placeholder 2">
                <a:extLst>
                  <a:ext uri="{FF2B5EF4-FFF2-40B4-BE49-F238E27FC236}">
                    <a16:creationId xmlns:a16="http://schemas.microsoft.com/office/drawing/2014/main" id="{0CE8070B-BF66-F61F-826A-627C2ED9E459}"/>
                  </a:ext>
                </a:extLst>
              </p:cNvPr>
              <p:cNvSpPr>
                <a:spLocks noGrp="1" noRot="1" noChangeAspect="1" noMove="1" noResize="1" noEditPoints="1" noAdjustHandles="1" noChangeArrowheads="1" noChangeShapeType="1" noTextEdit="1"/>
              </p:cNvSpPr>
              <p:nvPr>
                <p:ph idx="1"/>
              </p:nvPr>
            </p:nvSpPr>
            <p:spPr>
              <a:blipFill>
                <a:blip r:embed="rId2"/>
                <a:stretch>
                  <a:fillRect l="-1206" t="-2326" r="-362"/>
                </a:stretch>
              </a:blipFill>
            </p:spPr>
            <p:txBody>
              <a:bodyPr/>
              <a:lstStyle/>
              <a:p>
                <a:r>
                  <a:rPr lang="en-US">
                    <a:noFill/>
                  </a:rPr>
                  <a:t> </a:t>
                </a:r>
              </a:p>
            </p:txBody>
          </p:sp>
        </mc:Fallback>
      </mc:AlternateContent>
    </p:spTree>
    <p:extLst>
      <p:ext uri="{BB962C8B-B14F-4D97-AF65-F5344CB8AC3E}">
        <p14:creationId xmlns:p14="http://schemas.microsoft.com/office/powerpoint/2010/main" val="3834739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E3AA1-1F9F-8C0F-1C33-B4B9CE170364}"/>
              </a:ext>
            </a:extLst>
          </p:cNvPr>
          <p:cNvSpPr>
            <a:spLocks noGrp="1"/>
          </p:cNvSpPr>
          <p:nvPr>
            <p:ph type="title"/>
          </p:nvPr>
        </p:nvSpPr>
        <p:spPr/>
        <p:txBody>
          <a:bodyPr/>
          <a:lstStyle/>
          <a:p>
            <a:r>
              <a:rPr lang="en-US" altLang="zh-CN" dirty="0"/>
              <a:t>Nonstandard</a:t>
            </a:r>
            <a:r>
              <a:rPr lang="zh-CN" altLang="en-US" dirty="0"/>
              <a:t> </a:t>
            </a:r>
            <a:r>
              <a:rPr lang="en-US" altLang="zh-CN" dirty="0"/>
              <a:t>Normal</a:t>
            </a:r>
            <a:r>
              <a:rPr lang="zh-CN" altLang="en-US" dirty="0"/>
              <a:t> </a:t>
            </a:r>
            <a:r>
              <a:rPr lang="en-US" altLang="zh-CN" dirty="0"/>
              <a:t>Distribution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D4B0752-2197-863D-9044-8D813992A0AE}"/>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𝑃</m:t>
                      </m:r>
                      <m:d>
                        <m:dPr>
                          <m:ctrlPr>
                            <a:rPr lang="en-US" altLang="zh-CN" i="1">
                              <a:latin typeface="Cambria Math" panose="02040503050406030204" pitchFamily="18" charset="0"/>
                            </a:rPr>
                          </m:ctrlPr>
                        </m:dPr>
                        <m:e>
                          <m:r>
                            <a:rPr lang="en-US" altLang="zh-CN" i="1">
                              <a:latin typeface="Cambria Math" panose="02040503050406030204" pitchFamily="18" charset="0"/>
                            </a:rPr>
                            <m:t>𝑎</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𝑋</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𝑏</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𝜇</m:t>
                              </m:r>
                            </m:num>
                            <m:den>
                              <m:r>
                                <a:rPr lang="en-US" altLang="zh-CN" i="1">
                                  <a:latin typeface="Cambria Math" panose="02040503050406030204" pitchFamily="18" charset="0"/>
                                </a:rPr>
                                <m:t>𝜎</m:t>
                              </m:r>
                            </m:den>
                          </m:f>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𝑋</m:t>
                              </m:r>
                              <m:r>
                                <a:rPr lang="en-US" altLang="zh-CN" i="1">
                                  <a:latin typeface="Cambria Math" panose="02040503050406030204" pitchFamily="18" charset="0"/>
                                </a:rPr>
                                <m:t>−</m:t>
                              </m:r>
                              <m:r>
                                <a:rPr lang="en-US" altLang="zh-CN" i="1">
                                  <a:latin typeface="Cambria Math" panose="02040503050406030204" pitchFamily="18" charset="0"/>
                                </a:rPr>
                                <m:t>𝜇</m:t>
                              </m:r>
                            </m:num>
                            <m:den>
                              <m:r>
                                <a:rPr lang="en-US" altLang="zh-CN" i="1">
                                  <a:latin typeface="Cambria Math" panose="02040503050406030204" pitchFamily="18" charset="0"/>
                                </a:rPr>
                                <m:t>𝜎</m:t>
                              </m:r>
                            </m:den>
                          </m:f>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rPr>
                                <m:t>𝜇</m:t>
                              </m:r>
                            </m:num>
                            <m:den>
                              <m:r>
                                <a:rPr lang="en-US" altLang="zh-CN" i="1">
                                  <a:latin typeface="Cambria Math" panose="02040503050406030204" pitchFamily="18" charset="0"/>
                                </a:rPr>
                                <m:t>𝜎</m:t>
                              </m:r>
                            </m:den>
                          </m:f>
                        </m:e>
                      </m:d>
                    </m:oMath>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𝜇</m:t>
                              </m:r>
                            </m:num>
                            <m:den>
                              <m:r>
                                <a:rPr lang="en-US" altLang="zh-CN" i="1">
                                  <a:latin typeface="Cambria Math" panose="02040503050406030204" pitchFamily="18" charset="0"/>
                                </a:rPr>
                                <m:t>𝜎</m:t>
                              </m:r>
                            </m:den>
                          </m:f>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𝑍</m:t>
                          </m:r>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𝑏</m:t>
                              </m:r>
                              <m:r>
                                <a:rPr lang="en-US" altLang="zh-CN" i="1">
                                  <a:latin typeface="Cambria Math" panose="02040503050406030204" pitchFamily="18" charset="0"/>
                                </a:rPr>
                                <m:t>−</m:t>
                              </m:r>
                              <m:r>
                                <a:rPr lang="en-US" altLang="zh-CN" i="1">
                                  <a:latin typeface="Cambria Math" panose="02040503050406030204" pitchFamily="18" charset="0"/>
                                </a:rPr>
                                <m:t>𝜇</m:t>
                              </m:r>
                            </m:num>
                            <m:den>
                              <m:r>
                                <a:rPr lang="en-US" altLang="zh-CN" i="1">
                                  <a:latin typeface="Cambria Math" panose="02040503050406030204" pitchFamily="18" charset="0"/>
                                </a:rPr>
                                <m:t>𝜎</m:t>
                              </m:r>
                            </m:den>
                          </m:f>
                        </m:e>
                      </m:d>
                    </m:oMath>
                    <m:oMath xmlns:m="http://schemas.openxmlformats.org/officeDocument/2006/math">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Φ</m:t>
                      </m:r>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rPr>
                                <m:t>𝜇</m:t>
                              </m:r>
                            </m:num>
                            <m:den>
                              <m:r>
                                <a:rPr lang="en-US" altLang="zh-CN" b="0" i="1" smtClean="0">
                                  <a:latin typeface="Cambria Math" panose="02040503050406030204" pitchFamily="18" charset="0"/>
                                </a:rPr>
                                <m:t>𝜎</m:t>
                              </m:r>
                            </m:den>
                          </m:f>
                        </m:e>
                      </m:d>
                      <m:r>
                        <a:rPr lang="en-US" altLang="zh-CN" b="0" i="1" smtClean="0">
                          <a:latin typeface="Cambria Math" panose="02040503050406030204" pitchFamily="18" charset="0"/>
                        </a:rPr>
                        <m:t>−</m:t>
                      </m:r>
                      <m:r>
                        <m:rPr>
                          <m:sty m:val="p"/>
                        </m:rPr>
                        <a:rPr lang="en-US" altLang="zh-CN">
                          <a:latin typeface="Cambria Math" panose="02040503050406030204" pitchFamily="18" charset="0"/>
                        </a:rPr>
                        <m:t>Φ</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𝜇</m:t>
                          </m:r>
                        </m:num>
                        <m:den>
                          <m:r>
                            <a:rPr lang="en-US" altLang="zh-CN" i="1">
                              <a:latin typeface="Cambria Math" panose="02040503050406030204" pitchFamily="18" charset="0"/>
                            </a:rPr>
                            <m:t>𝜎</m:t>
                          </m:r>
                        </m:den>
                      </m:f>
                      <m:r>
                        <a:rPr lang="en-US" altLang="zh-CN" i="1">
                          <a:latin typeface="Cambria Math" panose="02040503050406030204" pitchFamily="18" charset="0"/>
                        </a:rPr>
                        <m:t>)</m:t>
                      </m:r>
                    </m:oMath>
                  </m:oMathPara>
                </a14:m>
                <a:endParaRPr lang="en-US" dirty="0"/>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5D4B0752-2197-863D-9044-8D813992A0AE}"/>
                  </a:ext>
                </a:extLst>
              </p:cNvPr>
              <p:cNvSpPr>
                <a:spLocks noGrp="1" noRot="1" noChangeAspect="1" noMove="1" noResize="1" noEditPoints="1" noAdjustHandles="1" noChangeArrowheads="1" noChangeShapeType="1" noTextEdit="1"/>
              </p:cNvSpPr>
              <p:nvPr>
                <p:ph idx="1"/>
              </p:nvPr>
            </p:nvSpPr>
            <p:spPr>
              <a:blipFill>
                <a:blip r:embed="rId2"/>
                <a:stretch>
                  <a:fillRect t="-581"/>
                </a:stretch>
              </a:blipFill>
            </p:spPr>
            <p:txBody>
              <a:bodyPr/>
              <a:lstStyle/>
              <a:p>
                <a:r>
                  <a:rPr lang="en-US">
                    <a:noFill/>
                  </a:rPr>
                  <a:t> </a:t>
                </a:r>
              </a:p>
            </p:txBody>
          </p:sp>
        </mc:Fallback>
      </mc:AlternateContent>
    </p:spTree>
    <p:extLst>
      <p:ext uri="{BB962C8B-B14F-4D97-AF65-F5344CB8AC3E}">
        <p14:creationId xmlns:p14="http://schemas.microsoft.com/office/powerpoint/2010/main" val="3871921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FA378-4EC1-A270-AAE9-E854F676E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DBA00-AD45-586C-9B1A-08200DA27B50}"/>
              </a:ext>
            </a:extLst>
          </p:cNvPr>
          <p:cNvSpPr>
            <a:spLocks noGrp="1"/>
          </p:cNvSpPr>
          <p:nvPr>
            <p:ph type="title"/>
          </p:nvPr>
        </p:nvSpPr>
        <p:spPr/>
        <p:txBody>
          <a:bodyPr/>
          <a:lstStyle/>
          <a:p>
            <a:r>
              <a:rPr lang="en-US" altLang="zh-CN" dirty="0"/>
              <a:t>Nonstandard</a:t>
            </a:r>
            <a:r>
              <a:rPr lang="zh-CN" altLang="en-US" dirty="0"/>
              <a:t> </a:t>
            </a:r>
            <a:r>
              <a:rPr lang="en-US" altLang="zh-CN" dirty="0"/>
              <a:t>Normal</a:t>
            </a:r>
            <a:r>
              <a:rPr lang="zh-CN" altLang="en-US" dirty="0"/>
              <a:t> </a:t>
            </a:r>
            <a:r>
              <a:rPr lang="en-US" altLang="zh-CN" dirty="0"/>
              <a:t>Distribution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840556-1594-4EB3-1DF2-FB3DF689E955}"/>
                  </a:ext>
                </a:extLst>
              </p:cNvPr>
              <p:cNvSpPr>
                <a:spLocks noGrp="1"/>
              </p:cNvSpPr>
              <p:nvPr>
                <p:ph idx="1"/>
              </p:nvPr>
            </p:nvSpPr>
            <p:spPr/>
            <p:txBody>
              <a:bodyPr/>
              <a:lstStyle/>
              <a:p>
                <a:pPr marL="0" indent="0">
                  <a:buNone/>
                </a:pPr>
                <a:r>
                  <a:rPr lang="en-US" altLang="en-US" dirty="0">
                    <a:sym typeface="Symbol" pitchFamily="2" charset="2"/>
                  </a:rPr>
                  <a:t>Any</a:t>
                </a:r>
                <a:r>
                  <a:rPr lang="zh-CN" altLang="en-US" dirty="0">
                    <a:sym typeface="Symbol" pitchFamily="2" charset="2"/>
                  </a:rPr>
                  <a:t> </a:t>
                </a:r>
                <a:r>
                  <a:rPr lang="en-US" altLang="en-US" dirty="0">
                    <a:sym typeface="Symbol" pitchFamily="2" charset="2"/>
                  </a:rPr>
                  <a:t>probability involving </a:t>
                </a:r>
                <a14:m>
                  <m:oMath xmlns:m="http://schemas.openxmlformats.org/officeDocument/2006/math">
                    <m:r>
                      <a:rPr lang="en-US" altLang="en-US" i="1" dirty="0" smtClean="0">
                        <a:latin typeface="Cambria Math" panose="02040503050406030204" pitchFamily="18" charset="0"/>
                        <a:sym typeface="Symbol" pitchFamily="2" charset="2"/>
                      </a:rPr>
                      <m:t>𝑋</m:t>
                    </m:r>
                  </m:oMath>
                </a14:m>
                <a:r>
                  <a:rPr lang="en-US" altLang="en-US" i="1" dirty="0">
                    <a:sym typeface="Symbol" pitchFamily="2" charset="2"/>
                  </a:rPr>
                  <a:t> </a:t>
                </a:r>
                <a:r>
                  <a:rPr lang="en-US" altLang="en-US" dirty="0">
                    <a:sym typeface="Symbol" pitchFamily="2" charset="2"/>
                  </a:rPr>
                  <a:t>can be expressed as a probability involving a standard normal </a:t>
                </a:r>
                <a:r>
                  <a:rPr lang="en-US" altLang="en-US" dirty="0" err="1">
                    <a:sym typeface="Symbol" pitchFamily="2" charset="2"/>
                  </a:rPr>
                  <a:t>rv</a:t>
                </a:r>
                <a:r>
                  <a:rPr lang="en-US" altLang="en-US" dirty="0">
                    <a:sym typeface="Symbol" pitchFamily="2" charset="2"/>
                  </a:rPr>
                  <a:t> </a:t>
                </a:r>
                <a14:m>
                  <m:oMath xmlns:m="http://schemas.openxmlformats.org/officeDocument/2006/math">
                    <m:r>
                      <a:rPr lang="en-US" altLang="en-US" i="1" dirty="0" smtClean="0">
                        <a:latin typeface="Cambria Math" panose="02040503050406030204" pitchFamily="18" charset="0"/>
                        <a:sym typeface="Symbol" pitchFamily="2" charset="2"/>
                      </a:rPr>
                      <m:t>𝑍</m:t>
                    </m:r>
                  </m:oMath>
                </a14:m>
                <a:r>
                  <a:rPr lang="en-US" altLang="zh-CN" dirty="0"/>
                  <a:t>,</a:t>
                </a:r>
                <a:r>
                  <a:rPr lang="zh-CN" altLang="en-US" dirty="0"/>
                  <a:t> </a:t>
                </a:r>
                <a:r>
                  <a:rPr lang="en-US" altLang="en-US" dirty="0">
                    <a:sym typeface="Symbol" pitchFamily="2" charset="2"/>
                  </a:rPr>
                  <a:t>so that Appendix Table can be used. </a:t>
                </a: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04840556-1594-4EB3-1DF2-FB3DF689E955}"/>
                  </a:ext>
                </a:extLst>
              </p:cNvPr>
              <p:cNvSpPr>
                <a:spLocks noGrp="1" noRot="1" noChangeAspect="1" noMove="1" noResize="1" noEditPoints="1" noAdjustHandles="1" noChangeArrowheads="1" noChangeShapeType="1" noTextEdit="1"/>
              </p:cNvSpPr>
              <p:nvPr>
                <p:ph idx="1"/>
              </p:nvPr>
            </p:nvSpPr>
            <p:spPr>
              <a:blipFill>
                <a:blip r:embed="rId2"/>
                <a:stretch>
                  <a:fillRect l="-1159" t="-2521"/>
                </a:stretch>
              </a:blipFill>
            </p:spPr>
            <p:txBody>
              <a:bodyPr/>
              <a:lstStyle/>
              <a:p>
                <a:r>
                  <a:rPr lang="en-US">
                    <a:noFill/>
                  </a:rPr>
                  <a:t> </a:t>
                </a:r>
              </a:p>
            </p:txBody>
          </p:sp>
        </mc:Fallback>
      </mc:AlternateContent>
      <p:pic>
        <p:nvPicPr>
          <p:cNvPr id="4" name="Picture 10">
            <a:extLst>
              <a:ext uri="{FF2B5EF4-FFF2-40B4-BE49-F238E27FC236}">
                <a16:creationId xmlns:a16="http://schemas.microsoft.com/office/drawing/2014/main" id="{B88B98FC-7F58-B061-BBEC-BB9CBC0C33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1966" y="3346442"/>
            <a:ext cx="8222941" cy="2737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6547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E8005-0E74-9637-6DB7-2D72141C2351}"/>
              </a:ext>
            </a:extLst>
          </p:cNvPr>
          <p:cNvSpPr>
            <a:spLocks noGrp="1"/>
          </p:cNvSpPr>
          <p:nvPr>
            <p:ph type="title"/>
          </p:nvPr>
        </p:nvSpPr>
        <p:spPr/>
        <p:txBody>
          <a:bodyPr/>
          <a:lstStyle/>
          <a:p>
            <a:r>
              <a:rPr lang="en-US" dirty="0"/>
              <a:t>Example: Driver Reaction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2E3FA3-D478-B989-1661-F12DE10E85F8}"/>
                  </a:ext>
                </a:extLst>
              </p:cNvPr>
              <p:cNvSpPr>
                <a:spLocks noGrp="1"/>
              </p:cNvSpPr>
              <p:nvPr>
                <p:ph idx="1"/>
              </p:nvPr>
            </p:nvSpPr>
            <p:spPr/>
            <p:txBody>
              <a:bodyPr/>
              <a:lstStyle/>
              <a:p>
                <a:pPr marL="0" indent="0">
                  <a:buNone/>
                </a:pPr>
                <a:r>
                  <a:rPr lang="en-US" dirty="0"/>
                  <a:t>Let </a:t>
                </a:r>
                <a14:m>
                  <m:oMath xmlns:m="http://schemas.openxmlformats.org/officeDocument/2006/math">
                    <m:r>
                      <a:rPr lang="en-US" b="0" i="1" smtClean="0">
                        <a:latin typeface="Cambria Math" panose="02040503050406030204" pitchFamily="18" charset="0"/>
                      </a:rPr>
                      <m:t>𝑋</m:t>
                    </m:r>
                  </m:oMath>
                </a14:m>
                <a:r>
                  <a:rPr lang="en-US" dirty="0"/>
                  <a:t> denote a driver’s reaction time, in seconds, after the brake lights of the vehicle ahead turn on.</a:t>
                </a:r>
              </a:p>
              <a:p>
                <a:pPr marL="0" indent="0">
                  <a:buNone/>
                </a:pPr>
                <a:r>
                  <a:rPr lang="en-US" dirty="0"/>
                  <a:t>Assume that </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 </m:t>
                    </m:r>
                  </m:oMath>
                </a14:m>
                <a:r>
                  <a:rPr lang="en-US" dirty="0"/>
                  <a:t>follows a normal distribution with mean 1.25 seconds and standard deviation 0.46 seconds:</a:t>
                </a: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(1.25, 0.46)</m:t>
                      </m:r>
                    </m:oMath>
                  </m:oMathPara>
                </a14:m>
                <a:endParaRPr lang="en-US" dirty="0"/>
              </a:p>
              <a:p>
                <a:pPr marL="0" indent="0">
                  <a:buNone/>
                </a:pPr>
                <a:endParaRPr lang="en-US" dirty="0"/>
              </a:p>
              <a:p>
                <a:pPr marL="0" indent="0">
                  <a:buNone/>
                </a:pPr>
                <a:r>
                  <a:rPr lang="en-US" dirty="0"/>
                  <a:t>What is the probability that the driver’s reaction time is between 1 and 1.75 seconds?</a:t>
                </a:r>
              </a:p>
            </p:txBody>
          </p:sp>
        </mc:Choice>
        <mc:Fallback xmlns="">
          <p:sp>
            <p:nvSpPr>
              <p:cNvPr id="3" name="Content Placeholder 2">
                <a:extLst>
                  <a:ext uri="{FF2B5EF4-FFF2-40B4-BE49-F238E27FC236}">
                    <a16:creationId xmlns:a16="http://schemas.microsoft.com/office/drawing/2014/main" id="{F52E3FA3-D478-B989-1661-F12DE10E85F8}"/>
                  </a:ext>
                </a:extLst>
              </p:cNvPr>
              <p:cNvSpPr>
                <a:spLocks noGrp="1" noRot="1" noChangeAspect="1" noMove="1" noResize="1" noEditPoints="1" noAdjustHandles="1" noChangeArrowheads="1" noChangeShapeType="1" noTextEdit="1"/>
              </p:cNvSpPr>
              <p:nvPr>
                <p:ph idx="1"/>
              </p:nvPr>
            </p:nvSpPr>
            <p:spPr>
              <a:blipFill>
                <a:blip r:embed="rId2"/>
                <a:stretch>
                  <a:fillRect l="-1159" t="-2521" r="-1681"/>
                </a:stretch>
              </a:blipFill>
            </p:spPr>
            <p:txBody>
              <a:bodyPr/>
              <a:lstStyle/>
              <a:p>
                <a:r>
                  <a:rPr lang="en-US">
                    <a:noFill/>
                  </a:rPr>
                  <a:t> </a:t>
                </a:r>
              </a:p>
            </p:txBody>
          </p:sp>
        </mc:Fallback>
      </mc:AlternateContent>
    </p:spTree>
    <p:extLst>
      <p:ext uri="{BB962C8B-B14F-4D97-AF65-F5344CB8AC3E}">
        <p14:creationId xmlns:p14="http://schemas.microsoft.com/office/powerpoint/2010/main" val="40821248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2C02B-E0AC-5239-9DD7-A91A6E288EC1}"/>
              </a:ext>
            </a:extLst>
          </p:cNvPr>
          <p:cNvSpPr>
            <a:spLocks noGrp="1"/>
          </p:cNvSpPr>
          <p:nvPr>
            <p:ph type="title"/>
          </p:nvPr>
        </p:nvSpPr>
        <p:spPr/>
        <p:txBody>
          <a:bodyPr/>
          <a:lstStyle/>
          <a:p>
            <a:r>
              <a:rPr lang="en-US" dirty="0"/>
              <a:t>Example: Driver Reaction Time</a:t>
            </a:r>
          </a:p>
        </p:txBody>
      </p:sp>
      <p:sp>
        <p:nvSpPr>
          <p:cNvPr id="3" name="Content Placeholder 2">
            <a:extLst>
              <a:ext uri="{FF2B5EF4-FFF2-40B4-BE49-F238E27FC236}">
                <a16:creationId xmlns:a16="http://schemas.microsoft.com/office/drawing/2014/main" id="{94E81ED1-D2ED-227F-69F3-D5A3CF5A2C7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39573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3CB86D12-5ED0-B076-0710-2775BA3E1F44}"/>
              </a:ext>
            </a:extLst>
          </p:cNvPr>
          <p:cNvSpPr>
            <a:spLocks noGrp="1" noChangeArrowheads="1"/>
          </p:cNvSpPr>
          <p:nvPr>
            <p:ph type="title"/>
          </p:nvPr>
        </p:nvSpPr>
        <p:spPr>
          <a:xfrm>
            <a:off x="142504" y="117167"/>
            <a:ext cx="12049496" cy="1325563"/>
          </a:xfrm>
          <a:noFill/>
        </p:spPr>
        <p:txBody>
          <a:bodyPr>
            <a:normAutofit/>
          </a:bodyPr>
          <a:lstStyle/>
          <a:p>
            <a:r>
              <a:rPr lang="en-US" altLang="en-US" dirty="0"/>
              <a:t>Percentiles of the Standard Normal Distribution</a:t>
            </a:r>
          </a:p>
        </p:txBody>
      </p:sp>
      <mc:AlternateContent xmlns:mc="http://schemas.openxmlformats.org/markup-compatibility/2006">
        <mc:Choice xmlns:a14="http://schemas.microsoft.com/office/drawing/2010/main" Requires="a14">
          <p:sp>
            <p:nvSpPr>
              <p:cNvPr id="145411" name="Rectangle 3">
                <a:extLst>
                  <a:ext uri="{FF2B5EF4-FFF2-40B4-BE49-F238E27FC236}">
                    <a16:creationId xmlns:a16="http://schemas.microsoft.com/office/drawing/2014/main" id="{916A7A52-6D8A-8CDE-8CE0-F9931FE0C048}"/>
                  </a:ext>
                </a:extLst>
              </p:cNvPr>
              <p:cNvSpPr>
                <a:spLocks noGrp="1" noChangeArrowheads="1"/>
              </p:cNvSpPr>
              <p:nvPr>
                <p:ph type="body" idx="1"/>
              </p:nvPr>
            </p:nvSpPr>
            <p:spPr>
              <a:noFill/>
            </p:spPr>
            <p:txBody>
              <a:bodyPr>
                <a:normAutofit/>
              </a:bodyPr>
              <a:lstStyle/>
              <a:p>
                <a:pPr marL="0" indent="0">
                  <a:buNone/>
                  <a:tabLst>
                    <a:tab pos="457200" algn="l"/>
                    <a:tab pos="1371600" algn="l"/>
                    <a:tab pos="1547813" algn="l"/>
                  </a:tabLst>
                </a:pPr>
                <a:r>
                  <a:rPr lang="en-US" dirty="0"/>
                  <a:t>Previously, we used a cutoff to find a probability. Now, we use a probability to find a cutoff.</a:t>
                </a:r>
              </a:p>
              <a:p>
                <a:pPr>
                  <a:tabLst>
                    <a:tab pos="457200" algn="l"/>
                    <a:tab pos="1371600" algn="l"/>
                    <a:tab pos="1547813" algn="l"/>
                  </a:tabLst>
                </a:pPr>
                <a:r>
                  <a:rPr lang="en-US" dirty="0"/>
                  <a:t>The </a:t>
                </a:r>
                <a14:m>
                  <m:oMath xmlns:m="http://schemas.openxmlformats.org/officeDocument/2006/math">
                    <m:r>
                      <m:rPr>
                        <m:lit/>
                      </m:rPr>
                      <a:rPr lang="en-US" b="1" i="1" dirty="0" smtClean="0">
                        <a:latin typeface="Cambria Math" panose="02040503050406030204" pitchFamily="18" charset="0"/>
                      </a:rPr>
                      <m:t>(</m:t>
                    </m:r>
                    <m:r>
                      <a:rPr lang="en-US" b="1" i="1" dirty="0">
                        <a:latin typeface="Cambria Math" panose="02040503050406030204" pitchFamily="18" charset="0"/>
                      </a:rPr>
                      <m:t>𝟏𝟎𝟎</m:t>
                    </m:r>
                    <m:r>
                      <a:rPr lang="en-US" b="1" i="1" dirty="0">
                        <a:latin typeface="Cambria Math" panose="02040503050406030204" pitchFamily="18" charset="0"/>
                      </a:rPr>
                      <m:t>𝒑</m:t>
                    </m:r>
                    <m:r>
                      <m:rPr>
                        <m:lit/>
                      </m:rPr>
                      <a:rPr lang="en-US" b="1" i="1" dirty="0">
                        <a:latin typeface="Cambria Math" panose="02040503050406030204" pitchFamily="18" charset="0"/>
                      </a:rPr>
                      <m:t>)</m:t>
                    </m:r>
                    <m:r>
                      <a:rPr lang="en-US" b="1" i="1" dirty="0" err="1">
                        <a:latin typeface="Cambria Math" panose="02040503050406030204" pitchFamily="18" charset="0"/>
                      </a:rPr>
                      <m:t>𝒕𝒉</m:t>
                    </m:r>
                  </m:oMath>
                </a14:m>
                <a:r>
                  <a:rPr lang="en-US" b="1" dirty="0"/>
                  <a:t> percentile</a:t>
                </a:r>
                <a:r>
                  <a:rPr lang="en-US" dirty="0"/>
                  <a:t> is the value </a:t>
                </a:r>
                <a14:m>
                  <m:oMath xmlns:m="http://schemas.openxmlformats.org/officeDocument/2006/math">
                    <m:r>
                      <a:rPr lang="en-US" i="1" dirty="0" smtClean="0">
                        <a:latin typeface="Cambria Math" panose="02040503050406030204" pitchFamily="18" charset="0"/>
                      </a:rPr>
                      <m:t>𝑧</m:t>
                    </m:r>
                  </m:oMath>
                </a14:m>
                <a:r>
                  <a:rPr lang="en-US" dirty="0"/>
                  <a:t> such that</a:t>
                </a:r>
                <a:r>
                  <a:rPr lang="zh-CN" altLang="en-US" dirty="0"/>
                  <a:t> </a:t>
                </a:r>
                <a:endParaRPr lang="en-US" altLang="zh-CN" dirty="0"/>
              </a:p>
              <a:p>
                <a:pPr marL="0" indent="0">
                  <a:buNone/>
                  <a:tabLst>
                    <a:tab pos="457200" algn="l"/>
                    <a:tab pos="1371600" algn="l"/>
                    <a:tab pos="1547813" algn="l"/>
                  </a:tabLst>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𝑍</m:t>
                          </m:r>
                          <m:r>
                            <a:rPr lang="en-US" altLang="zh-CN" b="0" i="1" smtClean="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𝑧</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𝑝</m:t>
                      </m:r>
                    </m:oMath>
                  </m:oMathPara>
                </a14:m>
                <a:endParaRPr lang="en-US" altLang="en-US" dirty="0"/>
              </a:p>
              <a:p>
                <a:pPr>
                  <a:tabLst>
                    <a:tab pos="457200" algn="l"/>
                    <a:tab pos="1371600" algn="l"/>
                    <a:tab pos="1547813" algn="l"/>
                  </a:tabLst>
                </a:pPr>
                <a:r>
                  <a:rPr lang="en-US" b="1" dirty="0"/>
                  <a:t>Example:</a:t>
                </a:r>
                <a:r>
                  <a:rPr lang="en-US" dirty="0"/>
                  <a:t> To find the 67th percentile, look for </a:t>
                </a:r>
                <a:r>
                  <a:rPr lang="en-US" altLang="zh-CN" dirty="0"/>
                  <a:t>closest</a:t>
                </a:r>
                <a:r>
                  <a:rPr lang="zh-CN" altLang="en-US" dirty="0"/>
                  <a:t> </a:t>
                </a:r>
                <a:r>
                  <a:rPr lang="en-US" altLang="zh-CN" dirty="0"/>
                  <a:t>entry</a:t>
                </a:r>
                <a:r>
                  <a:rPr lang="zh-CN" altLang="en-US" dirty="0"/>
                  <a:t> </a:t>
                </a:r>
                <a:r>
                  <a:rPr lang="en-US" altLang="zh-CN" dirty="0"/>
                  <a:t>to</a:t>
                </a:r>
                <a:r>
                  <a:rPr lang="zh-CN" altLang="en-US" dirty="0"/>
                  <a:t> </a:t>
                </a:r>
                <a:r>
                  <a:rPr lang="en-US" altLang="zh-CN" dirty="0"/>
                  <a:t>0.67</a:t>
                </a:r>
                <a:r>
                  <a:rPr lang="en-US" dirty="0"/>
                  <a:t>, corresponding to </a:t>
                </a:r>
                <a14:m>
                  <m:oMath xmlns:m="http://schemas.openxmlformats.org/officeDocument/2006/math">
                    <m:r>
                      <m:rPr>
                        <m:lit/>
                      </m:rPr>
                      <a:rPr lang="en-US" i="1" dirty="0" smtClean="0">
                        <a:latin typeface="Cambria Math" panose="02040503050406030204" pitchFamily="18" charset="0"/>
                      </a:rPr>
                      <m:t>(</m:t>
                    </m:r>
                    <m:r>
                      <a:rPr lang="en-US" i="1" dirty="0">
                        <a:latin typeface="Cambria Math" panose="02040503050406030204" pitchFamily="18" charset="0"/>
                      </a:rPr>
                      <m:t>𝑧</m:t>
                    </m:r>
                    <m:r>
                      <a:rPr lang="en-US" i="1" dirty="0">
                        <a:latin typeface="Cambria Math" panose="02040503050406030204" pitchFamily="18" charset="0"/>
                      </a:rPr>
                      <m:t>=0.44</m:t>
                    </m:r>
                    <m:r>
                      <m:rPr>
                        <m:lit/>
                      </m:rPr>
                      <a:rPr lang="en-US" i="1" dirty="0">
                        <a:latin typeface="Cambria Math" panose="02040503050406030204" pitchFamily="18" charset="0"/>
                      </a:rPr>
                      <m:t>)</m:t>
                    </m:r>
                  </m:oMath>
                </a14:m>
                <a:r>
                  <a:rPr lang="en-US" dirty="0"/>
                  <a:t>. </a:t>
                </a:r>
              </a:p>
              <a:p>
                <a:pPr marL="0" indent="0">
                  <a:buNone/>
                  <a:tabLst>
                    <a:tab pos="457200" algn="l"/>
                    <a:tab pos="1371600" algn="l"/>
                    <a:tab pos="1547813" algn="l"/>
                  </a:tabLst>
                </a:pPr>
                <a:endParaRPr lang="en-US" dirty="0"/>
              </a:p>
              <a:p>
                <a:pPr marL="0" indent="0">
                  <a:buNone/>
                  <a:tabLst>
                    <a:tab pos="457200" algn="l"/>
                    <a:tab pos="1371600" algn="l"/>
                    <a:tab pos="1547813" algn="l"/>
                  </a:tabLst>
                </a:pPr>
                <a:r>
                  <a:rPr lang="en-US" dirty="0"/>
                  <a:t>Remark: If</a:t>
                </a:r>
                <a:r>
                  <a:rPr lang="zh-CN" altLang="en-US" dirty="0"/>
                  <a:t> </a:t>
                </a:r>
                <a14:m>
                  <m:oMath xmlns:m="http://schemas.openxmlformats.org/officeDocument/2006/math">
                    <m:r>
                      <a:rPr lang="en-US" i="1" dirty="0">
                        <a:latin typeface="Cambria Math" panose="02040503050406030204" pitchFamily="18" charset="0"/>
                      </a:rPr>
                      <m:t>𝑝</m:t>
                    </m:r>
                  </m:oMath>
                </a14:m>
                <a:r>
                  <a:rPr lang="zh-CN" altLang="en-US" dirty="0"/>
                  <a:t> </a:t>
                </a:r>
                <a:r>
                  <a:rPr lang="en-US" dirty="0"/>
                  <a:t>falls between two table entries, use the closer entry or interpolate for greater accuracy.</a:t>
                </a:r>
              </a:p>
              <a:p>
                <a:pPr>
                  <a:tabLst>
                    <a:tab pos="457200" algn="l"/>
                    <a:tab pos="1371600" algn="l"/>
                    <a:tab pos="1547813" algn="l"/>
                  </a:tabLst>
                </a:pPr>
                <a:endParaRPr lang="en-US" altLang="en-US" dirty="0"/>
              </a:p>
            </p:txBody>
          </p:sp>
        </mc:Choice>
        <mc:Fallback>
          <p:sp>
            <p:nvSpPr>
              <p:cNvPr id="145411" name="Rectangle 3">
                <a:extLst>
                  <a:ext uri="{FF2B5EF4-FFF2-40B4-BE49-F238E27FC236}">
                    <a16:creationId xmlns:a16="http://schemas.microsoft.com/office/drawing/2014/main" id="{916A7A52-6D8A-8CDE-8CE0-F9931FE0C048}"/>
                  </a:ext>
                </a:extLst>
              </p:cNvPr>
              <p:cNvSpPr>
                <a:spLocks noGrp="1" noRot="1" noChangeAspect="1" noMove="1" noResize="1" noEditPoints="1" noAdjustHandles="1" noChangeArrowheads="1" noChangeShapeType="1" noTextEdit="1"/>
              </p:cNvSpPr>
              <p:nvPr>
                <p:ph type="body" idx="1"/>
              </p:nvPr>
            </p:nvSpPr>
            <p:spPr>
              <a:blipFill>
                <a:blip r:embed="rId2"/>
                <a:stretch>
                  <a:fillRect l="-1206" t="-2326" r="-121"/>
                </a:stretch>
              </a:blipFill>
            </p:spPr>
            <p:txBody>
              <a:bodyPr/>
              <a:lstStyle/>
              <a:p>
                <a:r>
                  <a:rPr 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3602" name="Rectangle 2">
                <a:extLst>
                  <a:ext uri="{FF2B5EF4-FFF2-40B4-BE49-F238E27FC236}">
                    <a16:creationId xmlns:a16="http://schemas.microsoft.com/office/drawing/2014/main" id="{879633E1-7E97-A5B8-CA66-CDC1A00C3B2A}"/>
                  </a:ext>
                </a:extLst>
              </p:cNvPr>
              <p:cNvSpPr>
                <a:spLocks noGrp="1" noChangeArrowheads="1"/>
              </p:cNvSpPr>
              <p:nvPr>
                <p:ph type="title"/>
              </p:nvPr>
            </p:nvSpPr>
            <p:spPr>
              <a:noFill/>
            </p:spPr>
            <p:txBody>
              <a:bodyPr/>
              <a:lstStyle/>
              <a:p>
                <a14:m>
                  <m:oMath xmlns:m="http://schemas.openxmlformats.org/officeDocument/2006/math">
                    <m:sSub>
                      <m:sSubPr>
                        <m:ctrlPr>
                          <a:rPr lang="en-US" altLang="en-US" b="0" i="1" dirty="0" smtClean="0">
                            <a:latin typeface="Cambria Math" panose="02040503050406030204" pitchFamily="18" charset="0"/>
                          </a:rPr>
                        </m:ctrlPr>
                      </m:sSubPr>
                      <m:e>
                        <m:r>
                          <a:rPr lang="en-US" altLang="en-US" b="0" i="1" dirty="0" smtClean="0">
                            <a:latin typeface="Cambria Math" panose="02040503050406030204" pitchFamily="18" charset="0"/>
                          </a:rPr>
                          <m:t>𝑍</m:t>
                        </m:r>
                      </m:e>
                      <m:sub>
                        <m:r>
                          <a:rPr lang="en-US" altLang="en-US" b="0" i="1" dirty="0" smtClean="0">
                            <a:latin typeface="Cambria Math" panose="02040503050406030204" pitchFamily="18" charset="0"/>
                          </a:rPr>
                          <m:t>𝛼</m:t>
                        </m:r>
                      </m:sub>
                    </m:sSub>
                  </m:oMath>
                </a14:m>
                <a:r>
                  <a:rPr lang="en-US" altLang="en-US" dirty="0"/>
                  <a:t> Notation for </a:t>
                </a:r>
                <a14:m>
                  <m:oMath xmlns:m="http://schemas.openxmlformats.org/officeDocument/2006/math">
                    <m:r>
                      <a:rPr lang="en-US" altLang="en-US" b="0" i="1" dirty="0" smtClean="0">
                        <a:latin typeface="Cambria Math" panose="02040503050406030204" pitchFamily="18" charset="0"/>
                      </a:rPr>
                      <m:t>𝑍</m:t>
                    </m:r>
                  </m:oMath>
                </a14:m>
                <a:r>
                  <a:rPr lang="en-US" altLang="en-US" dirty="0"/>
                  <a:t> Critical Values</a:t>
                </a:r>
              </a:p>
            </p:txBody>
          </p:sp>
        </mc:Choice>
        <mc:Fallback xmlns="">
          <p:sp>
            <p:nvSpPr>
              <p:cNvPr id="153602" name="Rectangle 2">
                <a:extLst>
                  <a:ext uri="{FF2B5EF4-FFF2-40B4-BE49-F238E27FC236}">
                    <a16:creationId xmlns:a16="http://schemas.microsoft.com/office/drawing/2014/main" id="{879633E1-7E97-A5B8-CA66-CDC1A00C3B2A}"/>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603" name="Rectangle 3">
                <a:extLst>
                  <a:ext uri="{FF2B5EF4-FFF2-40B4-BE49-F238E27FC236}">
                    <a16:creationId xmlns:a16="http://schemas.microsoft.com/office/drawing/2014/main" id="{A30C6C38-DE0D-B9C2-C7D3-6C2B0FBC8CA2}"/>
                  </a:ext>
                </a:extLst>
              </p:cNvPr>
              <p:cNvSpPr>
                <a:spLocks noGrp="1" noChangeArrowheads="1"/>
              </p:cNvSpPr>
              <p:nvPr>
                <p:ph type="body" idx="1"/>
              </p:nvPr>
            </p:nvSpPr>
            <p:spPr>
              <a:noFill/>
            </p:spPr>
            <p:txBody>
              <a:bodyPr/>
              <a:lstStyle/>
              <a:p>
                <a:pPr>
                  <a:tabLst>
                    <a:tab pos="457200" algn="l"/>
                    <a:tab pos="1371600" algn="l"/>
                    <a:tab pos="1547813" algn="l"/>
                  </a:tabLst>
                </a:pPr>
                <a:r>
                  <a:rPr lang="en-US" altLang="en-US" dirty="0"/>
                  <a:t>In statistical inference, we will need the values on the horizontal </a:t>
                </a:r>
                <a14:m>
                  <m:oMath xmlns:m="http://schemas.openxmlformats.org/officeDocument/2006/math">
                    <m:r>
                      <a:rPr lang="en-US" altLang="en-US" b="0" i="1" smtClean="0">
                        <a:latin typeface="Cambria Math" panose="02040503050406030204" pitchFamily="18" charset="0"/>
                      </a:rPr>
                      <m:t>𝑧</m:t>
                    </m:r>
                  </m:oMath>
                </a14:m>
                <a:r>
                  <a:rPr lang="en-US" altLang="en-US" dirty="0"/>
                  <a:t> axis that capture certain small tail areas under the standard normal curve.</a:t>
                </a:r>
                <a:endParaRPr lang="en-US" altLang="en-US" b="1" dirty="0"/>
              </a:p>
              <a:p>
                <a:pPr>
                  <a:tabLst>
                    <a:tab pos="457200" algn="l"/>
                    <a:tab pos="1371600" algn="l"/>
                    <a:tab pos="1547813" algn="l"/>
                  </a:tabLst>
                </a:pPr>
                <a:endParaRPr lang="en-US" altLang="en-US" b="1" i="1" dirty="0"/>
              </a:p>
              <a:p>
                <a:pPr>
                  <a:tabLst>
                    <a:tab pos="457200" algn="l"/>
                    <a:tab pos="1371600" algn="l"/>
                    <a:tab pos="1547813" algn="l"/>
                  </a:tabLst>
                </a:pPr>
                <a14:m>
                  <m:oMath xmlns:m="http://schemas.openxmlformats.org/officeDocument/2006/math">
                    <m:sSub>
                      <m:sSubPr>
                        <m:ctrlPr>
                          <a:rPr lang="en-US" altLang="en-US" i="1" dirty="0">
                            <a:latin typeface="Cambria Math" panose="02040503050406030204" pitchFamily="18" charset="0"/>
                          </a:rPr>
                        </m:ctrlPr>
                      </m:sSubPr>
                      <m:e>
                        <m:r>
                          <a:rPr lang="en-US" altLang="en-US" i="1" dirty="0">
                            <a:latin typeface="Cambria Math" panose="02040503050406030204" pitchFamily="18" charset="0"/>
                          </a:rPr>
                          <m:t>𝑍</m:t>
                        </m:r>
                      </m:e>
                      <m:sub>
                        <m:r>
                          <a:rPr lang="en-US" altLang="en-US" i="1" dirty="0">
                            <a:latin typeface="Cambria Math" panose="02040503050406030204" pitchFamily="18" charset="0"/>
                          </a:rPr>
                          <m:t>𝛼</m:t>
                        </m:r>
                      </m:sub>
                    </m:sSub>
                  </m:oMath>
                </a14:m>
                <a:r>
                  <a:rPr lang="en-US" altLang="en-US" dirty="0"/>
                  <a:t> will denote the value on the </a:t>
                </a:r>
                <a14:m>
                  <m:oMath xmlns:m="http://schemas.openxmlformats.org/officeDocument/2006/math">
                    <m:r>
                      <a:rPr lang="en-US" altLang="en-US" b="0" i="1" dirty="0" smtClean="0">
                        <a:latin typeface="Cambria Math" panose="02040503050406030204" pitchFamily="18" charset="0"/>
                      </a:rPr>
                      <m:t>𝑧</m:t>
                    </m:r>
                  </m:oMath>
                </a14:m>
                <a:r>
                  <a:rPr lang="en-US" altLang="en-US" dirty="0"/>
                  <a:t> axis for which </a:t>
                </a:r>
                <a14:m>
                  <m:oMath xmlns:m="http://schemas.openxmlformats.org/officeDocument/2006/math">
                    <m:r>
                      <a:rPr lang="en-US" altLang="en-US" b="0" i="1" dirty="0" smtClean="0">
                        <a:latin typeface="Cambria Math" panose="02040503050406030204" pitchFamily="18" charset="0"/>
                        <a:sym typeface="Symbol" pitchFamily="2" charset="2"/>
                      </a:rPr>
                      <m:t>𝛼</m:t>
                    </m:r>
                  </m:oMath>
                </a14:m>
                <a:r>
                  <a:rPr lang="en-US" altLang="en-US" dirty="0"/>
                  <a:t> of the area under the </a:t>
                </a:r>
                <a14:m>
                  <m:oMath xmlns:m="http://schemas.openxmlformats.org/officeDocument/2006/math">
                    <m:r>
                      <a:rPr lang="en-US" altLang="en-US" i="1" dirty="0">
                        <a:latin typeface="Cambria Math" panose="02040503050406030204" pitchFamily="18" charset="0"/>
                      </a:rPr>
                      <m:t>𝑧</m:t>
                    </m:r>
                  </m:oMath>
                </a14:m>
                <a:r>
                  <a:rPr lang="en-US" altLang="en-US" dirty="0"/>
                  <a:t> curve lies to the right of</a:t>
                </a:r>
                <a:r>
                  <a:rPr lang="en-US" altLang="en-US" b="1" dirty="0"/>
                  <a:t> </a:t>
                </a:r>
                <a:r>
                  <a:rPr lang="en-US" altLang="en-US" i="1" dirty="0"/>
                  <a:t>z</a:t>
                </a:r>
                <a:r>
                  <a:rPr lang="en-US" altLang="en-US" i="1" baseline="-25000" dirty="0">
                    <a:sym typeface="Symbol" pitchFamily="2" charset="2"/>
                  </a:rPr>
                  <a:t></a:t>
                </a:r>
                <a:r>
                  <a:rPr lang="en-US" altLang="en-US" dirty="0"/>
                  <a:t>. </a:t>
                </a:r>
                <a:br>
                  <a:rPr lang="en-US" altLang="en-US" dirty="0"/>
                </a:br>
                <a:endParaRPr lang="en-US" altLang="en-US" dirty="0"/>
              </a:p>
            </p:txBody>
          </p:sp>
        </mc:Choice>
        <mc:Fallback xmlns="">
          <p:sp>
            <p:nvSpPr>
              <p:cNvPr id="153603" name="Rectangle 3">
                <a:extLst>
                  <a:ext uri="{FF2B5EF4-FFF2-40B4-BE49-F238E27FC236}">
                    <a16:creationId xmlns:a16="http://schemas.microsoft.com/office/drawing/2014/main" id="{A30C6C38-DE0D-B9C2-C7D3-6C2B0FBC8CA2}"/>
                  </a:ext>
                </a:extLst>
              </p:cNvPr>
              <p:cNvSpPr>
                <a:spLocks noGrp="1" noRot="1" noChangeAspect="1" noMove="1" noResize="1" noEditPoints="1" noAdjustHandles="1" noChangeArrowheads="1" noChangeShapeType="1" noTextEdit="1"/>
              </p:cNvSpPr>
              <p:nvPr>
                <p:ph type="body" idx="1"/>
              </p:nvPr>
            </p:nvSpPr>
            <p:spPr>
              <a:blipFill>
                <a:blip r:embed="rId4"/>
                <a:stretch>
                  <a:fillRect l="-1043" t="-2521" r="-1391"/>
                </a:stretch>
              </a:blipFill>
            </p:spPr>
            <p:txBody>
              <a:bodyPr/>
              <a:lstStyle/>
              <a:p>
                <a:r>
                  <a:rPr lang="en-US">
                    <a:noFill/>
                  </a:rPr>
                  <a:t> </a:t>
                </a:r>
              </a:p>
            </p:txBody>
          </p:sp>
        </mc:Fallback>
      </mc:AlternateContent>
      <p:pic>
        <p:nvPicPr>
          <p:cNvPr id="153607" name="Picture 7">
            <a:extLst>
              <a:ext uri="{FF2B5EF4-FFF2-40B4-BE49-F238E27FC236}">
                <a16:creationId xmlns:a16="http://schemas.microsoft.com/office/drawing/2014/main" id="{D4F1ECA9-7119-CC34-73AC-C486F49360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1525" y="4501342"/>
            <a:ext cx="4648949" cy="2091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4626" name="Rectangle 2">
                <a:extLst>
                  <a:ext uri="{FF2B5EF4-FFF2-40B4-BE49-F238E27FC236}">
                    <a16:creationId xmlns:a16="http://schemas.microsoft.com/office/drawing/2014/main" id="{E192D54D-8441-AF09-2A48-9016FB9C7856}"/>
                  </a:ext>
                </a:extLst>
              </p:cNvPr>
              <p:cNvSpPr>
                <a:spLocks noGrp="1" noChangeArrowheads="1"/>
              </p:cNvSpPr>
              <p:nvPr>
                <p:ph type="title"/>
              </p:nvPr>
            </p:nvSpPr>
            <p:spPr>
              <a:noFill/>
            </p:spPr>
            <p:txBody>
              <a:bodyPr/>
              <a:lstStyle/>
              <a:p>
                <a14:m>
                  <m:oMath xmlns:m="http://schemas.openxmlformats.org/officeDocument/2006/math">
                    <m:sSub>
                      <m:sSubPr>
                        <m:ctrlPr>
                          <a:rPr lang="en-US" altLang="en-US" i="1" dirty="0">
                            <a:latin typeface="Cambria Math" panose="02040503050406030204" pitchFamily="18" charset="0"/>
                          </a:rPr>
                        </m:ctrlPr>
                      </m:sSubPr>
                      <m:e>
                        <m:r>
                          <a:rPr lang="en-US" altLang="en-US" i="1" dirty="0">
                            <a:latin typeface="Cambria Math" panose="02040503050406030204" pitchFamily="18" charset="0"/>
                          </a:rPr>
                          <m:t>𝑍</m:t>
                        </m:r>
                      </m:e>
                      <m:sub>
                        <m:r>
                          <a:rPr lang="en-US" altLang="en-US" i="1" dirty="0">
                            <a:latin typeface="Cambria Math" panose="02040503050406030204" pitchFamily="18" charset="0"/>
                          </a:rPr>
                          <m:t>𝛼</m:t>
                        </m:r>
                      </m:sub>
                    </m:sSub>
                  </m:oMath>
                </a14:m>
                <a:r>
                  <a:rPr lang="en-US" altLang="en-US" dirty="0"/>
                  <a:t> Notation for </a:t>
                </a:r>
                <a14:m>
                  <m:oMath xmlns:m="http://schemas.openxmlformats.org/officeDocument/2006/math">
                    <m:r>
                      <a:rPr lang="en-US" altLang="en-US" i="1" dirty="0">
                        <a:latin typeface="Cambria Math" panose="02040503050406030204" pitchFamily="18" charset="0"/>
                      </a:rPr>
                      <m:t>𝑍</m:t>
                    </m:r>
                  </m:oMath>
                </a14:m>
                <a:r>
                  <a:rPr lang="en-US" altLang="en-US" dirty="0"/>
                  <a:t> Critical Values</a:t>
                </a:r>
              </a:p>
            </p:txBody>
          </p:sp>
        </mc:Choice>
        <mc:Fallback xmlns="">
          <p:sp>
            <p:nvSpPr>
              <p:cNvPr id="154626" name="Rectangle 2">
                <a:extLst>
                  <a:ext uri="{FF2B5EF4-FFF2-40B4-BE49-F238E27FC236}">
                    <a16:creationId xmlns:a16="http://schemas.microsoft.com/office/drawing/2014/main" id="{E192D54D-8441-AF09-2A48-9016FB9C7856}"/>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4627" name="Rectangle 3">
                <a:extLst>
                  <a:ext uri="{FF2B5EF4-FFF2-40B4-BE49-F238E27FC236}">
                    <a16:creationId xmlns:a16="http://schemas.microsoft.com/office/drawing/2014/main" id="{AD9BD385-B762-6748-BA61-EC3548C6E0AF}"/>
                  </a:ext>
                </a:extLst>
              </p:cNvPr>
              <p:cNvSpPr>
                <a:spLocks noGrp="1" noChangeArrowheads="1"/>
              </p:cNvSpPr>
              <p:nvPr>
                <p:ph type="body" idx="1"/>
              </p:nvPr>
            </p:nvSpPr>
            <p:spPr>
              <a:noFill/>
            </p:spPr>
            <p:txBody>
              <a:bodyPr>
                <a:normAutofit/>
              </a:bodyPr>
              <a:lstStyle/>
              <a:p>
                <a:pPr>
                  <a:tabLst>
                    <a:tab pos="457200" algn="l"/>
                    <a:tab pos="1371600" algn="l"/>
                    <a:tab pos="1547813" algn="l"/>
                  </a:tabLst>
                </a:pPr>
                <a:r>
                  <a:rPr lang="en-US" altLang="en-US" dirty="0"/>
                  <a:t>For example, </a:t>
                </a:r>
                <a14:m>
                  <m:oMath xmlns:m="http://schemas.openxmlformats.org/officeDocument/2006/math">
                    <m:sSub>
                      <m:sSubPr>
                        <m:ctrlPr>
                          <a:rPr lang="en-US" altLang="en-US" i="1" dirty="0" smtClean="0">
                            <a:latin typeface="Cambria Math" panose="02040503050406030204" pitchFamily="18" charset="0"/>
                          </a:rPr>
                        </m:ctrlPr>
                      </m:sSubPr>
                      <m:e>
                        <m:r>
                          <a:rPr lang="en-US" altLang="en-US" i="1" dirty="0" smtClean="0">
                            <a:latin typeface="Cambria Math" panose="02040503050406030204" pitchFamily="18" charset="0"/>
                          </a:rPr>
                          <m:t>𝑧</m:t>
                        </m:r>
                      </m:e>
                      <m:sub>
                        <m:r>
                          <a:rPr lang="en-US" altLang="en-US" b="0" i="1" dirty="0" smtClean="0">
                            <a:latin typeface="Cambria Math" panose="02040503050406030204" pitchFamily="18" charset="0"/>
                          </a:rPr>
                          <m:t>0.10</m:t>
                        </m:r>
                      </m:sub>
                    </m:sSub>
                    <m:r>
                      <a:rPr lang="en-US" altLang="en-US" i="1" baseline="-25000" dirty="0">
                        <a:latin typeface="Cambria Math" panose="02040503050406030204" pitchFamily="18" charset="0"/>
                        <a:sym typeface="Symbol" pitchFamily="2" charset="2"/>
                      </a:rPr>
                      <m:t> </m:t>
                    </m:r>
                  </m:oMath>
                </a14:m>
                <a:r>
                  <a:rPr lang="en-US" altLang="en-US" dirty="0">
                    <a:sym typeface="Symbol" pitchFamily="2" charset="2"/>
                  </a:rPr>
                  <a:t>captures upper-tail area 0.10, and </a:t>
                </a:r>
                <a14:m>
                  <m:oMath xmlns:m="http://schemas.openxmlformats.org/officeDocument/2006/math">
                    <m:sSub>
                      <m:sSubPr>
                        <m:ctrlPr>
                          <a:rPr lang="en-US" altLang="en-US" i="1" dirty="0">
                            <a:latin typeface="Cambria Math" panose="02040503050406030204" pitchFamily="18" charset="0"/>
                          </a:rPr>
                        </m:ctrlPr>
                      </m:sSubPr>
                      <m:e>
                        <m:r>
                          <a:rPr lang="en-US" altLang="en-US" i="1" dirty="0">
                            <a:latin typeface="Cambria Math" panose="02040503050406030204" pitchFamily="18" charset="0"/>
                          </a:rPr>
                          <m:t>𝑧</m:t>
                        </m:r>
                      </m:e>
                      <m:sub>
                        <m:r>
                          <a:rPr lang="en-US" altLang="en-US" i="1" dirty="0">
                            <a:latin typeface="Cambria Math" panose="02040503050406030204" pitchFamily="18" charset="0"/>
                          </a:rPr>
                          <m:t>0.</m:t>
                        </m:r>
                        <m:r>
                          <a:rPr lang="en-US" altLang="en-US" b="0" i="1" dirty="0" smtClean="0">
                            <a:latin typeface="Cambria Math" panose="02040503050406030204" pitchFamily="18" charset="0"/>
                          </a:rPr>
                          <m:t>0</m:t>
                        </m:r>
                        <m:r>
                          <a:rPr lang="en-US" altLang="en-US" i="1" dirty="0">
                            <a:latin typeface="Cambria Math" panose="02040503050406030204" pitchFamily="18" charset="0"/>
                          </a:rPr>
                          <m:t>1</m:t>
                        </m:r>
                      </m:sub>
                    </m:sSub>
                    <m:r>
                      <a:rPr lang="en-US" altLang="en-US" i="1" baseline="-25000" dirty="0">
                        <a:latin typeface="Cambria Math" panose="02040503050406030204" pitchFamily="18" charset="0"/>
                        <a:sym typeface="Symbol" pitchFamily="2" charset="2"/>
                      </a:rPr>
                      <m:t> </m:t>
                    </m:r>
                  </m:oMath>
                </a14:m>
                <a:r>
                  <a:rPr lang="en-US" altLang="en-US" dirty="0">
                    <a:sym typeface="Symbol" pitchFamily="2" charset="2"/>
                  </a:rPr>
                  <a:t>captures upper-tail area 0.01.</a:t>
                </a:r>
              </a:p>
              <a:p>
                <a:pPr>
                  <a:tabLst>
                    <a:tab pos="457200" algn="l"/>
                    <a:tab pos="1371600" algn="l"/>
                    <a:tab pos="1547813" algn="l"/>
                  </a:tabLst>
                </a:pPr>
                <a:endParaRPr lang="en-US" altLang="en-US" dirty="0">
                  <a:sym typeface="Symbol" pitchFamily="2" charset="2"/>
                </a:endParaRPr>
              </a:p>
              <a:p>
                <a:pPr>
                  <a:tabLst>
                    <a:tab pos="457200" algn="l"/>
                    <a:tab pos="1371600" algn="l"/>
                    <a:tab pos="1547813" algn="l"/>
                  </a:tabLst>
                </a:pPr>
                <a:r>
                  <a:rPr lang="en-US" altLang="en-US" dirty="0">
                    <a:sym typeface="Symbol" pitchFamily="2" charset="2"/>
                  </a:rPr>
                  <a:t>Since </a:t>
                </a:r>
                <a14:m>
                  <m:oMath xmlns:m="http://schemas.openxmlformats.org/officeDocument/2006/math">
                    <m:r>
                      <a:rPr lang="en-US" altLang="en-US" b="0" i="1" dirty="0" smtClean="0">
                        <a:latin typeface="Cambria Math" panose="02040503050406030204" pitchFamily="18" charset="0"/>
                        <a:sym typeface="Symbol" pitchFamily="2" charset="2"/>
                      </a:rPr>
                      <m:t>𝛼</m:t>
                    </m:r>
                  </m:oMath>
                </a14:m>
                <a:r>
                  <a:rPr lang="en-US" altLang="en-US" dirty="0">
                    <a:sym typeface="Symbol" pitchFamily="2" charset="2"/>
                  </a:rPr>
                  <a:t> of the area under the </a:t>
                </a:r>
                <a:r>
                  <a:rPr lang="en-US" altLang="en-US" i="1" dirty="0">
                    <a:sym typeface="Symbol" pitchFamily="2" charset="2"/>
                  </a:rPr>
                  <a:t>z </a:t>
                </a:r>
                <a:r>
                  <a:rPr lang="en-US" altLang="en-US" dirty="0">
                    <a:sym typeface="Symbol" pitchFamily="2" charset="2"/>
                  </a:rPr>
                  <a:t>curve lies to the right of </a:t>
                </a:r>
                <a14:m>
                  <m:oMath xmlns:m="http://schemas.openxmlformats.org/officeDocument/2006/math">
                    <m:r>
                      <a:rPr lang="en-US" altLang="en-US" i="1" dirty="0" smtClean="0">
                        <a:latin typeface="Cambria Math" panose="02040503050406030204" pitchFamily="18" charset="0"/>
                      </a:rPr>
                      <m:t>𝑧</m:t>
                    </m:r>
                    <m:r>
                      <a:rPr lang="en-US" altLang="en-US" i="1" baseline="-25000" dirty="0">
                        <a:latin typeface="Cambria Math" panose="02040503050406030204" pitchFamily="18" charset="0"/>
                        <a:sym typeface="Symbol" pitchFamily="2" charset="2"/>
                      </a:rPr>
                      <m:t></m:t>
                    </m:r>
                  </m:oMath>
                </a14:m>
                <a:r>
                  <a:rPr lang="en-US" altLang="en-US" dirty="0"/>
                  <a:t>,</a:t>
                </a:r>
                <a:br>
                  <a:rPr lang="en-US" altLang="en-US" dirty="0"/>
                </a:br>
                <a:r>
                  <a:rPr lang="en-US" altLang="en-US" dirty="0"/>
                  <a:t>1 – </a:t>
                </a:r>
                <a:r>
                  <a:rPr lang="en-US" altLang="en-US" i="1" dirty="0">
                    <a:sym typeface="Symbol" pitchFamily="2" charset="2"/>
                  </a:rPr>
                  <a:t> </a:t>
                </a:r>
                <a:r>
                  <a:rPr lang="en-US" altLang="en-US" dirty="0">
                    <a:sym typeface="Symbol" pitchFamily="2" charset="2"/>
                  </a:rPr>
                  <a:t>of the area lies to its left. Thus </a:t>
                </a:r>
                <a:r>
                  <a:rPr lang="en-US" altLang="en-US" i="1" dirty="0"/>
                  <a:t>z</a:t>
                </a:r>
                <a:r>
                  <a:rPr lang="en-US" altLang="en-US" i="1" baseline="-25000" dirty="0">
                    <a:sym typeface="Symbol" pitchFamily="2" charset="2"/>
                  </a:rPr>
                  <a:t></a:t>
                </a:r>
                <a:r>
                  <a:rPr lang="en-US" altLang="en-US" dirty="0"/>
                  <a:t> </a:t>
                </a:r>
                <a:r>
                  <a:rPr lang="en-US" altLang="en-US" i="1" dirty="0"/>
                  <a:t>is the </a:t>
                </a:r>
                <a14:m>
                  <m:oMath xmlns:m="http://schemas.openxmlformats.org/officeDocument/2006/math">
                    <m:r>
                      <a:rPr lang="en-US" altLang="en-US" b="0" i="1" dirty="0" smtClean="0">
                        <a:latin typeface="Cambria Math" panose="02040503050406030204" pitchFamily="18" charset="0"/>
                      </a:rPr>
                      <m:t>100</m:t>
                    </m:r>
                    <m:d>
                      <m:dPr>
                        <m:ctrlPr>
                          <a:rPr lang="en-US" altLang="en-US" b="0" i="1" dirty="0" smtClean="0">
                            <a:latin typeface="Cambria Math" panose="02040503050406030204" pitchFamily="18" charset="0"/>
                          </a:rPr>
                        </m:ctrlPr>
                      </m:dPr>
                      <m:e>
                        <m:r>
                          <a:rPr lang="en-US" altLang="en-US" b="0" i="1" dirty="0" smtClean="0">
                            <a:latin typeface="Cambria Math" panose="02040503050406030204" pitchFamily="18" charset="0"/>
                          </a:rPr>
                          <m:t>1−</m:t>
                        </m:r>
                        <m:r>
                          <a:rPr lang="en-US" altLang="en-US" b="0" i="1" dirty="0" smtClean="0">
                            <a:latin typeface="Cambria Math" panose="02040503050406030204" pitchFamily="18" charset="0"/>
                          </a:rPr>
                          <m:t>𝛼</m:t>
                        </m:r>
                      </m:e>
                    </m:d>
                    <m:r>
                      <a:rPr lang="en-US" altLang="en-US" b="0" i="1" dirty="0" smtClean="0">
                        <a:latin typeface="Cambria Math" panose="02040503050406030204" pitchFamily="18" charset="0"/>
                      </a:rPr>
                      <m:t>𝑡h</m:t>
                    </m:r>
                  </m:oMath>
                </a14:m>
                <a:r>
                  <a:rPr lang="en-US" altLang="en-US" i="1" dirty="0">
                    <a:sym typeface="Symbol" pitchFamily="2" charset="2"/>
                  </a:rPr>
                  <a:t> percentile of the </a:t>
                </a:r>
                <a:r>
                  <a:rPr lang="en-US" altLang="en-US" b="1" i="1" dirty="0">
                    <a:sym typeface="Symbol" pitchFamily="2" charset="2"/>
                  </a:rPr>
                  <a:t>standard normal distribution</a:t>
                </a:r>
                <a:r>
                  <a:rPr lang="en-US" altLang="en-US" dirty="0">
                    <a:sym typeface="Symbol" pitchFamily="2" charset="2"/>
                  </a:rPr>
                  <a:t>.</a:t>
                </a:r>
                <a:endParaRPr lang="en-US" altLang="en-US" i="1" dirty="0">
                  <a:sym typeface="Symbol" pitchFamily="2" charset="2"/>
                </a:endParaRPr>
              </a:p>
              <a:p>
                <a:pPr>
                  <a:tabLst>
                    <a:tab pos="457200" algn="l"/>
                    <a:tab pos="1371600" algn="l"/>
                    <a:tab pos="1547813" algn="l"/>
                  </a:tabLst>
                </a:pPr>
                <a:endParaRPr lang="en-US" altLang="en-US" i="1" dirty="0">
                  <a:sym typeface="Symbol" pitchFamily="2" charset="2"/>
                </a:endParaRPr>
              </a:p>
              <a:p>
                <a:pPr>
                  <a:tabLst>
                    <a:tab pos="457200" algn="l"/>
                    <a:tab pos="1371600" algn="l"/>
                    <a:tab pos="1547813" algn="l"/>
                  </a:tabLst>
                </a:pPr>
                <a:r>
                  <a:rPr lang="en-US" altLang="en-US" dirty="0">
                    <a:sym typeface="Symbol" pitchFamily="2" charset="2"/>
                  </a:rPr>
                  <a:t>By symmetry the area under the standard normal curve to the left of </a:t>
                </a:r>
                <a14:m>
                  <m:oMath xmlns:m="http://schemas.openxmlformats.org/officeDocument/2006/math">
                    <m:r>
                      <a:rPr lang="en-US" altLang="en-US" b="0" i="0" dirty="0" smtClean="0">
                        <a:latin typeface="Cambria Math" panose="02040503050406030204" pitchFamily="18" charset="0"/>
                      </a:rPr>
                      <m:t>−</m:t>
                    </m:r>
                    <m:r>
                      <a:rPr lang="en-US" altLang="en-US" i="1" dirty="0">
                        <a:latin typeface="Cambria Math" panose="02040503050406030204" pitchFamily="18" charset="0"/>
                      </a:rPr>
                      <m:t>𝑧</m:t>
                    </m:r>
                    <m:r>
                      <a:rPr lang="en-US" altLang="en-US" i="1" baseline="-25000" dirty="0">
                        <a:latin typeface="Cambria Math" panose="02040503050406030204" pitchFamily="18" charset="0"/>
                        <a:sym typeface="Symbol" pitchFamily="2" charset="2"/>
                      </a:rPr>
                      <m:t></m:t>
                    </m:r>
                  </m:oMath>
                </a14:m>
                <a:r>
                  <a:rPr lang="en-US" altLang="en-US" dirty="0"/>
                  <a:t> is also </a:t>
                </a:r>
                <a:r>
                  <a:rPr lang="en-US" altLang="en-US" i="1" dirty="0">
                    <a:sym typeface="Symbol" pitchFamily="2" charset="2"/>
                  </a:rPr>
                  <a:t></a:t>
                </a:r>
                <a:r>
                  <a:rPr lang="en-US" altLang="en-US" dirty="0"/>
                  <a:t>. </a:t>
                </a:r>
                <a:endParaRPr lang="en-US" altLang="en-US" b="1" dirty="0"/>
              </a:p>
            </p:txBody>
          </p:sp>
        </mc:Choice>
        <mc:Fallback xmlns="">
          <p:sp>
            <p:nvSpPr>
              <p:cNvPr id="154627" name="Rectangle 3">
                <a:extLst>
                  <a:ext uri="{FF2B5EF4-FFF2-40B4-BE49-F238E27FC236}">
                    <a16:creationId xmlns:a16="http://schemas.microsoft.com/office/drawing/2014/main" id="{AD9BD385-B762-6748-BA61-EC3548C6E0AF}"/>
                  </a:ext>
                </a:extLst>
              </p:cNvPr>
              <p:cNvSpPr>
                <a:spLocks noGrp="1" noRot="1" noChangeAspect="1" noMove="1" noResize="1" noEditPoints="1" noAdjustHandles="1" noChangeArrowheads="1" noChangeShapeType="1" noTextEdit="1"/>
              </p:cNvSpPr>
              <p:nvPr>
                <p:ph type="body" idx="1"/>
              </p:nvPr>
            </p:nvSpPr>
            <p:spPr>
              <a:blipFill>
                <a:blip r:embed="rId3"/>
                <a:stretch>
                  <a:fillRect l="-1043" t="-2521"/>
                </a:stretch>
              </a:blipFill>
            </p:spPr>
            <p:txBody>
              <a:bodyPr/>
              <a:lstStyle/>
              <a:p>
                <a:r>
                  <a:rPr 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5650" name="Rectangle 2">
                <a:extLst>
                  <a:ext uri="{FF2B5EF4-FFF2-40B4-BE49-F238E27FC236}">
                    <a16:creationId xmlns:a16="http://schemas.microsoft.com/office/drawing/2014/main" id="{458858CC-3AFC-308F-3ACA-6915DC38E284}"/>
                  </a:ext>
                </a:extLst>
              </p:cNvPr>
              <p:cNvSpPr>
                <a:spLocks noGrp="1" noChangeArrowheads="1"/>
              </p:cNvSpPr>
              <p:nvPr>
                <p:ph type="title"/>
              </p:nvPr>
            </p:nvSpPr>
            <p:spPr>
              <a:noFill/>
            </p:spPr>
            <p:txBody>
              <a:bodyPr/>
              <a:lstStyle/>
              <a:p>
                <a14:m>
                  <m:oMath xmlns:m="http://schemas.openxmlformats.org/officeDocument/2006/math">
                    <m:sSub>
                      <m:sSubPr>
                        <m:ctrlPr>
                          <a:rPr lang="en-US" altLang="en-US" i="1" dirty="0">
                            <a:latin typeface="Cambria Math" panose="02040503050406030204" pitchFamily="18" charset="0"/>
                          </a:rPr>
                        </m:ctrlPr>
                      </m:sSubPr>
                      <m:e>
                        <m:r>
                          <a:rPr lang="en-US" altLang="en-US" i="1" dirty="0">
                            <a:latin typeface="Cambria Math" panose="02040503050406030204" pitchFamily="18" charset="0"/>
                          </a:rPr>
                          <m:t>𝑍</m:t>
                        </m:r>
                      </m:e>
                      <m:sub>
                        <m:r>
                          <a:rPr lang="en-US" altLang="en-US" i="1" dirty="0">
                            <a:latin typeface="Cambria Math" panose="02040503050406030204" pitchFamily="18" charset="0"/>
                          </a:rPr>
                          <m:t>𝛼</m:t>
                        </m:r>
                      </m:sub>
                    </m:sSub>
                  </m:oMath>
                </a14:m>
                <a:r>
                  <a:rPr lang="en-US" altLang="en-US" dirty="0"/>
                  <a:t> Notation for </a:t>
                </a:r>
                <a14:m>
                  <m:oMath xmlns:m="http://schemas.openxmlformats.org/officeDocument/2006/math">
                    <m:r>
                      <a:rPr lang="en-US" altLang="en-US" i="1" dirty="0">
                        <a:latin typeface="Cambria Math" panose="02040503050406030204" pitchFamily="18" charset="0"/>
                      </a:rPr>
                      <m:t>𝑍</m:t>
                    </m:r>
                  </m:oMath>
                </a14:m>
                <a:r>
                  <a:rPr lang="en-US" altLang="en-US" dirty="0"/>
                  <a:t> Critical Values</a:t>
                </a:r>
              </a:p>
            </p:txBody>
          </p:sp>
        </mc:Choice>
        <mc:Fallback xmlns="">
          <p:sp>
            <p:nvSpPr>
              <p:cNvPr id="155650" name="Rectangle 2">
                <a:extLst>
                  <a:ext uri="{FF2B5EF4-FFF2-40B4-BE49-F238E27FC236}">
                    <a16:creationId xmlns:a16="http://schemas.microsoft.com/office/drawing/2014/main" id="{458858CC-3AFC-308F-3ACA-6915DC38E284}"/>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5651" name="Rectangle 3">
                <a:extLst>
                  <a:ext uri="{FF2B5EF4-FFF2-40B4-BE49-F238E27FC236}">
                    <a16:creationId xmlns:a16="http://schemas.microsoft.com/office/drawing/2014/main" id="{5EBF2709-9EB7-812D-A950-D158F44EE9D7}"/>
                  </a:ext>
                </a:extLst>
              </p:cNvPr>
              <p:cNvSpPr>
                <a:spLocks noGrp="1" noChangeArrowheads="1"/>
              </p:cNvSpPr>
              <p:nvPr>
                <p:ph type="body" idx="1"/>
              </p:nvPr>
            </p:nvSpPr>
            <p:spPr>
              <a:noFill/>
            </p:spPr>
            <p:txBody>
              <a:bodyPr/>
              <a:lstStyle/>
              <a:p>
                <a:pPr>
                  <a:tabLst>
                    <a:tab pos="457200" algn="l"/>
                    <a:tab pos="1371600" algn="l"/>
                    <a:tab pos="1547813" algn="l"/>
                  </a:tabLst>
                </a:pPr>
                <a:r>
                  <a:rPr lang="en-US" altLang="en-US" dirty="0"/>
                  <a:t>Useful </a:t>
                </a:r>
                <a14:m>
                  <m:oMath xmlns:m="http://schemas.openxmlformats.org/officeDocument/2006/math">
                    <m:r>
                      <a:rPr lang="en-US" altLang="en-US" i="1" dirty="0" smtClean="0">
                        <a:latin typeface="Cambria Math" panose="02040503050406030204" pitchFamily="18" charset="0"/>
                      </a:rPr>
                      <m:t>𝑧</m:t>
                    </m:r>
                  </m:oMath>
                </a14:m>
                <a:r>
                  <a:rPr lang="en-US" altLang="en-US" dirty="0"/>
                  <a:t> percentiles and </a:t>
                </a:r>
                <a:r>
                  <a:rPr lang="en-US" altLang="en-US" i="1" dirty="0"/>
                  <a:t>z</a:t>
                </a:r>
                <a:r>
                  <a:rPr lang="en-US" altLang="en-US" i="1" baseline="-25000" dirty="0">
                    <a:sym typeface="Symbol" pitchFamily="2" charset="2"/>
                  </a:rPr>
                  <a:t></a:t>
                </a:r>
                <a:r>
                  <a:rPr lang="en-US" altLang="en-US" dirty="0"/>
                  <a:t> values.</a:t>
                </a:r>
              </a:p>
            </p:txBody>
          </p:sp>
        </mc:Choice>
        <mc:Fallback>
          <p:sp>
            <p:nvSpPr>
              <p:cNvPr id="155651" name="Rectangle 3">
                <a:extLst>
                  <a:ext uri="{FF2B5EF4-FFF2-40B4-BE49-F238E27FC236}">
                    <a16:creationId xmlns:a16="http://schemas.microsoft.com/office/drawing/2014/main" id="{5EBF2709-9EB7-812D-A950-D158F44EE9D7}"/>
                  </a:ext>
                </a:extLst>
              </p:cNvPr>
              <p:cNvSpPr>
                <a:spLocks noGrp="1" noRot="1" noChangeAspect="1" noMove="1" noResize="1" noEditPoints="1" noAdjustHandles="1" noChangeArrowheads="1" noChangeShapeType="1" noTextEdit="1"/>
              </p:cNvSpPr>
              <p:nvPr>
                <p:ph type="body" idx="1"/>
              </p:nvPr>
            </p:nvSpPr>
            <p:spPr>
              <a:blipFill>
                <a:blip r:embed="rId3"/>
                <a:stretch>
                  <a:fillRect l="-1086" t="-2326"/>
                </a:stretch>
              </a:blipFill>
            </p:spPr>
            <p:txBody>
              <a:bodyPr/>
              <a:lstStyle/>
              <a:p>
                <a:r>
                  <a:rPr lang="en-US">
                    <a:noFill/>
                  </a:rPr>
                  <a:t> </a:t>
                </a:r>
              </a:p>
            </p:txBody>
          </p:sp>
        </mc:Fallback>
      </mc:AlternateContent>
      <p:sp>
        <p:nvSpPr>
          <p:cNvPr id="155654" name="Text Box 6">
            <a:extLst>
              <a:ext uri="{FF2B5EF4-FFF2-40B4-BE49-F238E27FC236}">
                <a16:creationId xmlns:a16="http://schemas.microsoft.com/office/drawing/2014/main" id="{678C4CBD-0795-07FC-7671-CF725DC6C1C3}"/>
              </a:ext>
            </a:extLst>
          </p:cNvPr>
          <p:cNvSpPr txBox="1">
            <a:spLocks noChangeArrowheads="1"/>
          </p:cNvSpPr>
          <p:nvPr/>
        </p:nvSpPr>
        <p:spPr bwMode="auto">
          <a:xfrm>
            <a:off x="2718504" y="4757938"/>
            <a:ext cx="67549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latin typeface="Arial" panose="020B0604020202020204" pitchFamily="34" charset="0"/>
                <a:cs typeface="Arial" panose="020B0604020202020204" pitchFamily="34" charset="0"/>
              </a:rPr>
              <a:t>Standard Normal Percentiles and Critical Values</a:t>
            </a:r>
          </a:p>
        </p:txBody>
      </p:sp>
      <p:pic>
        <p:nvPicPr>
          <p:cNvPr id="155655" name="Picture 7">
            <a:extLst>
              <a:ext uri="{FF2B5EF4-FFF2-40B4-BE49-F238E27FC236}">
                <a16:creationId xmlns:a16="http://schemas.microsoft.com/office/drawing/2014/main" id="{379E3DC2-C019-0AA7-42E3-F68B42A802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906" y="2723774"/>
            <a:ext cx="10515600" cy="18234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DDF1E8CF-3AFF-8099-5FFA-123DDDFAD40F}"/>
              </a:ext>
            </a:extLst>
          </p:cNvPr>
          <p:cNvSpPr>
            <a:spLocks noGrp="1" noChangeArrowheads="1"/>
          </p:cNvSpPr>
          <p:nvPr>
            <p:ph type="title"/>
          </p:nvPr>
        </p:nvSpPr>
        <p:spPr>
          <a:xfrm>
            <a:off x="142503" y="117167"/>
            <a:ext cx="11595609" cy="1325563"/>
          </a:xfrm>
          <a:noFill/>
        </p:spPr>
        <p:txBody>
          <a:bodyPr>
            <a:normAutofit/>
          </a:bodyPr>
          <a:lstStyle/>
          <a:p>
            <a:r>
              <a:rPr lang="en-US" altLang="en-US" dirty="0"/>
              <a:t>Percentiles of an Arbitrary Normal Distribution</a:t>
            </a:r>
          </a:p>
        </p:txBody>
      </p:sp>
      <mc:AlternateContent xmlns:mc="http://schemas.openxmlformats.org/markup-compatibility/2006" xmlns:a14="http://schemas.microsoft.com/office/drawing/2010/main">
        <mc:Choice Requires="a14">
          <p:sp>
            <p:nvSpPr>
              <p:cNvPr id="169987" name="Rectangle 3">
                <a:extLst>
                  <a:ext uri="{FF2B5EF4-FFF2-40B4-BE49-F238E27FC236}">
                    <a16:creationId xmlns:a16="http://schemas.microsoft.com/office/drawing/2014/main" id="{ACAD0CFE-3B9E-3610-C9F3-B06B46D16DCF}"/>
                  </a:ext>
                </a:extLst>
              </p:cNvPr>
              <p:cNvSpPr>
                <a:spLocks noGrp="1" noChangeArrowheads="1"/>
              </p:cNvSpPr>
              <p:nvPr>
                <p:ph type="body" idx="1"/>
              </p:nvPr>
            </p:nvSpPr>
            <p:spPr>
              <a:noFill/>
            </p:spPr>
            <p:txBody>
              <a:bodyPr>
                <a:normAutofit/>
              </a:bodyPr>
              <a:lstStyle/>
              <a:p>
                <a:pPr>
                  <a:tabLst>
                    <a:tab pos="457200" algn="l"/>
                    <a:tab pos="1371600" algn="l"/>
                    <a:tab pos="1547813" algn="l"/>
                  </a:tabLst>
                </a:pPr>
                <a:r>
                  <a:rPr lang="en-US" dirty="0"/>
                  <a:t>Let </a:t>
                </a:r>
                <a14:m>
                  <m:oMath xmlns:m="http://schemas.openxmlformats.org/officeDocument/2006/math">
                    <m:r>
                      <a:rPr lang="en-US" i="1" dirty="0">
                        <a:latin typeface="Cambria Math" panose="02040503050406030204" pitchFamily="18" charset="0"/>
                      </a:rPr>
                      <m:t>𝑋</m:t>
                    </m:r>
                  </m:oMath>
                </a14:m>
                <a:r>
                  <a:rPr lang="en-US" dirty="0"/>
                  <a:t> have a normal distribution with mean </a:t>
                </a:r>
                <a14:m>
                  <m:oMath xmlns:m="http://schemas.openxmlformats.org/officeDocument/2006/math">
                    <m:r>
                      <a:rPr lang="en-US" b="0" i="1" dirty="0" smtClean="0">
                        <a:latin typeface="Cambria Math" panose="02040503050406030204" pitchFamily="18" charset="0"/>
                      </a:rPr>
                      <m:t>𝜇</m:t>
                    </m:r>
                  </m:oMath>
                </a14:m>
                <a:r>
                  <a:rPr lang="en-US" dirty="0"/>
                  <a:t> and standard deviation </a:t>
                </a:r>
                <a14:m>
                  <m:oMath xmlns:m="http://schemas.openxmlformats.org/officeDocument/2006/math">
                    <m:r>
                      <a:rPr lang="en-US" b="0" i="1" smtClean="0">
                        <a:latin typeface="Cambria Math" panose="02040503050406030204" pitchFamily="18" charset="0"/>
                      </a:rPr>
                      <m:t>𝜎</m:t>
                    </m:r>
                  </m:oMath>
                </a14:m>
                <a:r>
                  <a:rPr lang="en-US" dirty="0"/>
                  <a:t>. To find its </a:t>
                </a:r>
                <a14:m>
                  <m:oMath xmlns:m="http://schemas.openxmlformats.org/officeDocument/2006/math">
                    <m:r>
                      <m:rPr>
                        <m:lit/>
                      </m:rPr>
                      <a:rPr lang="en-US" b="1" i="1" dirty="0" smtClean="0">
                        <a:latin typeface="Cambria Math" panose="02040503050406030204" pitchFamily="18" charset="0"/>
                      </a:rPr>
                      <m:t>(</m:t>
                    </m:r>
                    <m:r>
                      <a:rPr lang="en-US" b="1" i="1" dirty="0">
                        <a:latin typeface="Cambria Math" panose="02040503050406030204" pitchFamily="18" charset="0"/>
                      </a:rPr>
                      <m:t>𝟏𝟎𝟎</m:t>
                    </m:r>
                    <m:r>
                      <a:rPr lang="en-US" b="1" i="1" dirty="0">
                        <a:latin typeface="Cambria Math" panose="02040503050406030204" pitchFamily="18" charset="0"/>
                      </a:rPr>
                      <m:t>𝒑</m:t>
                    </m:r>
                    <m:r>
                      <m:rPr>
                        <m:lit/>
                      </m:rPr>
                      <a:rPr lang="en-US" b="1" i="1" dirty="0">
                        <a:latin typeface="Cambria Math" panose="02040503050406030204" pitchFamily="18" charset="0"/>
                      </a:rPr>
                      <m:t>)</m:t>
                    </m:r>
                    <m:r>
                      <a:rPr lang="en-US" b="1" i="1" dirty="0" err="1">
                        <a:latin typeface="Cambria Math" panose="02040503050406030204" pitchFamily="18" charset="0"/>
                      </a:rPr>
                      <m:t>𝒕𝒉</m:t>
                    </m:r>
                    <m:r>
                      <a:rPr lang="en-US" b="1" i="1" dirty="0">
                        <a:latin typeface="Cambria Math" panose="02040503050406030204" pitchFamily="18" charset="0"/>
                      </a:rPr>
                      <m:t> </m:t>
                    </m:r>
                    <m:r>
                      <a:rPr lang="en-US" b="1" i="1" dirty="0">
                        <a:latin typeface="Cambria Math" panose="02040503050406030204" pitchFamily="18" charset="0"/>
                      </a:rPr>
                      <m:t>𝒑𝒆𝒓𝒄𝒆𝒏𝒕𝒊𝒍𝒆</m:t>
                    </m:r>
                  </m:oMath>
                </a14:m>
                <a:r>
                  <a:rPr lang="en-US" dirty="0"/>
                  <a:t>:</a:t>
                </a:r>
                <a:endParaRPr lang="en-US" altLang="en-US" dirty="0">
                  <a:sym typeface="Symbol" pitchFamily="2" charset="2"/>
                </a:endParaRPr>
              </a:p>
              <a:p>
                <a:pPr lvl="1">
                  <a:tabLst>
                    <a:tab pos="457200" algn="l"/>
                    <a:tab pos="1371600" algn="l"/>
                    <a:tab pos="1547813" algn="l"/>
                  </a:tabLst>
                </a:pPr>
                <a:r>
                  <a:rPr lang="en-US" altLang="en-US" dirty="0">
                    <a:sym typeface="Symbol" pitchFamily="2" charset="2"/>
                  </a:rPr>
                  <a:t>Find </a:t>
                </a:r>
                <a14:m>
                  <m:oMath xmlns:m="http://schemas.openxmlformats.org/officeDocument/2006/math">
                    <m:r>
                      <a:rPr lang="en-US" altLang="en-US" b="0" i="1" smtClean="0">
                        <a:latin typeface="Cambria Math" panose="02040503050406030204" pitchFamily="18" charset="0"/>
                        <a:sym typeface="Symbol" pitchFamily="2" charset="2"/>
                      </a:rPr>
                      <m:t>𝑧</m:t>
                    </m:r>
                  </m:oMath>
                </a14:m>
                <a:r>
                  <a:rPr lang="en-US" altLang="en-US" dirty="0">
                    <a:sym typeface="Symbol" pitchFamily="2" charset="2"/>
                  </a:rPr>
                  <a:t> such that </a:t>
                </a:r>
                <a14:m>
                  <m:oMath xmlns:m="http://schemas.openxmlformats.org/officeDocument/2006/math">
                    <m:r>
                      <a:rPr lang="en-US" altLang="en-US" b="0" i="1" smtClean="0">
                        <a:latin typeface="Cambria Math" panose="02040503050406030204" pitchFamily="18" charset="0"/>
                        <a:sym typeface="Symbol" pitchFamily="2" charset="2"/>
                      </a:rPr>
                      <m:t>𝑃</m:t>
                    </m:r>
                    <m:d>
                      <m:dPr>
                        <m:ctrlPr>
                          <a:rPr lang="en-US" altLang="en-US" b="0" i="1" smtClean="0">
                            <a:latin typeface="Cambria Math" panose="02040503050406030204" pitchFamily="18" charset="0"/>
                            <a:sym typeface="Symbol" pitchFamily="2" charset="2"/>
                          </a:rPr>
                        </m:ctrlPr>
                      </m:dPr>
                      <m:e>
                        <m:r>
                          <a:rPr lang="en-US" altLang="en-US" b="0" i="1" smtClean="0">
                            <a:latin typeface="Cambria Math" panose="02040503050406030204" pitchFamily="18" charset="0"/>
                            <a:sym typeface="Symbol" pitchFamily="2" charset="2"/>
                          </a:rPr>
                          <m:t>𝑍</m:t>
                        </m:r>
                        <m:r>
                          <a:rPr lang="en-US" altLang="en-US" b="0" i="1" smtClean="0">
                            <a:latin typeface="Cambria Math" panose="02040503050406030204" pitchFamily="18" charset="0"/>
                            <a:ea typeface="Cambria Math" panose="02040503050406030204" pitchFamily="18" charset="0"/>
                            <a:sym typeface="Symbol" pitchFamily="2" charset="2"/>
                          </a:rPr>
                          <m:t>≤</m:t>
                        </m:r>
                        <m:r>
                          <a:rPr lang="en-US" altLang="en-US" b="0" i="1" smtClean="0">
                            <a:latin typeface="Cambria Math" panose="02040503050406030204" pitchFamily="18" charset="0"/>
                            <a:ea typeface="Cambria Math" panose="02040503050406030204" pitchFamily="18" charset="0"/>
                            <a:sym typeface="Symbol" pitchFamily="2" charset="2"/>
                          </a:rPr>
                          <m:t>𝑧</m:t>
                        </m:r>
                      </m:e>
                    </m:d>
                    <m:r>
                      <a:rPr lang="en-US" altLang="en-US" b="0" i="1" smtClean="0">
                        <a:latin typeface="Cambria Math" panose="02040503050406030204" pitchFamily="18" charset="0"/>
                        <a:sym typeface="Symbol" pitchFamily="2" charset="2"/>
                      </a:rPr>
                      <m:t>=</m:t>
                    </m:r>
                    <m:r>
                      <a:rPr lang="en-US" altLang="en-US" b="0" i="1" smtClean="0">
                        <a:latin typeface="Cambria Math" panose="02040503050406030204" pitchFamily="18" charset="0"/>
                        <a:sym typeface="Symbol" pitchFamily="2" charset="2"/>
                      </a:rPr>
                      <m:t>𝑝</m:t>
                    </m:r>
                  </m:oMath>
                </a14:m>
                <a:endParaRPr lang="en-US" altLang="en-US" dirty="0">
                  <a:sym typeface="Symbol" pitchFamily="2" charset="2"/>
                </a:endParaRPr>
              </a:p>
              <a:p>
                <a:pPr lvl="1">
                  <a:tabLst>
                    <a:tab pos="457200" algn="l"/>
                    <a:tab pos="1371600" algn="l"/>
                    <a:tab pos="1547813" algn="l"/>
                  </a:tabLst>
                </a:pPr>
                <a:r>
                  <a:rPr lang="en-US" altLang="en-US" dirty="0">
                    <a:sym typeface="Symbol" pitchFamily="2" charset="2"/>
                  </a:rPr>
                  <a:t>Convert z to the original scale</a:t>
                </a:r>
                <a:br>
                  <a:rPr lang="en-US" altLang="en-US" b="1" dirty="0">
                    <a:sym typeface="Symbol" pitchFamily="2" charset="2"/>
                  </a:rPr>
                </a:br>
                <a:br>
                  <a:rPr lang="en-US" altLang="en-US" b="1" dirty="0">
                    <a:sym typeface="Symbol" pitchFamily="2" charset="2"/>
                  </a:rPr>
                </a:br>
                <a14:m>
                  <m:oMath xmlns:m="http://schemas.openxmlformats.org/officeDocument/2006/math">
                    <m:r>
                      <a:rPr lang="en-US" altLang="en-US" i="1" smtClean="0">
                        <a:latin typeface="Cambria Math" panose="02040503050406030204" pitchFamily="18" charset="0"/>
                        <a:sym typeface="Symbol" pitchFamily="2" charset="2"/>
                      </a:rPr>
                      <m:t>𝑥</m:t>
                    </m:r>
                    <m:r>
                      <a:rPr lang="en-US" altLang="en-US" b="0" i="1" smtClean="0">
                        <a:latin typeface="Cambria Math" panose="02040503050406030204" pitchFamily="18" charset="0"/>
                        <a:sym typeface="Symbol" pitchFamily="2" charset="2"/>
                      </a:rPr>
                      <m:t>=</m:t>
                    </m:r>
                    <m:r>
                      <a:rPr lang="en-US" altLang="en-US" b="0" i="1" smtClean="0">
                        <a:latin typeface="Cambria Math" panose="02040503050406030204" pitchFamily="18" charset="0"/>
                        <a:sym typeface="Symbol" pitchFamily="2" charset="2"/>
                      </a:rPr>
                      <m:t>𝜇</m:t>
                    </m:r>
                    <m:r>
                      <a:rPr lang="en-US" altLang="en-US" b="0" i="1" smtClean="0">
                        <a:latin typeface="Cambria Math" panose="02040503050406030204" pitchFamily="18" charset="0"/>
                        <a:sym typeface="Symbol" pitchFamily="2" charset="2"/>
                      </a:rPr>
                      <m:t>+</m:t>
                    </m:r>
                    <m:r>
                      <a:rPr lang="en-US" altLang="en-US" b="0" i="1" smtClean="0">
                        <a:latin typeface="Cambria Math" panose="02040503050406030204" pitchFamily="18" charset="0"/>
                        <a:sym typeface="Symbol" pitchFamily="2" charset="2"/>
                      </a:rPr>
                      <m:t>𝜎</m:t>
                    </m:r>
                    <m:r>
                      <a:rPr lang="en-US" altLang="en-US" b="0" i="1" smtClean="0">
                        <a:latin typeface="Cambria Math" panose="02040503050406030204" pitchFamily="18" charset="0"/>
                        <a:sym typeface="Symbol" pitchFamily="2" charset="2"/>
                      </a:rPr>
                      <m:t>𝑧</m:t>
                    </m:r>
                  </m:oMath>
                </a14:m>
                <a:br>
                  <a:rPr lang="en-US" altLang="en-US" dirty="0">
                    <a:sym typeface="Symbol" pitchFamily="2" charset="2"/>
                  </a:rPr>
                </a:br>
                <a:endParaRPr lang="en-US" altLang="en-US" dirty="0">
                  <a:sym typeface="Symbol" pitchFamily="2" charset="2"/>
                </a:endParaRPr>
              </a:p>
              <a:p>
                <a:pPr>
                  <a:tabLst>
                    <a:tab pos="457200" algn="l"/>
                    <a:tab pos="1371600" algn="l"/>
                    <a:tab pos="1547813" algn="l"/>
                  </a:tabLst>
                </a:pPr>
                <a:r>
                  <a:rPr lang="en-US" dirty="0"/>
                  <a:t>Interpretation: The percentile lies</a:t>
                </a:r>
                <a14:m>
                  <m:oMath xmlns:m="http://schemas.openxmlformats.org/officeDocument/2006/math">
                    <m:r>
                      <a:rPr lang="en-US" b="0" i="0" dirty="0" smtClean="0">
                        <a:latin typeface="Cambria Math" panose="02040503050406030204" pitchFamily="18" charset="0"/>
                      </a:rPr>
                      <m:t> </m:t>
                    </m:r>
                    <m:r>
                      <a:rPr lang="en-US" i="1" dirty="0">
                        <a:latin typeface="Cambria Math" panose="02040503050406030204" pitchFamily="18" charset="0"/>
                      </a:rPr>
                      <m:t>𝑧</m:t>
                    </m:r>
                  </m:oMath>
                </a14:m>
                <a:r>
                  <a:rPr lang="en-US" dirty="0"/>
                  <a:t> standard deviations above the mean if </a:t>
                </a:r>
                <a14:m>
                  <m:oMath xmlns:m="http://schemas.openxmlformats.org/officeDocument/2006/math">
                    <m:r>
                      <m:rPr>
                        <m:lit/>
                      </m:rPr>
                      <a:rPr lang="en-US" i="1" dirty="0" smtClean="0">
                        <a:latin typeface="Cambria Math" panose="02040503050406030204" pitchFamily="18" charset="0"/>
                      </a:rPr>
                      <m:t>(</m:t>
                    </m:r>
                    <m:r>
                      <a:rPr lang="en-US" i="1" dirty="0">
                        <a:latin typeface="Cambria Math" panose="02040503050406030204" pitchFamily="18" charset="0"/>
                      </a:rPr>
                      <m:t>𝑧</m:t>
                    </m:r>
                    <m:r>
                      <a:rPr lang="en-US" i="1" dirty="0">
                        <a:latin typeface="Cambria Math" panose="02040503050406030204" pitchFamily="18" charset="0"/>
                      </a:rPr>
                      <m:t>&gt;0</m:t>
                    </m:r>
                    <m:r>
                      <m:rPr>
                        <m:lit/>
                      </m:rPr>
                      <a:rPr lang="en-US" i="1" dirty="0">
                        <a:latin typeface="Cambria Math" panose="02040503050406030204" pitchFamily="18" charset="0"/>
                      </a:rPr>
                      <m:t>)</m:t>
                    </m:r>
                  </m:oMath>
                </a14:m>
                <a:r>
                  <a:rPr lang="en-US" dirty="0"/>
                  <a:t>, or </a:t>
                </a:r>
                <a14:m>
                  <m:oMath xmlns:m="http://schemas.openxmlformats.org/officeDocument/2006/math">
                    <m:r>
                      <m:rPr>
                        <m:lit/>
                      </m:rPr>
                      <a:rPr lang="en-US" i="1" dirty="0" smtClean="0">
                        <a:latin typeface="Cambria Math" panose="02040503050406030204" pitchFamily="18" charset="0"/>
                      </a:rPr>
                      <m:t>(</m:t>
                    </m:r>
                    <m:r>
                      <a:rPr lang="en-US" i="1" dirty="0">
                        <a:latin typeface="Cambria Math" panose="02040503050406030204" pitchFamily="18" charset="0"/>
                      </a:rPr>
                      <m:t>|</m:t>
                    </m:r>
                    <m:r>
                      <a:rPr lang="en-US" i="1" dirty="0">
                        <a:latin typeface="Cambria Math" panose="02040503050406030204" pitchFamily="18" charset="0"/>
                      </a:rPr>
                      <m:t>𝑧</m:t>
                    </m:r>
                    <m:r>
                      <a:rPr lang="en-US" i="1" dirty="0">
                        <a:latin typeface="Cambria Math" panose="02040503050406030204" pitchFamily="18" charset="0"/>
                      </a:rPr>
                      <m:t>|</m:t>
                    </m:r>
                    <m:r>
                      <m:rPr>
                        <m:lit/>
                      </m:rPr>
                      <a:rPr lang="en-US" i="1" dirty="0">
                        <a:latin typeface="Cambria Math" panose="02040503050406030204" pitchFamily="18" charset="0"/>
                      </a:rPr>
                      <m:t>)</m:t>
                    </m:r>
                    <m:r>
                      <a:rPr lang="en-US" i="1" dirty="0">
                        <a:latin typeface="Cambria Math" panose="02040503050406030204" pitchFamily="18" charset="0"/>
                      </a:rPr>
                      <m:t> </m:t>
                    </m:r>
                  </m:oMath>
                </a14:m>
                <a:r>
                  <a:rPr lang="en-US" dirty="0"/>
                  <a:t>standard deviations below the mean if </a:t>
                </a:r>
                <a14:m>
                  <m:oMath xmlns:m="http://schemas.openxmlformats.org/officeDocument/2006/math">
                    <m:r>
                      <m:rPr>
                        <m:lit/>
                      </m:rPr>
                      <a:rPr lang="en-US" i="1" dirty="0" smtClean="0">
                        <a:latin typeface="Cambria Math" panose="02040503050406030204" pitchFamily="18" charset="0"/>
                      </a:rPr>
                      <m:t>(</m:t>
                    </m:r>
                    <m:r>
                      <a:rPr lang="en-US" i="1" dirty="0">
                        <a:latin typeface="Cambria Math" panose="02040503050406030204" pitchFamily="18" charset="0"/>
                      </a:rPr>
                      <m:t>𝑧</m:t>
                    </m:r>
                    <m:r>
                      <a:rPr lang="en-US" i="1" dirty="0">
                        <a:latin typeface="Cambria Math" panose="02040503050406030204" pitchFamily="18" charset="0"/>
                      </a:rPr>
                      <m:t>&lt;0</m:t>
                    </m:r>
                    <m:r>
                      <m:rPr>
                        <m:lit/>
                      </m:rPr>
                      <a:rPr lang="en-US" i="1" dirty="0" smtClean="0">
                        <a:latin typeface="Cambria Math" panose="02040503050406030204" pitchFamily="18" charset="0"/>
                      </a:rPr>
                      <m:t>)</m:t>
                    </m:r>
                  </m:oMath>
                </a14:m>
                <a:r>
                  <a:rPr lang="en-US" dirty="0"/>
                  <a:t>.</a:t>
                </a:r>
                <a:endParaRPr lang="en-US" altLang="en-US" dirty="0">
                  <a:sym typeface="Symbol" pitchFamily="2" charset="2"/>
                </a:endParaRPr>
              </a:p>
            </p:txBody>
          </p:sp>
        </mc:Choice>
        <mc:Fallback xmlns="">
          <p:sp>
            <p:nvSpPr>
              <p:cNvPr id="169987" name="Rectangle 3">
                <a:extLst>
                  <a:ext uri="{FF2B5EF4-FFF2-40B4-BE49-F238E27FC236}">
                    <a16:creationId xmlns:a16="http://schemas.microsoft.com/office/drawing/2014/main" id="{ACAD0CFE-3B9E-3610-C9F3-B06B46D16DCF}"/>
                  </a:ext>
                </a:extLst>
              </p:cNvPr>
              <p:cNvSpPr>
                <a:spLocks noGrp="1" noRot="1" noChangeAspect="1" noMove="1" noResize="1" noEditPoints="1" noAdjustHandles="1" noChangeArrowheads="1" noChangeShapeType="1" noTextEdit="1"/>
              </p:cNvSpPr>
              <p:nvPr>
                <p:ph type="body" idx="1"/>
              </p:nvPr>
            </p:nvSpPr>
            <p:spPr>
              <a:blipFill>
                <a:blip r:embed="rId2"/>
                <a:stretch>
                  <a:fillRect l="-1043" t="-2521" r="-2029"/>
                </a:stretch>
              </a:blipFill>
            </p:spPr>
            <p:txBody>
              <a:bodyPr/>
              <a:lstStyle/>
              <a:p>
                <a:r>
                  <a:rPr 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CBC8ECF6-E218-6882-137C-8EF78BE460A7}"/>
              </a:ext>
            </a:extLst>
          </p:cNvPr>
          <p:cNvSpPr>
            <a:spLocks noGrp="1" noChangeArrowheads="1"/>
          </p:cNvSpPr>
          <p:nvPr>
            <p:ph type="title"/>
          </p:nvPr>
        </p:nvSpPr>
        <p:spPr>
          <a:noFill/>
        </p:spPr>
        <p:txBody>
          <a:bodyPr/>
          <a:lstStyle/>
          <a:p>
            <a:r>
              <a:rPr lang="en-US" altLang="en-US" dirty="0"/>
              <a:t>Example</a:t>
            </a:r>
          </a:p>
        </p:txBody>
      </p:sp>
      <mc:AlternateContent xmlns:mc="http://schemas.openxmlformats.org/markup-compatibility/2006">
        <mc:Choice xmlns:a14="http://schemas.microsoft.com/office/drawing/2010/main" Requires="a14">
          <p:sp>
            <p:nvSpPr>
              <p:cNvPr id="171011" name="Rectangle 3">
                <a:extLst>
                  <a:ext uri="{FF2B5EF4-FFF2-40B4-BE49-F238E27FC236}">
                    <a16:creationId xmlns:a16="http://schemas.microsoft.com/office/drawing/2014/main" id="{098016D8-DBC9-E9EC-E4A6-1C91FCAF363B}"/>
                  </a:ext>
                </a:extLst>
              </p:cNvPr>
              <p:cNvSpPr>
                <a:spLocks noGrp="1" noChangeArrowheads="1"/>
              </p:cNvSpPr>
              <p:nvPr>
                <p:ph type="body" idx="1"/>
              </p:nvPr>
            </p:nvSpPr>
            <p:spPr>
              <a:xfrm>
                <a:off x="244434" y="1540617"/>
                <a:ext cx="10515600" cy="4748972"/>
              </a:xfrm>
              <a:noFill/>
            </p:spPr>
            <p:txBody>
              <a:bodyPr>
                <a:normAutofit lnSpcReduction="10000"/>
              </a:bodyPr>
              <a:lstStyle/>
              <a:p>
                <a:pPr>
                  <a:tabLst>
                    <a:tab pos="457200" algn="l"/>
                    <a:tab pos="1371600" algn="l"/>
                    <a:tab pos="1547813" algn="l"/>
                  </a:tabLst>
                </a:pPr>
                <a:r>
                  <a:rPr lang="en-US" altLang="en-US" dirty="0">
                    <a:sym typeface="Symbol" pitchFamily="2" charset="2"/>
                  </a:rPr>
                  <a:t>The amount of distilled water dispensed by a certain machine is normally distributed with mean value 64 oz and standard deviation 0.78 oz.</a:t>
                </a:r>
              </a:p>
              <a:p>
                <a:pPr>
                  <a:tabLst>
                    <a:tab pos="457200" algn="l"/>
                    <a:tab pos="1371600" algn="l"/>
                    <a:tab pos="1547813" algn="l"/>
                  </a:tabLst>
                </a:pPr>
                <a:endParaRPr lang="en-US" altLang="en-US" dirty="0">
                  <a:sym typeface="Symbol" pitchFamily="2" charset="2"/>
                </a:endParaRPr>
              </a:p>
              <a:p>
                <a:pPr>
                  <a:tabLst>
                    <a:tab pos="457200" algn="l"/>
                    <a:tab pos="1371600" algn="l"/>
                    <a:tab pos="1547813" algn="l"/>
                  </a:tabLst>
                </a:pPr>
                <a:r>
                  <a:rPr lang="en-US" altLang="en-US" dirty="0">
                    <a:sym typeface="Symbol" pitchFamily="2" charset="2"/>
                  </a:rPr>
                  <a:t>What container size </a:t>
                </a:r>
                <a14:m>
                  <m:oMath xmlns:m="http://schemas.openxmlformats.org/officeDocument/2006/math">
                    <m:r>
                      <a:rPr lang="en-US" altLang="en-US" i="1" dirty="0" smtClean="0">
                        <a:latin typeface="Cambria Math" panose="02040503050406030204" pitchFamily="18" charset="0"/>
                        <a:sym typeface="Symbol" pitchFamily="2" charset="2"/>
                      </a:rPr>
                      <m:t>𝑐</m:t>
                    </m:r>
                  </m:oMath>
                </a14:m>
                <a:r>
                  <a:rPr lang="en-US" altLang="en-US" i="1" dirty="0">
                    <a:sym typeface="Symbol" pitchFamily="2" charset="2"/>
                  </a:rPr>
                  <a:t> </a:t>
                </a:r>
                <a:r>
                  <a:rPr lang="en-US" altLang="en-US" dirty="0">
                    <a:sym typeface="Symbol" pitchFamily="2" charset="2"/>
                  </a:rPr>
                  <a:t>will ensure that overflow occurs only </a:t>
                </a:r>
                <a14:m>
                  <m:oMath xmlns:m="http://schemas.openxmlformats.org/officeDocument/2006/math">
                    <m:r>
                      <a:rPr lang="en-US" altLang="en-US" i="1" dirty="0" smtClean="0">
                        <a:latin typeface="Cambria Math" panose="02040503050406030204" pitchFamily="18" charset="0"/>
                        <a:sym typeface="Symbol" pitchFamily="2" charset="2"/>
                      </a:rPr>
                      <m:t>0.5</m:t>
                    </m:r>
                    <m:r>
                      <a:rPr lang="en-US" altLang="en-US" i="1" dirty="0">
                        <a:latin typeface="Cambria Math" panose="02040503050406030204" pitchFamily="18" charset="0"/>
                        <a:sym typeface="Symbol" pitchFamily="2" charset="2"/>
                      </a:rPr>
                      <m:t>%</m:t>
                    </m:r>
                  </m:oMath>
                </a14:m>
                <a:r>
                  <a:rPr lang="en-US" altLang="en-US" dirty="0">
                    <a:sym typeface="Symbol" pitchFamily="2" charset="2"/>
                  </a:rPr>
                  <a:t> of the time? If</a:t>
                </a:r>
                <a14:m>
                  <m:oMath xmlns:m="http://schemas.openxmlformats.org/officeDocument/2006/math">
                    <m:r>
                      <a:rPr lang="en-US" altLang="en-US" i="1" dirty="0" smtClean="0">
                        <a:latin typeface="Cambria Math" panose="02040503050406030204" pitchFamily="18" charset="0"/>
                        <a:sym typeface="Symbol" pitchFamily="2" charset="2"/>
                      </a:rPr>
                      <m:t> </m:t>
                    </m:r>
                    <m:r>
                      <a:rPr lang="en-US" altLang="en-US" i="1" dirty="0" smtClean="0">
                        <a:latin typeface="Cambria Math" panose="02040503050406030204" pitchFamily="18" charset="0"/>
                        <a:sym typeface="Symbol" pitchFamily="2" charset="2"/>
                      </a:rPr>
                      <m:t>𝑋</m:t>
                    </m:r>
                    <m:r>
                      <a:rPr lang="en-US" altLang="en-US" i="1" dirty="0" smtClean="0">
                        <a:latin typeface="Cambria Math" panose="02040503050406030204" pitchFamily="18" charset="0"/>
                        <a:sym typeface="Symbol" pitchFamily="2" charset="2"/>
                      </a:rPr>
                      <m:t> </m:t>
                    </m:r>
                  </m:oMath>
                </a14:m>
                <a:r>
                  <a:rPr lang="en-US" altLang="en-US" dirty="0">
                    <a:sym typeface="Symbol" pitchFamily="2" charset="2"/>
                  </a:rPr>
                  <a:t>denotes the amount dispensed, the desired condition is that </a:t>
                </a:r>
                <a14:m>
                  <m:oMath xmlns:m="http://schemas.openxmlformats.org/officeDocument/2006/math">
                    <m:r>
                      <a:rPr lang="en-US" altLang="en-US" i="1" dirty="0" smtClean="0">
                        <a:latin typeface="Cambria Math" panose="02040503050406030204" pitchFamily="18" charset="0"/>
                        <a:sym typeface="Symbol" pitchFamily="2" charset="2"/>
                      </a:rPr>
                      <m:t>𝑃</m:t>
                    </m:r>
                    <m:r>
                      <a:rPr lang="en-US" altLang="en-US" i="1" dirty="0" smtClean="0">
                        <a:latin typeface="Cambria Math" panose="02040503050406030204" pitchFamily="18" charset="0"/>
                        <a:sym typeface="Symbol" pitchFamily="2" charset="2"/>
                      </a:rPr>
                      <m:t>(</m:t>
                    </m:r>
                    <m:r>
                      <a:rPr lang="en-US" altLang="en-US" i="1" dirty="0" smtClean="0">
                        <a:latin typeface="Cambria Math" panose="02040503050406030204" pitchFamily="18" charset="0"/>
                        <a:sym typeface="Symbol" pitchFamily="2" charset="2"/>
                      </a:rPr>
                      <m:t>𝑋</m:t>
                    </m:r>
                    <m:r>
                      <a:rPr lang="en-US" altLang="en-US" i="1" dirty="0" smtClean="0">
                        <a:latin typeface="Cambria Math" panose="02040503050406030204" pitchFamily="18" charset="0"/>
                        <a:sym typeface="Symbol" pitchFamily="2" charset="2"/>
                      </a:rPr>
                      <m:t> &gt; </m:t>
                    </m:r>
                    <m:r>
                      <a:rPr lang="en-US" altLang="en-US" i="1" dirty="0" smtClean="0">
                        <a:latin typeface="Cambria Math" panose="02040503050406030204" pitchFamily="18" charset="0"/>
                        <a:sym typeface="Symbol" pitchFamily="2" charset="2"/>
                      </a:rPr>
                      <m:t>𝑐</m:t>
                    </m:r>
                    <m:r>
                      <a:rPr lang="en-US" altLang="en-US" i="1" dirty="0" smtClean="0">
                        <a:latin typeface="Cambria Math" panose="02040503050406030204" pitchFamily="18" charset="0"/>
                        <a:sym typeface="Symbol" pitchFamily="2" charset="2"/>
                      </a:rPr>
                      <m:t>) =0.005</m:t>
                    </m:r>
                  </m:oMath>
                </a14:m>
                <a:r>
                  <a:rPr lang="en-US" altLang="en-US" dirty="0">
                    <a:sym typeface="Symbol" pitchFamily="2" charset="2"/>
                  </a:rPr>
                  <a:t>, or, equivalently, that </a:t>
                </a:r>
                <a14:m>
                  <m:oMath xmlns:m="http://schemas.openxmlformats.org/officeDocument/2006/math">
                    <m:r>
                      <a:rPr lang="en-US" altLang="en-US" i="1" dirty="0" smtClean="0">
                        <a:latin typeface="Cambria Math" panose="02040503050406030204" pitchFamily="18" charset="0"/>
                        <a:sym typeface="Symbol" pitchFamily="2" charset="2"/>
                      </a:rPr>
                      <m:t>𝑃</m:t>
                    </m:r>
                    <m:r>
                      <a:rPr lang="en-US" altLang="en-US" i="1" dirty="0" smtClean="0">
                        <a:latin typeface="Cambria Math" panose="02040503050406030204" pitchFamily="18" charset="0"/>
                        <a:sym typeface="Symbol" pitchFamily="2" charset="2"/>
                      </a:rPr>
                      <m:t>(</m:t>
                    </m:r>
                    <m:r>
                      <a:rPr lang="en-US" altLang="en-US" i="1" dirty="0" smtClean="0">
                        <a:latin typeface="Cambria Math" panose="02040503050406030204" pitchFamily="18" charset="0"/>
                        <a:sym typeface="Symbol" pitchFamily="2" charset="2"/>
                      </a:rPr>
                      <m:t>𝑋</m:t>
                    </m:r>
                    <m:r>
                      <a:rPr lang="en-US" altLang="en-US" i="1" dirty="0" smtClean="0">
                        <a:latin typeface="Cambria Math" panose="02040503050406030204" pitchFamily="18" charset="0"/>
                        <a:sym typeface="Symbol" pitchFamily="2" charset="2"/>
                      </a:rPr>
                      <m:t>  </m:t>
                    </m:r>
                    <m:r>
                      <a:rPr lang="en-US" altLang="en-US" i="1" dirty="0">
                        <a:latin typeface="Cambria Math" panose="02040503050406030204" pitchFamily="18" charset="0"/>
                        <a:sym typeface="Symbol" pitchFamily="2" charset="2"/>
                      </a:rPr>
                      <m:t>𝑐</m:t>
                    </m:r>
                    <m:r>
                      <a:rPr lang="en-US" altLang="en-US" i="1" dirty="0">
                        <a:latin typeface="Cambria Math" panose="02040503050406030204" pitchFamily="18" charset="0"/>
                        <a:sym typeface="Symbol" pitchFamily="2" charset="2"/>
                      </a:rPr>
                      <m:t>) =0.995</m:t>
                    </m:r>
                  </m:oMath>
                </a14:m>
                <a:r>
                  <a:rPr lang="en-US" altLang="en-US" dirty="0">
                    <a:sym typeface="Symbol" pitchFamily="2" charset="2"/>
                  </a:rPr>
                  <a:t>.</a:t>
                </a:r>
              </a:p>
              <a:p>
                <a:pPr>
                  <a:tabLst>
                    <a:tab pos="457200" algn="l"/>
                    <a:tab pos="1371600" algn="l"/>
                    <a:tab pos="1547813" algn="l"/>
                  </a:tabLst>
                </a:pPr>
                <a:endParaRPr lang="en-US" altLang="en-US" dirty="0">
                  <a:sym typeface="Symbol" pitchFamily="2" charset="2"/>
                </a:endParaRPr>
              </a:p>
              <a:p>
                <a:pPr>
                  <a:tabLst>
                    <a:tab pos="457200" algn="l"/>
                    <a:tab pos="1371600" algn="l"/>
                    <a:tab pos="1547813" algn="l"/>
                  </a:tabLst>
                </a:pPr>
                <a:r>
                  <a:rPr lang="en-US" altLang="en-US" dirty="0">
                    <a:sym typeface="Symbol" pitchFamily="2" charset="2"/>
                  </a:rPr>
                  <a:t>Thus </a:t>
                </a:r>
                <a14:m>
                  <m:oMath xmlns:m="http://schemas.openxmlformats.org/officeDocument/2006/math">
                    <m:r>
                      <a:rPr lang="en-US" altLang="en-US" i="1" dirty="0">
                        <a:latin typeface="Cambria Math" panose="02040503050406030204" pitchFamily="18" charset="0"/>
                        <a:sym typeface="Symbol" pitchFamily="2" charset="2"/>
                      </a:rPr>
                      <m:t>𝑐</m:t>
                    </m:r>
                  </m:oMath>
                </a14:m>
                <a:r>
                  <a:rPr lang="en-US" altLang="en-US" i="1" dirty="0">
                    <a:sym typeface="Symbol" pitchFamily="2" charset="2"/>
                  </a:rPr>
                  <a:t> </a:t>
                </a:r>
                <a:r>
                  <a:rPr lang="en-US" altLang="en-US" dirty="0">
                    <a:sym typeface="Symbol" pitchFamily="2" charset="2"/>
                  </a:rPr>
                  <a:t>is the 99.5th percentile of the normal distribution with </a:t>
                </a:r>
                <a14:m>
                  <m:oMath xmlns:m="http://schemas.openxmlformats.org/officeDocument/2006/math">
                    <m:r>
                      <a:rPr lang="en-US" altLang="en-US" i="1" dirty="0" smtClean="0">
                        <a:latin typeface="Cambria Math" panose="02040503050406030204" pitchFamily="18" charset="0"/>
                        <a:sym typeface="Symbol" pitchFamily="2" charset="2"/>
                      </a:rPr>
                      <m:t>𝜇</m:t>
                    </m:r>
                    <m:r>
                      <a:rPr lang="en-US" altLang="en-US" i="1" dirty="0" smtClean="0">
                        <a:latin typeface="Cambria Math" panose="02040503050406030204" pitchFamily="18" charset="0"/>
                        <a:sym typeface="Symbol" pitchFamily="2" charset="2"/>
                      </a:rPr>
                      <m:t>= 64 </m:t>
                    </m:r>
                  </m:oMath>
                </a14:m>
                <a:r>
                  <a:rPr lang="en-US" altLang="en-US" dirty="0">
                    <a:sym typeface="Symbol" pitchFamily="2" charset="2"/>
                  </a:rPr>
                  <a:t>and </a:t>
                </a:r>
                <a14:m>
                  <m:oMath xmlns:m="http://schemas.openxmlformats.org/officeDocument/2006/math">
                    <m:r>
                      <a:rPr lang="en-US" altLang="en-US" b="0" i="1" dirty="0" smtClean="0">
                        <a:latin typeface="Cambria Math" panose="02040503050406030204" pitchFamily="18" charset="0"/>
                        <a:sym typeface="Symbol" pitchFamily="2" charset="2"/>
                      </a:rPr>
                      <m:t>𝜎</m:t>
                    </m:r>
                    <m:r>
                      <a:rPr lang="en-US" altLang="en-US" i="1" dirty="0" smtClean="0">
                        <a:latin typeface="Cambria Math" panose="02040503050406030204" pitchFamily="18" charset="0"/>
                        <a:sym typeface="Symbol" pitchFamily="2" charset="2"/>
                      </a:rPr>
                      <m:t>= </m:t>
                    </m:r>
                    <m:r>
                      <a:rPr lang="en-US" altLang="en-US" b="0" i="0" dirty="0" smtClean="0">
                        <a:latin typeface="Cambria Math" panose="02040503050406030204" pitchFamily="18" charset="0"/>
                        <a:sym typeface="Symbol" pitchFamily="2" charset="2"/>
                      </a:rPr>
                      <m:t>0</m:t>
                    </m:r>
                    <m:r>
                      <a:rPr lang="en-US" altLang="en-US" i="1" dirty="0" smtClean="0">
                        <a:latin typeface="Cambria Math" panose="02040503050406030204" pitchFamily="18" charset="0"/>
                        <a:sym typeface="Symbol" pitchFamily="2" charset="2"/>
                      </a:rPr>
                      <m:t>.78</m:t>
                    </m:r>
                  </m:oMath>
                </a14:m>
                <a:r>
                  <a:rPr lang="en-US" altLang="en-US" dirty="0">
                    <a:sym typeface="Symbol" pitchFamily="2" charset="2"/>
                  </a:rPr>
                  <a:t>.</a:t>
                </a:r>
              </a:p>
            </p:txBody>
          </p:sp>
        </mc:Choice>
        <mc:Fallback>
          <p:sp>
            <p:nvSpPr>
              <p:cNvPr id="171011" name="Rectangle 3">
                <a:extLst>
                  <a:ext uri="{FF2B5EF4-FFF2-40B4-BE49-F238E27FC236}">
                    <a16:creationId xmlns:a16="http://schemas.microsoft.com/office/drawing/2014/main" id="{098016D8-DBC9-E9EC-E4A6-1C91FCAF363B}"/>
                  </a:ext>
                </a:extLst>
              </p:cNvPr>
              <p:cNvSpPr>
                <a:spLocks noGrp="1" noRot="1" noChangeAspect="1" noMove="1" noResize="1" noEditPoints="1" noAdjustHandles="1" noChangeArrowheads="1" noChangeShapeType="1" noTextEdit="1"/>
              </p:cNvSpPr>
              <p:nvPr>
                <p:ph type="body" idx="1"/>
              </p:nvPr>
            </p:nvSpPr>
            <p:spPr>
              <a:xfrm>
                <a:off x="244434" y="1540617"/>
                <a:ext cx="10515600" cy="4748972"/>
              </a:xfrm>
              <a:blipFill>
                <a:blip r:embed="rId2"/>
                <a:stretch>
                  <a:fillRect l="-1086" t="-2933" r="-1327"/>
                </a:stretch>
              </a:blipFill>
            </p:spPr>
            <p:txBody>
              <a:bodyPr/>
              <a:lstStyle/>
              <a:p>
                <a:r>
                  <a:rPr 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3B4DA299-43C8-9E74-C0C9-9EA15813BE74}"/>
              </a:ext>
            </a:extLst>
          </p:cNvPr>
          <p:cNvSpPr>
            <a:spLocks noGrp="1" noChangeArrowheads="1"/>
          </p:cNvSpPr>
          <p:nvPr>
            <p:ph type="title"/>
          </p:nvPr>
        </p:nvSpPr>
        <p:spPr>
          <a:noFill/>
        </p:spPr>
        <p:txBody>
          <a:bodyPr/>
          <a:lstStyle/>
          <a:p>
            <a:r>
              <a:rPr lang="en-US" altLang="en-US" dirty="0"/>
              <a:t>Example</a:t>
            </a:r>
          </a:p>
        </p:txBody>
      </p:sp>
      <mc:AlternateContent xmlns:mc="http://schemas.openxmlformats.org/markup-compatibility/2006" xmlns:a14="http://schemas.microsoft.com/office/drawing/2010/main">
        <mc:Choice Requires="a14">
          <p:sp>
            <p:nvSpPr>
              <p:cNvPr id="172035" name="Rectangle 3">
                <a:extLst>
                  <a:ext uri="{FF2B5EF4-FFF2-40B4-BE49-F238E27FC236}">
                    <a16:creationId xmlns:a16="http://schemas.microsoft.com/office/drawing/2014/main" id="{2C9029ED-7850-3932-5893-2C9FB28CE6FC}"/>
                  </a:ext>
                </a:extLst>
              </p:cNvPr>
              <p:cNvSpPr>
                <a:spLocks noGrp="1" noChangeArrowheads="1"/>
              </p:cNvSpPr>
              <p:nvPr>
                <p:ph type="body" idx="1"/>
              </p:nvPr>
            </p:nvSpPr>
            <p:spPr>
              <a:noFill/>
            </p:spPr>
            <p:txBody>
              <a:bodyPr/>
              <a:lstStyle/>
              <a:p>
                <a:pPr>
                  <a:tabLst>
                    <a:tab pos="457200" algn="l"/>
                    <a:tab pos="1371600" algn="l"/>
                    <a:tab pos="1547813" algn="l"/>
                  </a:tabLst>
                </a:pPr>
                <a:r>
                  <a:rPr lang="en-US" altLang="en-US" dirty="0">
                    <a:sym typeface="Symbol" pitchFamily="2" charset="2"/>
                  </a:rPr>
                  <a:t>The 99.5th percentile of the standard normal distribution is 2.58, </a:t>
                </a:r>
              </a:p>
              <a:p>
                <a:pPr>
                  <a:tabLst>
                    <a:tab pos="457200" algn="l"/>
                    <a:tab pos="1371600" algn="l"/>
                    <a:tab pos="1547813" algn="l"/>
                  </a:tabLst>
                </a:pPr>
                <a14:m>
                  <m:oMath xmlns:m="http://schemas.openxmlformats.org/officeDocument/2006/math">
                    <m:r>
                      <a:rPr lang="en-US" altLang="en-US" i="1" dirty="0" smtClean="0">
                        <a:latin typeface="Cambria Math" panose="02040503050406030204" pitchFamily="18" charset="0"/>
                        <a:sym typeface="Symbol" pitchFamily="2" charset="2"/>
                      </a:rPr>
                      <m:t>𝑐</m:t>
                    </m:r>
                    <m:r>
                      <a:rPr lang="en-US" altLang="en-US" i="1" dirty="0" smtClean="0">
                        <a:latin typeface="Cambria Math" panose="02040503050406030204" pitchFamily="18" charset="0"/>
                        <a:sym typeface="Symbol" pitchFamily="2" charset="2"/>
                      </a:rPr>
                      <m:t> =</m:t>
                    </m:r>
                    <m:r>
                      <a:rPr lang="en-US" altLang="en-US" b="0" i="1" dirty="0" smtClean="0">
                        <a:latin typeface="Cambria Math" panose="02040503050406030204" pitchFamily="18" charset="0"/>
                        <a:sym typeface="Symbol" pitchFamily="2" charset="2"/>
                      </a:rPr>
                      <m:t>𝜂</m:t>
                    </m:r>
                    <m:r>
                      <a:rPr lang="en-US" altLang="en-US" i="1" dirty="0">
                        <a:latin typeface="Cambria Math" panose="02040503050406030204" pitchFamily="18" charset="0"/>
                        <a:sym typeface="Symbol" pitchFamily="2" charset="2"/>
                      </a:rPr>
                      <m:t>(.995) = 64 + (2.58)(.78) = 64 + 2.0 = 66 </m:t>
                    </m:r>
                  </m:oMath>
                </a14:m>
                <a:r>
                  <a:rPr lang="en-US" altLang="en-US" dirty="0">
                    <a:sym typeface="Symbol" pitchFamily="2" charset="2"/>
                  </a:rPr>
                  <a:t>oz</a:t>
                </a:r>
              </a:p>
            </p:txBody>
          </p:sp>
        </mc:Choice>
        <mc:Fallback xmlns="">
          <p:sp>
            <p:nvSpPr>
              <p:cNvPr id="172035" name="Rectangle 3">
                <a:extLst>
                  <a:ext uri="{FF2B5EF4-FFF2-40B4-BE49-F238E27FC236}">
                    <a16:creationId xmlns:a16="http://schemas.microsoft.com/office/drawing/2014/main" id="{2C9029ED-7850-3932-5893-2C9FB28CE6FC}"/>
                  </a:ext>
                </a:extLst>
              </p:cNvPr>
              <p:cNvSpPr>
                <a:spLocks noGrp="1" noRot="1" noChangeAspect="1" noMove="1" noResize="1" noEditPoints="1" noAdjustHandles="1" noChangeArrowheads="1" noChangeShapeType="1" noTextEdit="1"/>
              </p:cNvSpPr>
              <p:nvPr>
                <p:ph type="body" idx="1"/>
              </p:nvPr>
            </p:nvSpPr>
            <p:spPr>
              <a:blipFill>
                <a:blip r:embed="rId2"/>
                <a:stretch>
                  <a:fillRect l="-1043" t="-2521" r="-1971"/>
                </a:stretch>
              </a:blipFill>
            </p:spPr>
            <p:txBody>
              <a:bodyPr/>
              <a:lstStyle/>
              <a:p>
                <a:r>
                  <a:rPr lang="en-US">
                    <a:noFill/>
                  </a:rPr>
                  <a:t> </a:t>
                </a:r>
              </a:p>
            </p:txBody>
          </p:sp>
        </mc:Fallback>
      </mc:AlternateContent>
      <p:sp>
        <p:nvSpPr>
          <p:cNvPr id="172039" name="Text Box 7">
            <a:extLst>
              <a:ext uri="{FF2B5EF4-FFF2-40B4-BE49-F238E27FC236}">
                <a16:creationId xmlns:a16="http://schemas.microsoft.com/office/drawing/2014/main" id="{2006A830-04CB-B6D1-C717-0C3C5E6720BA}"/>
              </a:ext>
            </a:extLst>
          </p:cNvPr>
          <p:cNvSpPr txBox="1">
            <a:spLocks noChangeArrowheads="1"/>
          </p:cNvSpPr>
          <p:nvPr/>
        </p:nvSpPr>
        <p:spPr bwMode="auto">
          <a:xfrm>
            <a:off x="3584678" y="6133941"/>
            <a:ext cx="46714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latin typeface="Arial" panose="020B0604020202020204" pitchFamily="34" charset="0"/>
                <a:cs typeface="Arial" panose="020B0604020202020204" pitchFamily="34" charset="0"/>
                <a:sym typeface="Symbol" pitchFamily="2" charset="2"/>
              </a:rPr>
              <a:t>Distribution of amount dispensed</a:t>
            </a:r>
          </a:p>
        </p:txBody>
      </p:sp>
      <p:pic>
        <p:nvPicPr>
          <p:cNvPr id="172040" name="Picture 8">
            <a:extLst>
              <a:ext uri="{FF2B5EF4-FFF2-40B4-BE49-F238E27FC236}">
                <a16:creationId xmlns:a16="http://schemas.microsoft.com/office/drawing/2014/main" id="{2F3B8F33-3559-ED1D-6602-E01C624E35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8857" y="2590023"/>
            <a:ext cx="6113950" cy="33019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a:extLst>
              <a:ext uri="{FF2B5EF4-FFF2-40B4-BE49-F238E27FC236}">
                <a16:creationId xmlns:a16="http://schemas.microsoft.com/office/drawing/2014/main" id="{3654F2C5-282F-4F31-3A4F-2711434BE752}"/>
              </a:ext>
            </a:extLst>
          </p:cNvPr>
          <p:cNvSpPr>
            <a:spLocks noGrp="1" noChangeArrowheads="1"/>
          </p:cNvSpPr>
          <p:nvPr>
            <p:ph type="title"/>
          </p:nvPr>
        </p:nvSpPr>
        <p:spPr>
          <a:noFill/>
        </p:spPr>
        <p:txBody>
          <a:bodyPr/>
          <a:lstStyle/>
          <a:p>
            <a:r>
              <a:rPr lang="en-US" altLang="en-US" sz="3600" dirty="0"/>
              <a:t>Normal Approximating the Binomial Distribution</a:t>
            </a:r>
          </a:p>
        </p:txBody>
      </p:sp>
      <mc:AlternateContent xmlns:mc="http://schemas.openxmlformats.org/markup-compatibility/2006">
        <mc:Choice xmlns:a14="http://schemas.microsoft.com/office/drawing/2010/main" Requires="a14">
          <p:sp>
            <p:nvSpPr>
              <p:cNvPr id="182275" name="Rectangle 3">
                <a:extLst>
                  <a:ext uri="{FF2B5EF4-FFF2-40B4-BE49-F238E27FC236}">
                    <a16:creationId xmlns:a16="http://schemas.microsoft.com/office/drawing/2014/main" id="{4A3272DF-B261-4B57-38D2-03E2360F29F3}"/>
                  </a:ext>
                </a:extLst>
              </p:cNvPr>
              <p:cNvSpPr>
                <a:spLocks noGrp="1" noChangeArrowheads="1"/>
              </p:cNvSpPr>
              <p:nvPr>
                <p:ph type="body" idx="1"/>
              </p:nvPr>
            </p:nvSpPr>
            <p:spPr>
              <a:xfrm>
                <a:off x="214617" y="1442730"/>
                <a:ext cx="10515600" cy="5415270"/>
              </a:xfrm>
              <a:noFill/>
            </p:spPr>
            <p:txBody>
              <a:bodyPr/>
              <a:lstStyle/>
              <a:p>
                <a:pPr>
                  <a:tabLst>
                    <a:tab pos="457200" algn="l"/>
                    <a:tab pos="1371600" algn="l"/>
                    <a:tab pos="1547813" algn="l"/>
                  </a:tabLst>
                </a:pPr>
                <a:r>
                  <a:rPr lang="en-US" altLang="en-US" dirty="0">
                    <a:sym typeface="Symbol" pitchFamily="2" charset="2"/>
                  </a:rPr>
                  <a:t>Recall that the mean value and standard deviation of a binomial random variable </a:t>
                </a:r>
                <a14:m>
                  <m:oMath xmlns:m="http://schemas.openxmlformats.org/officeDocument/2006/math">
                    <m:r>
                      <a:rPr lang="en-US" altLang="en-US" i="1" dirty="0" smtClean="0">
                        <a:latin typeface="Cambria Math" panose="02040503050406030204" pitchFamily="18" charset="0"/>
                        <a:sym typeface="Symbol" pitchFamily="2" charset="2"/>
                      </a:rPr>
                      <m:t>𝑋</m:t>
                    </m:r>
                  </m:oMath>
                </a14:m>
                <a:r>
                  <a:rPr lang="en-US" altLang="en-US" dirty="0">
                    <a:sym typeface="Symbol" pitchFamily="2" charset="2"/>
                  </a:rPr>
                  <a:t> are </a:t>
                </a:r>
                <a14:m>
                  <m:oMath xmlns:m="http://schemas.openxmlformats.org/officeDocument/2006/math">
                    <m:sSub>
                      <m:sSubPr>
                        <m:ctrlPr>
                          <a:rPr lang="en-US" altLang="en-US" b="0" i="1" dirty="0" smtClean="0">
                            <a:latin typeface="Cambria Math" panose="02040503050406030204" pitchFamily="18" charset="0"/>
                            <a:sym typeface="Symbol" pitchFamily="2" charset="2"/>
                          </a:rPr>
                        </m:ctrlPr>
                      </m:sSubPr>
                      <m:e>
                        <m:r>
                          <a:rPr lang="en-US" altLang="en-US" b="0" i="1" dirty="0" smtClean="0">
                            <a:latin typeface="Cambria Math" panose="02040503050406030204" pitchFamily="18" charset="0"/>
                            <a:sym typeface="Symbol" pitchFamily="2" charset="2"/>
                          </a:rPr>
                          <m:t>𝜇</m:t>
                        </m:r>
                      </m:e>
                      <m:sub>
                        <m:r>
                          <a:rPr lang="en-US" altLang="en-US" b="0" i="1" dirty="0" smtClean="0">
                            <a:latin typeface="Cambria Math" panose="02040503050406030204" pitchFamily="18" charset="0"/>
                            <a:sym typeface="Symbol" pitchFamily="2" charset="2"/>
                          </a:rPr>
                          <m:t>𝑥</m:t>
                        </m:r>
                      </m:sub>
                    </m:sSub>
                    <m:r>
                      <a:rPr lang="en-US" altLang="en-US" b="0" i="1" dirty="0" smtClean="0">
                        <a:latin typeface="Cambria Math" panose="02040503050406030204" pitchFamily="18" charset="0"/>
                        <a:sym typeface="Symbol" pitchFamily="2" charset="2"/>
                      </a:rPr>
                      <m:t>=</m:t>
                    </m:r>
                    <m:r>
                      <a:rPr lang="en-US" altLang="en-US" b="0" i="1" dirty="0" smtClean="0">
                        <a:latin typeface="Cambria Math" panose="02040503050406030204" pitchFamily="18" charset="0"/>
                        <a:sym typeface="Symbol" pitchFamily="2" charset="2"/>
                      </a:rPr>
                      <m:t>𝑛𝑝</m:t>
                    </m:r>
                  </m:oMath>
                </a14:m>
                <a:r>
                  <a:rPr lang="en-US" altLang="en-US" dirty="0">
                    <a:sym typeface="Symbol" pitchFamily="2" charset="2"/>
                  </a:rPr>
                  <a:t> and </a:t>
                </a:r>
                <a14:m>
                  <m:oMath xmlns:m="http://schemas.openxmlformats.org/officeDocument/2006/math">
                    <m:sSub>
                      <m:sSubPr>
                        <m:ctrlPr>
                          <a:rPr lang="en-US" altLang="en-US" i="1" dirty="0">
                            <a:latin typeface="Cambria Math" panose="02040503050406030204" pitchFamily="18" charset="0"/>
                            <a:sym typeface="Symbol" pitchFamily="2" charset="2"/>
                          </a:rPr>
                        </m:ctrlPr>
                      </m:sSubPr>
                      <m:e>
                        <m:r>
                          <a:rPr lang="en-US" altLang="en-US" b="0" i="1" dirty="0" smtClean="0">
                            <a:latin typeface="Cambria Math" panose="02040503050406030204" pitchFamily="18" charset="0"/>
                            <a:sym typeface="Symbol" pitchFamily="2" charset="2"/>
                          </a:rPr>
                          <m:t>𝜎</m:t>
                        </m:r>
                      </m:e>
                      <m:sub>
                        <m:r>
                          <a:rPr lang="en-US" altLang="en-US" i="1" dirty="0">
                            <a:latin typeface="Cambria Math" panose="02040503050406030204" pitchFamily="18" charset="0"/>
                            <a:sym typeface="Symbol" pitchFamily="2" charset="2"/>
                          </a:rPr>
                          <m:t>𝑥</m:t>
                        </m:r>
                      </m:sub>
                    </m:sSub>
                    <m:r>
                      <a:rPr lang="en-US" altLang="en-US" i="1" dirty="0">
                        <a:latin typeface="Cambria Math" panose="02040503050406030204" pitchFamily="18" charset="0"/>
                        <a:sym typeface="Symbol" pitchFamily="2" charset="2"/>
                      </a:rPr>
                      <m:t>=</m:t>
                    </m:r>
                    <m:rad>
                      <m:radPr>
                        <m:degHide m:val="on"/>
                        <m:ctrlPr>
                          <a:rPr lang="en-US" altLang="en-US" b="0" i="1" dirty="0" smtClean="0">
                            <a:latin typeface="Cambria Math" panose="02040503050406030204" pitchFamily="18" charset="0"/>
                            <a:sym typeface="Symbol" pitchFamily="2" charset="2"/>
                          </a:rPr>
                        </m:ctrlPr>
                      </m:radPr>
                      <m:deg/>
                      <m:e>
                        <m:r>
                          <a:rPr lang="en-US" altLang="en-US" i="1" dirty="0">
                            <a:latin typeface="Cambria Math" panose="02040503050406030204" pitchFamily="18" charset="0"/>
                            <a:sym typeface="Symbol" pitchFamily="2" charset="2"/>
                          </a:rPr>
                          <m:t>𝑛𝑝</m:t>
                        </m:r>
                        <m:r>
                          <a:rPr lang="en-US" altLang="en-US" i="1" dirty="0">
                            <a:latin typeface="Cambria Math" panose="02040503050406030204" pitchFamily="18" charset="0"/>
                            <a:sym typeface="Symbol" pitchFamily="2" charset="2"/>
                          </a:rPr>
                          <m:t>(1−</m:t>
                        </m:r>
                        <m:r>
                          <a:rPr lang="en-US" altLang="en-US" i="1" dirty="0">
                            <a:latin typeface="Cambria Math" panose="02040503050406030204" pitchFamily="18" charset="0"/>
                            <a:sym typeface="Symbol" pitchFamily="2" charset="2"/>
                          </a:rPr>
                          <m:t>𝑝</m:t>
                        </m:r>
                        <m:r>
                          <a:rPr lang="en-US" altLang="en-US" i="1" dirty="0">
                            <a:latin typeface="Cambria Math" panose="02040503050406030204" pitchFamily="18" charset="0"/>
                            <a:sym typeface="Symbol" pitchFamily="2" charset="2"/>
                          </a:rPr>
                          <m:t>)</m:t>
                        </m:r>
                        <m:r>
                          <m:rPr>
                            <m:nor/>
                          </m:rPr>
                          <a:rPr lang="en-US" altLang="en-US" dirty="0">
                            <a:sym typeface="Symbol" pitchFamily="2" charset="2"/>
                          </a:rPr>
                          <m:t> </m:t>
                        </m:r>
                      </m:e>
                    </m:rad>
                  </m:oMath>
                </a14:m>
                <a:endParaRPr lang="en-US" altLang="en-US" dirty="0">
                  <a:sym typeface="Symbol" pitchFamily="2" charset="2"/>
                </a:endParaRPr>
              </a:p>
              <a:p>
                <a:pPr>
                  <a:tabLst>
                    <a:tab pos="457200" algn="l"/>
                    <a:tab pos="1371600" algn="l"/>
                    <a:tab pos="1547813" algn="l"/>
                  </a:tabLst>
                </a:pPr>
                <a:r>
                  <a:rPr lang="en-US" altLang="en-US" dirty="0">
                    <a:sym typeface="Symbol" pitchFamily="2" charset="2"/>
                  </a:rPr>
                  <a:t>A binomial probability histogram for the binomial distribution with </a:t>
                </a:r>
                <a14:m>
                  <m:oMath xmlns:m="http://schemas.openxmlformats.org/officeDocument/2006/math">
                    <m:r>
                      <a:rPr lang="pt-BR" altLang="en-US" i="1" dirty="0" smtClean="0">
                        <a:latin typeface="Cambria Math" panose="02040503050406030204" pitchFamily="18" charset="0"/>
                        <a:sym typeface="Symbol" pitchFamily="2" charset="2"/>
                      </a:rPr>
                      <m:t>𝑛</m:t>
                    </m:r>
                    <m:r>
                      <a:rPr lang="pt-BR" altLang="en-US" i="1" dirty="0">
                        <a:latin typeface="Cambria Math" panose="02040503050406030204" pitchFamily="18" charset="0"/>
                        <a:sym typeface="Symbol" pitchFamily="2" charset="2"/>
                      </a:rPr>
                      <m:t> = 20</m:t>
                    </m:r>
                  </m:oMath>
                </a14:m>
                <a:r>
                  <a:rPr lang="pt-BR" altLang="en-US" dirty="0">
                    <a:sym typeface="Symbol" pitchFamily="2" charset="2"/>
                  </a:rPr>
                  <a:t>, </a:t>
                </a:r>
                <a14:m>
                  <m:oMath xmlns:m="http://schemas.openxmlformats.org/officeDocument/2006/math">
                    <m:r>
                      <a:rPr lang="pt-BR" altLang="en-US" i="1" dirty="0" smtClean="0">
                        <a:latin typeface="Cambria Math" panose="02040503050406030204" pitchFamily="18" charset="0"/>
                        <a:sym typeface="Symbol" pitchFamily="2" charset="2"/>
                      </a:rPr>
                      <m:t>𝑝</m:t>
                    </m:r>
                    <m:r>
                      <a:rPr lang="pt-BR" altLang="en-US" i="1" dirty="0">
                        <a:latin typeface="Cambria Math" panose="02040503050406030204" pitchFamily="18" charset="0"/>
                        <a:sym typeface="Symbol" pitchFamily="2" charset="2"/>
                      </a:rPr>
                      <m:t> =</m:t>
                    </m:r>
                    <m:r>
                      <a:rPr lang="en-US" altLang="en-US" b="0" i="1" dirty="0" smtClean="0">
                        <a:latin typeface="Cambria Math" panose="02040503050406030204" pitchFamily="18" charset="0"/>
                        <a:sym typeface="Symbol" pitchFamily="2" charset="2"/>
                      </a:rPr>
                      <m:t>0</m:t>
                    </m:r>
                    <m:r>
                      <a:rPr lang="pt-BR" altLang="en-US" i="1" dirty="0">
                        <a:latin typeface="Cambria Math" panose="02040503050406030204" pitchFamily="18" charset="0"/>
                        <a:sym typeface="Symbol" pitchFamily="2" charset="2"/>
                      </a:rPr>
                      <m:t>.6</m:t>
                    </m:r>
                  </m:oMath>
                </a14:m>
                <a:endParaRPr lang="en-US" altLang="en-US" dirty="0">
                  <a:sym typeface="Symbol" pitchFamily="2" charset="2"/>
                </a:endParaRPr>
              </a:p>
              <a:p>
                <a:pPr>
                  <a:tabLst>
                    <a:tab pos="457200" algn="l"/>
                    <a:tab pos="1371600" algn="l"/>
                    <a:tab pos="1547813" algn="l"/>
                  </a:tabLst>
                </a:pPr>
                <a:r>
                  <a:rPr lang="en-US" altLang="en-US" dirty="0">
                    <a:sym typeface="Symbol" pitchFamily="2" charset="2"/>
                  </a:rPr>
                  <a:t>A normal curve with this </a:t>
                </a:r>
                <a14:m>
                  <m:oMath xmlns:m="http://schemas.openxmlformats.org/officeDocument/2006/math">
                    <m:r>
                      <a:rPr lang="en-US" altLang="en-US" b="0" i="1" smtClean="0">
                        <a:latin typeface="Cambria Math" panose="02040503050406030204" pitchFamily="18" charset="0"/>
                        <a:sym typeface="Symbol" pitchFamily="2" charset="2"/>
                      </a:rPr>
                      <m:t>𝜇</m:t>
                    </m:r>
                  </m:oMath>
                </a14:m>
                <a:r>
                  <a:rPr lang="en-US" altLang="en-US" i="1" dirty="0">
                    <a:sym typeface="Symbol" pitchFamily="2" charset="2"/>
                  </a:rPr>
                  <a:t> </a:t>
                </a:r>
                <a:r>
                  <a:rPr lang="en-US" altLang="en-US" dirty="0">
                    <a:sym typeface="Symbol" pitchFamily="2" charset="2"/>
                  </a:rPr>
                  <a:t>and </a:t>
                </a:r>
                <a14:m>
                  <m:oMath xmlns:m="http://schemas.openxmlformats.org/officeDocument/2006/math">
                    <m:r>
                      <a:rPr lang="en-US" altLang="en-US" b="0" i="1" smtClean="0">
                        <a:latin typeface="Cambria Math" panose="02040503050406030204" pitchFamily="18" charset="0"/>
                        <a:sym typeface="Symbol" pitchFamily="2" charset="2"/>
                      </a:rPr>
                      <m:t>𝜎</m:t>
                    </m:r>
                  </m:oMath>
                </a14:m>
                <a:r>
                  <a:rPr lang="en-US" altLang="en-US" i="1" dirty="0">
                    <a:sym typeface="Symbol" pitchFamily="2" charset="2"/>
                  </a:rPr>
                  <a:t> </a:t>
                </a:r>
                <a:r>
                  <a:rPr lang="en-US" altLang="en-US" dirty="0">
                    <a:sym typeface="Symbol" pitchFamily="2" charset="2"/>
                  </a:rPr>
                  <a:t>has been superimposed on the hist</a:t>
                </a:r>
                <a:r>
                  <a:rPr lang="en-US" altLang="zh-CN" dirty="0">
                    <a:sym typeface="Symbol" pitchFamily="2" charset="2"/>
                  </a:rPr>
                  <a:t>o</a:t>
                </a:r>
                <a:r>
                  <a:rPr lang="en-US" altLang="en-US" dirty="0">
                    <a:sym typeface="Symbol" pitchFamily="2" charset="2"/>
                  </a:rPr>
                  <a:t>gram</a:t>
                </a:r>
              </a:p>
              <a:p>
                <a:pPr>
                  <a:tabLst>
                    <a:tab pos="457200" algn="l"/>
                    <a:tab pos="1371600" algn="l"/>
                    <a:tab pos="1547813" algn="l"/>
                  </a:tabLst>
                </a:pPr>
                <a:endParaRPr lang="en-US" altLang="en-US" dirty="0">
                  <a:sym typeface="Symbol" pitchFamily="2" charset="2"/>
                </a:endParaRPr>
              </a:p>
            </p:txBody>
          </p:sp>
        </mc:Choice>
        <mc:Fallback>
          <p:sp>
            <p:nvSpPr>
              <p:cNvPr id="182275" name="Rectangle 3">
                <a:extLst>
                  <a:ext uri="{FF2B5EF4-FFF2-40B4-BE49-F238E27FC236}">
                    <a16:creationId xmlns:a16="http://schemas.microsoft.com/office/drawing/2014/main" id="{4A3272DF-B261-4B57-38D2-03E2360F29F3}"/>
                  </a:ext>
                </a:extLst>
              </p:cNvPr>
              <p:cNvSpPr>
                <a:spLocks noGrp="1" noRot="1" noChangeAspect="1" noMove="1" noResize="1" noEditPoints="1" noAdjustHandles="1" noChangeArrowheads="1" noChangeShapeType="1" noTextEdit="1"/>
              </p:cNvSpPr>
              <p:nvPr>
                <p:ph type="body" idx="1"/>
              </p:nvPr>
            </p:nvSpPr>
            <p:spPr>
              <a:xfrm>
                <a:off x="214617" y="1442730"/>
                <a:ext cx="10515600" cy="5415270"/>
              </a:xfrm>
              <a:blipFill>
                <a:blip r:embed="rId2"/>
                <a:stretch>
                  <a:fillRect l="-965" t="-1874" r="-1809"/>
                </a:stretch>
              </a:blipFill>
            </p:spPr>
            <p:txBody>
              <a:bodyPr/>
              <a:lstStyle/>
              <a:p>
                <a:r>
                  <a:rPr lang="en-US">
                    <a:noFill/>
                  </a:rPr>
                  <a:t> </a:t>
                </a:r>
              </a:p>
            </p:txBody>
          </p:sp>
        </mc:Fallback>
      </mc:AlternateContent>
      <p:pic>
        <p:nvPicPr>
          <p:cNvPr id="2" name="Picture 9">
            <a:extLst>
              <a:ext uri="{FF2B5EF4-FFF2-40B4-BE49-F238E27FC236}">
                <a16:creationId xmlns:a16="http://schemas.microsoft.com/office/drawing/2014/main" id="{F89FEAA2-1837-A033-C9E2-879C2A72DF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715" y="3791671"/>
            <a:ext cx="5566752" cy="29491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213FC899-3AF1-5360-7EED-11D3E5D2680D}"/>
              </a:ext>
            </a:extLst>
          </p:cNvPr>
          <p:cNvSpPr>
            <a:spLocks noGrp="1" noChangeArrowheads="1"/>
          </p:cNvSpPr>
          <p:nvPr>
            <p:ph type="title"/>
          </p:nvPr>
        </p:nvSpPr>
        <p:spPr>
          <a:noFill/>
        </p:spPr>
        <p:txBody>
          <a:bodyPr/>
          <a:lstStyle/>
          <a:p>
            <a:r>
              <a:rPr lang="en-US" altLang="en-US" sz="3600"/>
              <a:t>Approximating the Binomial Distribution</a:t>
            </a:r>
          </a:p>
        </p:txBody>
      </p:sp>
      <mc:AlternateContent xmlns:mc="http://schemas.openxmlformats.org/markup-compatibility/2006">
        <mc:Choice xmlns:a14="http://schemas.microsoft.com/office/drawing/2010/main" Requires="a14">
          <p:sp>
            <p:nvSpPr>
              <p:cNvPr id="186371" name="Rectangle 3">
                <a:extLst>
                  <a:ext uri="{FF2B5EF4-FFF2-40B4-BE49-F238E27FC236}">
                    <a16:creationId xmlns:a16="http://schemas.microsoft.com/office/drawing/2014/main" id="{9F39037C-15BB-D3FF-3534-72E5717FDFCB}"/>
                  </a:ext>
                </a:extLst>
              </p:cNvPr>
              <p:cNvSpPr>
                <a:spLocks noGrp="1" noChangeArrowheads="1"/>
              </p:cNvSpPr>
              <p:nvPr>
                <p:ph type="body" idx="1"/>
              </p:nvPr>
            </p:nvSpPr>
            <p:spPr>
              <a:xfrm>
                <a:off x="224556" y="1423450"/>
                <a:ext cx="10515600" cy="5317383"/>
              </a:xfrm>
              <a:noFill/>
            </p:spPr>
            <p:txBody>
              <a:bodyPr>
                <a:normAutofit/>
              </a:bodyPr>
              <a:lstStyle/>
              <a:p>
                <a:pPr marL="0" indent="0">
                  <a:buNone/>
                  <a:tabLst>
                    <a:tab pos="457200" algn="l"/>
                    <a:tab pos="1371600" algn="l"/>
                    <a:tab pos="1547813" algn="l"/>
                  </a:tabLst>
                </a:pPr>
                <a:r>
                  <a:rPr lang="en-US" altLang="zh-CN" dirty="0">
                    <a:sym typeface="Symbol" pitchFamily="2" charset="2"/>
                  </a:rPr>
                  <a:t>Suppose</a:t>
                </a:r>
                <a:r>
                  <a:rPr lang="en-US" altLang="en-US" dirty="0">
                    <a:sym typeface="Symbol" pitchFamily="2" charset="2"/>
                  </a:rPr>
                  <a:t> </a:t>
                </a:r>
                <a14:m>
                  <m:oMath xmlns:m="http://schemas.openxmlformats.org/officeDocument/2006/math">
                    <m:r>
                      <a:rPr lang="en-US" altLang="en-US" i="1" dirty="0" smtClean="0">
                        <a:latin typeface="Cambria Math" panose="02040503050406030204" pitchFamily="18" charset="0"/>
                        <a:sym typeface="Symbol" pitchFamily="2" charset="2"/>
                      </a:rPr>
                      <m:t>𝑋</m:t>
                    </m:r>
                    <m:r>
                      <a:rPr lang="en-US" altLang="zh-CN" b="0" i="1" dirty="0" smtClean="0">
                        <a:latin typeface="Cambria Math" panose="02040503050406030204" pitchFamily="18" charset="0"/>
                        <a:sym typeface="Symbol" pitchFamily="2" charset="2"/>
                      </a:rPr>
                      <m:t>~</m:t>
                    </m:r>
                    <m:r>
                      <a:rPr lang="zh-CN" altLang="en-US" b="0" i="1" dirty="0" smtClean="0">
                        <a:latin typeface="Cambria Math" panose="02040503050406030204" pitchFamily="18" charset="0"/>
                        <a:sym typeface="Symbol" pitchFamily="2" charset="2"/>
                      </a:rPr>
                      <m:t> </m:t>
                    </m:r>
                    <m:r>
                      <a:rPr lang="en-US" altLang="zh-CN" b="0" i="1" dirty="0" smtClean="0">
                        <a:latin typeface="Cambria Math" panose="02040503050406030204" pitchFamily="18" charset="0"/>
                        <a:sym typeface="Symbol" pitchFamily="2" charset="2"/>
                      </a:rPr>
                      <m:t>𝐵𝑖𝑛</m:t>
                    </m:r>
                    <m:r>
                      <a:rPr lang="en-US" altLang="zh-CN" b="0" i="1" dirty="0" smtClean="0">
                        <a:latin typeface="Cambria Math" panose="02040503050406030204" pitchFamily="18" charset="0"/>
                        <a:sym typeface="Symbol" pitchFamily="2" charset="2"/>
                      </a:rPr>
                      <m:t>(</m:t>
                    </m:r>
                    <m:r>
                      <a:rPr lang="en-US" altLang="zh-CN" b="0" i="1" dirty="0" smtClean="0">
                        <a:latin typeface="Cambria Math" panose="02040503050406030204" pitchFamily="18" charset="0"/>
                        <a:sym typeface="Symbol" pitchFamily="2" charset="2"/>
                      </a:rPr>
                      <m:t>𝑛</m:t>
                    </m:r>
                    <m:r>
                      <a:rPr lang="en-US" altLang="zh-CN" b="0" i="1" dirty="0" smtClean="0">
                        <a:latin typeface="Cambria Math" panose="02040503050406030204" pitchFamily="18" charset="0"/>
                        <a:sym typeface="Symbol" pitchFamily="2" charset="2"/>
                      </a:rPr>
                      <m:t>,</m:t>
                    </m:r>
                    <m:r>
                      <a:rPr lang="en-US" altLang="zh-CN" b="0" i="1" dirty="0" smtClean="0">
                        <a:latin typeface="Cambria Math" panose="02040503050406030204" pitchFamily="18" charset="0"/>
                        <a:sym typeface="Symbol" pitchFamily="2" charset="2"/>
                      </a:rPr>
                      <m:t>𝑝</m:t>
                    </m:r>
                    <m:r>
                      <a:rPr lang="en-US" altLang="zh-CN" b="0" i="1" dirty="0" smtClean="0">
                        <a:latin typeface="Cambria Math" panose="02040503050406030204" pitchFamily="18" charset="0"/>
                        <a:sym typeface="Symbol" pitchFamily="2" charset="2"/>
                      </a:rPr>
                      <m:t>)</m:t>
                    </m:r>
                  </m:oMath>
                </a14:m>
                <a:r>
                  <a:rPr lang="en-US" altLang="en-US" dirty="0">
                    <a:sym typeface="Symbol" pitchFamily="2" charset="2"/>
                  </a:rPr>
                  <a:t>. </a:t>
                </a:r>
              </a:p>
              <a:p>
                <a:pPr>
                  <a:tabLst>
                    <a:tab pos="457200" algn="l"/>
                    <a:tab pos="1371600" algn="l"/>
                    <a:tab pos="1547813" algn="l"/>
                  </a:tabLst>
                </a:pPr>
                <a:r>
                  <a:rPr lang="en-US" altLang="en-US" dirty="0">
                    <a:sym typeface="Symbol" pitchFamily="2" charset="2"/>
                  </a:rPr>
                  <a:t>Condition</a:t>
                </a:r>
              </a:p>
              <a:p>
                <a:pPr lvl="1">
                  <a:tabLst>
                    <a:tab pos="457200" algn="l"/>
                    <a:tab pos="1371600" algn="l"/>
                    <a:tab pos="1547813" algn="l"/>
                  </a:tabLst>
                </a:pPr>
                <a14:m>
                  <m:oMath xmlns:m="http://schemas.openxmlformats.org/officeDocument/2006/math">
                    <m:r>
                      <a:rPr lang="en-US" altLang="en-US" i="1" dirty="0">
                        <a:latin typeface="Cambria Math" panose="02040503050406030204" pitchFamily="18" charset="0"/>
                        <a:sym typeface="Symbol" pitchFamily="2" charset="2"/>
                      </a:rPr>
                      <m:t>𝑋</m:t>
                    </m:r>
                  </m:oMath>
                </a14:m>
                <a:r>
                  <a:rPr lang="zh-CN" altLang="en-US" dirty="0">
                    <a:sym typeface="Symbol" pitchFamily="2" charset="2"/>
                  </a:rPr>
                  <a:t> </a:t>
                </a:r>
                <a:r>
                  <a:rPr lang="en-US" altLang="zh-CN" dirty="0">
                    <a:sym typeface="Symbol" pitchFamily="2" charset="2"/>
                  </a:rPr>
                  <a:t>can</a:t>
                </a:r>
                <a:r>
                  <a:rPr lang="zh-CN" altLang="en-US" dirty="0">
                    <a:sym typeface="Symbol" pitchFamily="2" charset="2"/>
                  </a:rPr>
                  <a:t> </a:t>
                </a:r>
                <a:r>
                  <a:rPr lang="en-US" altLang="zh-CN" dirty="0">
                    <a:sym typeface="Symbol" pitchFamily="2" charset="2"/>
                  </a:rPr>
                  <a:t>be</a:t>
                </a:r>
                <a:r>
                  <a:rPr lang="zh-CN" altLang="en-US" dirty="0">
                    <a:sym typeface="Symbol" pitchFamily="2" charset="2"/>
                  </a:rPr>
                  <a:t> </a:t>
                </a:r>
                <a:r>
                  <a:rPr lang="en-US" altLang="zh-CN" dirty="0">
                    <a:sym typeface="Symbol" pitchFamily="2" charset="2"/>
                  </a:rPr>
                  <a:t>approximated</a:t>
                </a:r>
                <a:r>
                  <a:rPr lang="zh-CN" altLang="en-US" dirty="0">
                    <a:sym typeface="Symbol" pitchFamily="2" charset="2"/>
                  </a:rPr>
                  <a:t> </a:t>
                </a:r>
                <a:r>
                  <a:rPr lang="en-US" altLang="zh-CN" dirty="0">
                    <a:sym typeface="Symbol" pitchFamily="2" charset="2"/>
                  </a:rPr>
                  <a:t>by</a:t>
                </a:r>
                <a:r>
                  <a:rPr lang="zh-CN" altLang="en-US" dirty="0">
                    <a:sym typeface="Symbol" pitchFamily="2" charset="2"/>
                  </a:rPr>
                  <a:t> </a:t>
                </a:r>
                <a:r>
                  <a:rPr lang="en-US" altLang="zh-CN" dirty="0">
                    <a:sym typeface="Symbol" pitchFamily="2" charset="2"/>
                  </a:rPr>
                  <a:t>normal</a:t>
                </a:r>
                <a:r>
                  <a:rPr lang="zh-CN" altLang="en-US" dirty="0">
                    <a:sym typeface="Symbol" pitchFamily="2" charset="2"/>
                  </a:rPr>
                  <a:t> </a:t>
                </a:r>
                <a:r>
                  <a:rPr lang="en-US" altLang="zh-CN" dirty="0">
                    <a:sym typeface="Symbol" pitchFamily="2" charset="2"/>
                  </a:rPr>
                  <a:t>distribution</a:t>
                </a:r>
                <a:r>
                  <a:rPr lang="zh-CN" altLang="en-US" dirty="0">
                    <a:sym typeface="Symbol" pitchFamily="2" charset="2"/>
                  </a:rPr>
                  <a:t> </a:t>
                </a:r>
                <a:r>
                  <a:rPr lang="en-US" altLang="zh-CN" dirty="0">
                    <a:sym typeface="Symbol" pitchFamily="2" charset="2"/>
                  </a:rPr>
                  <a:t>if</a:t>
                </a:r>
                <a:r>
                  <a:rPr lang="zh-CN" altLang="en-US" dirty="0">
                    <a:sym typeface="Symbol" pitchFamily="2" charset="2"/>
                  </a:rPr>
                  <a:t> </a:t>
                </a:r>
                <a14:m>
                  <m:oMath xmlns:m="http://schemas.openxmlformats.org/officeDocument/2006/math">
                    <m:r>
                      <a:rPr lang="en-US" altLang="en-US" i="1">
                        <a:latin typeface="Cambria Math" panose="02040503050406030204" pitchFamily="18" charset="0"/>
                        <a:sym typeface="Symbol" pitchFamily="2" charset="2"/>
                      </a:rPr>
                      <m:t>𝑛𝑝</m:t>
                    </m:r>
                    <m:r>
                      <a:rPr lang="en-US" altLang="en-US" i="1">
                        <a:latin typeface="Cambria Math" panose="02040503050406030204" pitchFamily="18" charset="0"/>
                        <a:ea typeface="Cambria Math" panose="02040503050406030204" pitchFamily="18" charset="0"/>
                        <a:sym typeface="Symbol" pitchFamily="2" charset="2"/>
                      </a:rPr>
                      <m:t>≥10,</m:t>
                    </m:r>
                    <m:r>
                      <a:rPr lang="en-US" altLang="en-US" i="1">
                        <a:latin typeface="Cambria Math" panose="02040503050406030204" pitchFamily="18" charset="0"/>
                        <a:ea typeface="Cambria Math" panose="02040503050406030204" pitchFamily="18" charset="0"/>
                        <a:sym typeface="Symbol" pitchFamily="2" charset="2"/>
                      </a:rPr>
                      <m:t>𝑛𝑞</m:t>
                    </m:r>
                    <m:r>
                      <a:rPr lang="en-US" altLang="en-US" i="1">
                        <a:latin typeface="Cambria Math" panose="02040503050406030204" pitchFamily="18" charset="0"/>
                        <a:ea typeface="Cambria Math" panose="02040503050406030204" pitchFamily="18" charset="0"/>
                        <a:sym typeface="Symbol" pitchFamily="2" charset="2"/>
                      </a:rPr>
                      <m:t>≥10</m:t>
                    </m:r>
                  </m:oMath>
                </a14:m>
                <a:endParaRPr lang="en-US" altLang="en-US" dirty="0">
                  <a:sym typeface="Symbol" pitchFamily="2" charset="2"/>
                </a:endParaRPr>
              </a:p>
              <a:p>
                <a:pPr lvl="1">
                  <a:tabLst>
                    <a:tab pos="457200" algn="l"/>
                    <a:tab pos="1371600" algn="l"/>
                    <a:tab pos="1547813" algn="l"/>
                  </a:tabLst>
                </a:pPr>
                <a14:m>
                  <m:oMath xmlns:m="http://schemas.openxmlformats.org/officeDocument/2006/math">
                    <m:r>
                      <a:rPr lang="en-US" altLang="en-US" i="1" dirty="0">
                        <a:latin typeface="Cambria Math" panose="02040503050406030204" pitchFamily="18" charset="0"/>
                        <a:sym typeface="Symbol" pitchFamily="2" charset="2"/>
                      </a:rPr>
                      <m:t>𝑋</m:t>
                    </m:r>
                  </m:oMath>
                </a14:m>
                <a:r>
                  <a:rPr lang="zh-CN" altLang="en-US" dirty="0">
                    <a:sym typeface="Symbol" pitchFamily="2" charset="2"/>
                  </a:rPr>
                  <a:t> </a:t>
                </a:r>
                <a:r>
                  <a:rPr lang="en-US" altLang="zh-CN" dirty="0">
                    <a:sym typeface="Symbol" pitchFamily="2" charset="2"/>
                  </a:rPr>
                  <a:t>can</a:t>
                </a:r>
                <a:r>
                  <a:rPr lang="zh-CN" altLang="en-US" dirty="0">
                    <a:sym typeface="Symbol" pitchFamily="2" charset="2"/>
                  </a:rPr>
                  <a:t> </a:t>
                </a:r>
                <a:r>
                  <a:rPr lang="en-US" altLang="zh-CN" dirty="0">
                    <a:sym typeface="Symbol" pitchFamily="2" charset="2"/>
                  </a:rPr>
                  <a:t>be</a:t>
                </a:r>
                <a:r>
                  <a:rPr lang="zh-CN" altLang="en-US" dirty="0">
                    <a:sym typeface="Symbol" pitchFamily="2" charset="2"/>
                  </a:rPr>
                  <a:t> </a:t>
                </a:r>
                <a:r>
                  <a:rPr lang="en-US" altLang="zh-CN" dirty="0">
                    <a:sym typeface="Symbol" pitchFamily="2" charset="2"/>
                  </a:rPr>
                  <a:t>approximated</a:t>
                </a:r>
                <a:r>
                  <a:rPr lang="zh-CN" altLang="en-US" dirty="0">
                    <a:sym typeface="Symbol" pitchFamily="2" charset="2"/>
                  </a:rPr>
                  <a:t> </a:t>
                </a:r>
                <a:r>
                  <a:rPr lang="en-US" altLang="zh-CN" dirty="0">
                    <a:sym typeface="Symbol" pitchFamily="2" charset="2"/>
                  </a:rPr>
                  <a:t>by</a:t>
                </a:r>
                <a:r>
                  <a:rPr lang="zh-CN" altLang="en-US" dirty="0">
                    <a:sym typeface="Symbol" pitchFamily="2" charset="2"/>
                  </a:rPr>
                  <a:t> </a:t>
                </a:r>
                <a:r>
                  <a:rPr lang="en-US" altLang="zh-CN" dirty="0">
                    <a:sym typeface="Symbol" pitchFamily="2" charset="2"/>
                  </a:rPr>
                  <a:t>normal</a:t>
                </a:r>
                <a:r>
                  <a:rPr lang="zh-CN" altLang="en-US" dirty="0">
                    <a:sym typeface="Symbol" pitchFamily="2" charset="2"/>
                  </a:rPr>
                  <a:t> </a:t>
                </a:r>
                <a:r>
                  <a:rPr lang="en-US" altLang="zh-CN" dirty="0">
                    <a:sym typeface="Symbol" pitchFamily="2" charset="2"/>
                  </a:rPr>
                  <a:t>distribution</a:t>
                </a:r>
                <a:r>
                  <a:rPr lang="zh-CN" altLang="en-US" dirty="0">
                    <a:sym typeface="Symbol" pitchFamily="2" charset="2"/>
                  </a:rPr>
                  <a:t> </a:t>
                </a:r>
                <a:r>
                  <a:rPr lang="en-US" altLang="zh-CN" dirty="0">
                    <a:sym typeface="Symbol" pitchFamily="2" charset="2"/>
                  </a:rPr>
                  <a:t>with</a:t>
                </a:r>
                <a:r>
                  <a:rPr lang="zh-CN" altLang="en-US" dirty="0">
                    <a:sym typeface="Symbol" pitchFamily="2" charset="2"/>
                  </a:rPr>
                  <a:t> </a:t>
                </a:r>
                <a14:m>
                  <m:oMath xmlns:m="http://schemas.openxmlformats.org/officeDocument/2006/math">
                    <m:r>
                      <a:rPr lang="en-US" altLang="en-US" i="1">
                        <a:latin typeface="Cambria Math" panose="02040503050406030204" pitchFamily="18" charset="0"/>
                        <a:sym typeface="Symbol" pitchFamily="2" charset="2"/>
                      </a:rPr>
                      <m:t>𝜇</m:t>
                    </m:r>
                    <m:r>
                      <a:rPr lang="en-US" altLang="en-US" i="1">
                        <a:latin typeface="Cambria Math" panose="02040503050406030204" pitchFamily="18" charset="0"/>
                        <a:sym typeface="Symbol" pitchFamily="2" charset="2"/>
                      </a:rPr>
                      <m:t>=</m:t>
                    </m:r>
                    <m:r>
                      <a:rPr lang="en-US" altLang="en-US" i="1">
                        <a:latin typeface="Cambria Math" panose="02040503050406030204" pitchFamily="18" charset="0"/>
                        <a:sym typeface="Symbol" pitchFamily="2" charset="2"/>
                      </a:rPr>
                      <m:t>𝑛𝑝</m:t>
                    </m:r>
                    <m:r>
                      <a:rPr lang="en-US" altLang="en-US" i="1">
                        <a:latin typeface="Cambria Math" panose="02040503050406030204" pitchFamily="18" charset="0"/>
                        <a:sym typeface="Symbol" pitchFamily="2" charset="2"/>
                      </a:rPr>
                      <m:t>, </m:t>
                    </m:r>
                    <m:r>
                      <a:rPr lang="en-US" altLang="en-US" i="1">
                        <a:latin typeface="Cambria Math" panose="02040503050406030204" pitchFamily="18" charset="0"/>
                        <a:sym typeface="Symbol" pitchFamily="2" charset="2"/>
                      </a:rPr>
                      <m:t>𝜎</m:t>
                    </m:r>
                    <m:r>
                      <a:rPr lang="en-US" altLang="en-US" i="1">
                        <a:latin typeface="Cambria Math" panose="02040503050406030204" pitchFamily="18" charset="0"/>
                        <a:sym typeface="Symbol" pitchFamily="2" charset="2"/>
                      </a:rPr>
                      <m:t>=</m:t>
                    </m:r>
                    <m:rad>
                      <m:radPr>
                        <m:degHide m:val="on"/>
                        <m:ctrlPr>
                          <a:rPr lang="en-US" altLang="en-US" i="1">
                            <a:latin typeface="Cambria Math" panose="02040503050406030204" pitchFamily="18" charset="0"/>
                            <a:sym typeface="Symbol" pitchFamily="2" charset="2"/>
                          </a:rPr>
                        </m:ctrlPr>
                      </m:radPr>
                      <m:deg/>
                      <m:e>
                        <m:r>
                          <a:rPr lang="en-US" altLang="en-US" i="1">
                            <a:latin typeface="Cambria Math" panose="02040503050406030204" pitchFamily="18" charset="0"/>
                            <a:sym typeface="Symbol" pitchFamily="2" charset="2"/>
                          </a:rPr>
                          <m:t>𝑛𝑝𝑞</m:t>
                        </m:r>
                      </m:e>
                    </m:rad>
                  </m:oMath>
                </a14:m>
                <a:endParaRPr lang="en-US" altLang="en-US" dirty="0">
                  <a:sym typeface="Symbol" pitchFamily="2" charset="2"/>
                </a:endParaRPr>
              </a:p>
              <a:p>
                <a:pPr marL="457200" lvl="1" indent="0">
                  <a:buNone/>
                  <a:tabLst>
                    <a:tab pos="457200" algn="l"/>
                    <a:tab pos="1371600" algn="l"/>
                    <a:tab pos="1547813" algn="l"/>
                  </a:tabLst>
                </a:pPr>
                <a:endParaRPr lang="en-US" altLang="en-US" dirty="0">
                  <a:sym typeface="Symbol" pitchFamily="2" charset="2"/>
                </a:endParaRPr>
              </a:p>
              <a:p>
                <a:pPr>
                  <a:tabLst>
                    <a:tab pos="457200" algn="l"/>
                    <a:tab pos="1371600" algn="l"/>
                    <a:tab pos="1547813" algn="l"/>
                  </a:tabLst>
                </a:pPr>
                <a:r>
                  <a:rPr lang="en-US" dirty="0"/>
                  <a:t>Continuity correction</a:t>
                </a:r>
                <a:r>
                  <a:rPr lang="zh-CN" altLang="en-US" dirty="0"/>
                  <a:t> </a:t>
                </a:r>
                <a:r>
                  <a:rPr lang="en-US" altLang="zh-CN" dirty="0"/>
                  <a:t>for</a:t>
                </a:r>
                <a:r>
                  <a:rPr lang="zh-CN" altLang="en-US" dirty="0"/>
                  <a:t> </a:t>
                </a:r>
                <a:r>
                  <a:rPr lang="en-US" altLang="zh-CN" dirty="0"/>
                  <a:t>CDF</a:t>
                </a:r>
                <a:endParaRPr lang="en-US" altLang="en-US" dirty="0">
                  <a:sym typeface="Symbol" pitchFamily="2" charset="2"/>
                </a:endParaRPr>
              </a:p>
              <a:p>
                <a:pPr lvl="1">
                  <a:tabLst>
                    <a:tab pos="457200" algn="l"/>
                    <a:tab pos="1371600" algn="l"/>
                    <a:tab pos="1547813" algn="l"/>
                  </a:tabLst>
                </a:pPr>
                <a:r>
                  <a:rPr lang="en-US" altLang="en-US" dirty="0">
                    <a:sym typeface="Symbol" pitchFamily="2" charset="2"/>
                  </a:rPr>
                  <a:t>For an integer </a:t>
                </a:r>
                <a14:m>
                  <m:oMath xmlns:m="http://schemas.openxmlformats.org/officeDocument/2006/math">
                    <m:r>
                      <a:rPr lang="en-US" altLang="zh-CN" b="0" i="1" smtClean="0">
                        <a:latin typeface="Cambria Math" panose="02040503050406030204" pitchFamily="18" charset="0"/>
                        <a:sym typeface="Symbol" pitchFamily="2" charset="2"/>
                      </a:rPr>
                      <m:t>𝑎</m:t>
                    </m:r>
                  </m:oMath>
                </a14:m>
                <a:endParaRPr lang="en-US" altLang="en-US" dirty="0">
                  <a:sym typeface="Symbol" pitchFamily="2" charset="2"/>
                </a:endParaRPr>
              </a:p>
              <a:p>
                <a:pPr marL="0" indent="0">
                  <a:buNone/>
                  <a:tabLst>
                    <a:tab pos="457200" algn="l"/>
                    <a:tab pos="1371600" algn="l"/>
                    <a:tab pos="1547813" algn="l"/>
                  </a:tabLst>
                </a:pPr>
                <a14:m>
                  <m:oMathPara xmlns:m="http://schemas.openxmlformats.org/officeDocument/2006/math">
                    <m:oMathParaPr>
                      <m:jc m:val="centerGroup"/>
                    </m:oMathParaPr>
                    <m:oMath xmlns:m="http://schemas.openxmlformats.org/officeDocument/2006/math">
                      <m:r>
                        <a:rPr lang="en-US" altLang="en-US" b="0" i="1" smtClean="0">
                          <a:latin typeface="Cambria Math" panose="02040503050406030204" pitchFamily="18" charset="0"/>
                          <a:sym typeface="Symbol" pitchFamily="2" charset="2"/>
                        </a:rPr>
                        <m:t>𝑃</m:t>
                      </m:r>
                      <m:r>
                        <a:rPr lang="en-US" altLang="en-US" b="0" i="1" smtClean="0">
                          <a:latin typeface="Cambria Math" panose="02040503050406030204" pitchFamily="18" charset="0"/>
                          <a:sym typeface="Symbol" pitchFamily="2" charset="2"/>
                        </a:rPr>
                        <m:t>(</m:t>
                      </m:r>
                      <m:r>
                        <a:rPr lang="en-US" altLang="en-US" b="0" i="1" smtClean="0">
                          <a:latin typeface="Cambria Math" panose="02040503050406030204" pitchFamily="18" charset="0"/>
                          <a:sym typeface="Symbol" pitchFamily="2" charset="2"/>
                        </a:rPr>
                        <m:t>𝑋</m:t>
                      </m:r>
                      <m:r>
                        <a:rPr lang="en-US" altLang="en-US" b="0" i="1" smtClean="0">
                          <a:latin typeface="Cambria Math" panose="02040503050406030204" pitchFamily="18" charset="0"/>
                          <a:ea typeface="Cambria Math" panose="02040503050406030204" pitchFamily="18" charset="0"/>
                          <a:sym typeface="Symbol" pitchFamily="2" charset="2"/>
                        </a:rPr>
                        <m:t>≤</m:t>
                      </m:r>
                      <m:r>
                        <a:rPr lang="en-US" altLang="zh-CN" b="0" i="1" smtClean="0">
                          <a:latin typeface="Cambria Math" panose="02040503050406030204" pitchFamily="18" charset="0"/>
                          <a:ea typeface="Cambria Math" panose="02040503050406030204" pitchFamily="18" charset="0"/>
                          <a:sym typeface="Symbol" pitchFamily="2" charset="2"/>
                        </a:rPr>
                        <m:t>𝑎</m:t>
                      </m:r>
                      <m:r>
                        <a:rPr lang="en-US" altLang="en-US" b="0" i="1" smtClean="0">
                          <a:latin typeface="Cambria Math" panose="02040503050406030204" pitchFamily="18" charset="0"/>
                          <a:sym typeface="Symbol" pitchFamily="2" charset="2"/>
                        </a:rPr>
                        <m:t>)</m:t>
                      </m:r>
                      <m:r>
                        <a:rPr lang="en-US" altLang="en-US" b="0" i="1" smtClean="0">
                          <a:latin typeface="Cambria Math" panose="02040503050406030204" pitchFamily="18" charset="0"/>
                          <a:ea typeface="Cambria Math" panose="02040503050406030204" pitchFamily="18" charset="0"/>
                          <a:sym typeface="Symbol" pitchFamily="2" charset="2"/>
                        </a:rPr>
                        <m:t>≈</m:t>
                      </m:r>
                      <m:r>
                        <a:rPr lang="en-US" altLang="en-US" b="0" i="1" smtClean="0">
                          <a:latin typeface="Cambria Math" panose="02040503050406030204" pitchFamily="18" charset="0"/>
                          <a:ea typeface="Cambria Math" panose="02040503050406030204" pitchFamily="18" charset="0"/>
                          <a:sym typeface="Symbol" pitchFamily="2" charset="2"/>
                        </a:rPr>
                        <m:t>𝜙</m:t>
                      </m:r>
                      <m:r>
                        <a:rPr lang="en-US" altLang="en-US" b="0" i="1" smtClean="0">
                          <a:latin typeface="Cambria Math" panose="02040503050406030204" pitchFamily="18" charset="0"/>
                          <a:ea typeface="Cambria Math" panose="02040503050406030204" pitchFamily="18" charset="0"/>
                          <a:sym typeface="Symbol" pitchFamily="2" charset="2"/>
                        </a:rPr>
                        <m:t>(</m:t>
                      </m:r>
                      <m:f>
                        <m:fPr>
                          <m:ctrlPr>
                            <a:rPr lang="en-US" altLang="en-US" b="0" i="1" smtClean="0">
                              <a:latin typeface="Cambria Math" panose="02040503050406030204" pitchFamily="18" charset="0"/>
                              <a:ea typeface="Cambria Math" panose="02040503050406030204" pitchFamily="18" charset="0"/>
                              <a:sym typeface="Symbol" pitchFamily="2" charset="2"/>
                            </a:rPr>
                          </m:ctrlPr>
                        </m:fPr>
                        <m:num>
                          <m:r>
                            <a:rPr lang="en-US" altLang="zh-CN" b="0" i="1" smtClean="0">
                              <a:latin typeface="Cambria Math" panose="02040503050406030204" pitchFamily="18" charset="0"/>
                              <a:ea typeface="Cambria Math" panose="02040503050406030204" pitchFamily="18" charset="0"/>
                              <a:sym typeface="Symbol" pitchFamily="2" charset="2"/>
                            </a:rPr>
                            <m:t>𝑎</m:t>
                          </m:r>
                          <m:r>
                            <a:rPr lang="en-US" altLang="en-US" b="0" i="1" smtClean="0">
                              <a:latin typeface="Cambria Math" panose="02040503050406030204" pitchFamily="18" charset="0"/>
                              <a:ea typeface="Cambria Math" panose="02040503050406030204" pitchFamily="18" charset="0"/>
                              <a:sym typeface="Symbol" pitchFamily="2" charset="2"/>
                            </a:rPr>
                            <m:t>+0.5−</m:t>
                          </m:r>
                          <m:r>
                            <a:rPr lang="en-US" altLang="en-US" b="0" i="1" smtClean="0">
                              <a:latin typeface="Cambria Math" panose="02040503050406030204" pitchFamily="18" charset="0"/>
                              <a:ea typeface="Cambria Math" panose="02040503050406030204" pitchFamily="18" charset="0"/>
                              <a:sym typeface="Symbol" pitchFamily="2" charset="2"/>
                            </a:rPr>
                            <m:t>𝑛𝑝</m:t>
                          </m:r>
                        </m:num>
                        <m:den>
                          <m:rad>
                            <m:radPr>
                              <m:degHide m:val="on"/>
                              <m:ctrlPr>
                                <a:rPr lang="en-US" altLang="en-US" b="0" i="1" smtClean="0">
                                  <a:latin typeface="Cambria Math" panose="02040503050406030204" pitchFamily="18" charset="0"/>
                                  <a:ea typeface="Cambria Math" panose="02040503050406030204" pitchFamily="18" charset="0"/>
                                  <a:sym typeface="Symbol" pitchFamily="2" charset="2"/>
                                </a:rPr>
                              </m:ctrlPr>
                            </m:radPr>
                            <m:deg/>
                            <m:e>
                              <m:r>
                                <a:rPr lang="en-US" altLang="en-US" b="0" i="1" smtClean="0">
                                  <a:latin typeface="Cambria Math" panose="02040503050406030204" pitchFamily="18" charset="0"/>
                                  <a:ea typeface="Cambria Math" panose="02040503050406030204" pitchFamily="18" charset="0"/>
                                  <a:sym typeface="Symbol" pitchFamily="2" charset="2"/>
                                </a:rPr>
                                <m:t>𝑛𝑝𝑞</m:t>
                              </m:r>
                            </m:e>
                          </m:rad>
                        </m:den>
                      </m:f>
                      <m:r>
                        <a:rPr lang="en-US" altLang="en-US" b="0" i="1" smtClean="0">
                          <a:latin typeface="Cambria Math" panose="02040503050406030204" pitchFamily="18" charset="0"/>
                          <a:ea typeface="Cambria Math" panose="02040503050406030204" pitchFamily="18" charset="0"/>
                          <a:sym typeface="Symbol" pitchFamily="2" charset="2"/>
                        </a:rPr>
                        <m:t>)</m:t>
                      </m:r>
                    </m:oMath>
                  </m:oMathPara>
                </a14:m>
                <a:endParaRPr lang="en-US" altLang="en-US" dirty="0">
                  <a:sym typeface="Symbol" pitchFamily="2" charset="2"/>
                </a:endParaRPr>
              </a:p>
              <a:p>
                <a:pPr lvl="1"/>
                <a:r>
                  <a:rPr lang="en-US" dirty="0"/>
                  <a:t>For integers </a:t>
                </a:r>
                <a14:m>
                  <m:oMath xmlns:m="http://schemas.openxmlformats.org/officeDocument/2006/math">
                    <m:r>
                      <a:rPr lang="en-US" b="0" i="1" dirty="0" smtClean="0">
                        <a:latin typeface="Cambria Math" panose="02040503050406030204" pitchFamily="18" charset="0"/>
                      </a:rPr>
                      <m:t>𝑎</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𝑏</m:t>
                    </m:r>
                  </m:oMath>
                </a14:m>
                <a:r>
                  <a:rPr lang="en-US" dirty="0"/>
                  <a:t>, apply the correction to </a:t>
                </a:r>
                <a:r>
                  <a:rPr lang="en-US" b="1" dirty="0"/>
                  <a:t>both boundaries</a:t>
                </a:r>
                <a:r>
                  <a:rPr lang="en-US" dirty="0"/>
                  <a: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𝜙</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+0.5−</m:t>
                              </m:r>
                              <m:r>
                                <a:rPr lang="en-US" b="0" i="1" smtClean="0">
                                  <a:latin typeface="Cambria Math" panose="02040503050406030204" pitchFamily="18" charset="0"/>
                                  <a:ea typeface="Cambria Math" panose="02040503050406030204" pitchFamily="18" charset="0"/>
                                </a:rPr>
                                <m:t>𝑛𝑝</m:t>
                              </m:r>
                            </m:num>
                            <m:den>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𝑛𝑝𝑞</m:t>
                                  </m:r>
                                </m:e>
                              </m:rad>
                            </m:den>
                          </m:f>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−0.5−</m:t>
                          </m:r>
                          <m:r>
                            <a:rPr lang="en-US" b="0" i="1" smtClean="0">
                              <a:latin typeface="Cambria Math" panose="02040503050406030204" pitchFamily="18" charset="0"/>
                              <a:ea typeface="Cambria Math" panose="02040503050406030204" pitchFamily="18" charset="0"/>
                            </a:rPr>
                            <m:t>𝑛𝑝</m:t>
                          </m:r>
                        </m:num>
                        <m:den>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𝑛𝑝𝑞</m:t>
                              </m:r>
                            </m:e>
                          </m:rad>
                        </m:den>
                      </m:f>
                      <m:r>
                        <a:rPr lang="en-US" b="0" i="1" smtClean="0">
                          <a:latin typeface="Cambria Math" panose="02040503050406030204" pitchFamily="18" charset="0"/>
                          <a:ea typeface="Cambria Math" panose="02040503050406030204" pitchFamily="18" charset="0"/>
                        </a:rPr>
                        <m:t>)</m:t>
                      </m:r>
                    </m:oMath>
                  </m:oMathPara>
                </a14:m>
                <a:endParaRPr lang="en-US" dirty="0"/>
              </a:p>
              <a:p>
                <a:endParaRPr lang="en-US" dirty="0"/>
              </a:p>
            </p:txBody>
          </p:sp>
        </mc:Choice>
        <mc:Fallback>
          <p:sp>
            <p:nvSpPr>
              <p:cNvPr id="186371" name="Rectangle 3">
                <a:extLst>
                  <a:ext uri="{FF2B5EF4-FFF2-40B4-BE49-F238E27FC236}">
                    <a16:creationId xmlns:a16="http://schemas.microsoft.com/office/drawing/2014/main" id="{9F39037C-15BB-D3FF-3534-72E5717FDFCB}"/>
                  </a:ext>
                </a:extLst>
              </p:cNvPr>
              <p:cNvSpPr>
                <a:spLocks noGrp="1" noRot="1" noChangeAspect="1" noMove="1" noResize="1" noEditPoints="1" noAdjustHandles="1" noChangeArrowheads="1" noChangeShapeType="1" noTextEdit="1"/>
              </p:cNvSpPr>
              <p:nvPr>
                <p:ph type="body" idx="1"/>
              </p:nvPr>
            </p:nvSpPr>
            <p:spPr>
              <a:xfrm>
                <a:off x="224556" y="1423450"/>
                <a:ext cx="10515600" cy="5317383"/>
              </a:xfrm>
              <a:blipFill>
                <a:blip r:embed="rId2"/>
                <a:stretch>
                  <a:fillRect l="-1206" t="-1909"/>
                </a:stretch>
              </a:blipFill>
            </p:spPr>
            <p:txBody>
              <a:bodyPr/>
              <a:lstStyle/>
              <a:p>
                <a:r>
                  <a:rPr 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2D381C80-D413-9A4B-E5E7-610EB463E7B9}"/>
              </a:ext>
            </a:extLst>
          </p:cNvPr>
          <p:cNvSpPr>
            <a:spLocks noGrp="1" noChangeArrowheads="1"/>
          </p:cNvSpPr>
          <p:nvPr>
            <p:ph type="title"/>
          </p:nvPr>
        </p:nvSpPr>
        <p:spPr>
          <a:xfrm>
            <a:off x="142504" y="117167"/>
            <a:ext cx="11655244" cy="1325563"/>
          </a:xfrm>
          <a:noFill/>
        </p:spPr>
        <p:txBody>
          <a:bodyPr/>
          <a:lstStyle/>
          <a:p>
            <a:r>
              <a:rPr lang="en-US" dirty="0"/>
              <a:t>Example: Normal Approximation to the Binomial</a:t>
            </a:r>
            <a:endParaRPr lang="en-US" altLang="en-US" dirty="0"/>
          </a:p>
        </p:txBody>
      </p:sp>
      <mc:AlternateContent xmlns:mc="http://schemas.openxmlformats.org/markup-compatibility/2006">
        <mc:Choice xmlns:a14="http://schemas.microsoft.com/office/drawing/2010/main" Requires="a14">
          <p:sp>
            <p:nvSpPr>
              <p:cNvPr id="188419" name="Rectangle 3">
                <a:extLst>
                  <a:ext uri="{FF2B5EF4-FFF2-40B4-BE49-F238E27FC236}">
                    <a16:creationId xmlns:a16="http://schemas.microsoft.com/office/drawing/2014/main" id="{7F89FEBB-61FE-146C-AEE8-284B2A008F20}"/>
                  </a:ext>
                </a:extLst>
              </p:cNvPr>
              <p:cNvSpPr>
                <a:spLocks noGrp="1" noChangeArrowheads="1"/>
              </p:cNvSpPr>
              <p:nvPr>
                <p:ph type="body" idx="1"/>
              </p:nvPr>
            </p:nvSpPr>
            <p:spPr>
              <a:noFill/>
            </p:spPr>
            <p:txBody>
              <a:bodyPr>
                <a:normAutofit/>
              </a:bodyPr>
              <a:lstStyle/>
              <a:p>
                <a:pPr marL="0" indent="0">
                  <a:buNone/>
                  <a:tabLst>
                    <a:tab pos="457200" algn="l"/>
                    <a:tab pos="1371600" algn="l"/>
                    <a:tab pos="1547813" algn="l"/>
                  </a:tabLst>
                </a:pPr>
                <a:r>
                  <a:rPr lang="en-US" dirty="0"/>
                  <a:t>Let </a:t>
                </a:r>
                <a14:m>
                  <m:oMath xmlns:m="http://schemas.openxmlformats.org/officeDocument/2006/math">
                    <m:r>
                      <a:rPr lang="en-US" altLang="en-US" i="1" dirty="0">
                        <a:latin typeface="Cambria Math" panose="02040503050406030204" pitchFamily="18" charset="0"/>
                        <a:sym typeface="Symbol" pitchFamily="2" charset="2"/>
                      </a:rPr>
                      <m:t>𝑋</m:t>
                    </m:r>
                  </m:oMath>
                </a14:m>
                <a:r>
                  <a:rPr lang="zh-CN" altLang="en-US" dirty="0"/>
                  <a:t> </a:t>
                </a:r>
                <a:r>
                  <a:rPr lang="en-US" dirty="0"/>
                  <a:t>be the number of students receiving aid among 50 independently selected students, each with probability </a:t>
                </a:r>
                <a:r>
                  <a:rPr lang="en-US" altLang="zh-CN" dirty="0"/>
                  <a:t>0.25</a:t>
                </a:r>
                <a:r>
                  <a:rPr lang="zh-CN" altLang="en-US" dirty="0"/>
                  <a:t> </a:t>
                </a:r>
                <a:r>
                  <a:rPr lang="en-US" dirty="0"/>
                  <a:t>of receiving aid. Then</a:t>
                </a:r>
                <a:endParaRPr lang="en-US" altLang="en-US" dirty="0">
                  <a:sym typeface="Symbol" pitchFamily="2" charset="2"/>
                </a:endParaRPr>
              </a:p>
              <a:p>
                <a:pPr marL="0" indent="0">
                  <a:buNone/>
                  <a:tabLst>
                    <a:tab pos="457200" algn="l"/>
                    <a:tab pos="1371600" algn="l"/>
                    <a:tab pos="1547813" algn="l"/>
                  </a:tabLst>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sym typeface="Symbol" pitchFamily="2" charset="2"/>
                        </a:rPr>
                        <m:t>𝑋</m:t>
                      </m:r>
                      <m:r>
                        <a:rPr lang="en-US" altLang="zh-CN" b="0" i="1" smtClean="0">
                          <a:latin typeface="Cambria Math" panose="02040503050406030204" pitchFamily="18" charset="0"/>
                          <a:sym typeface="Symbol" pitchFamily="2" charset="2"/>
                        </a:rPr>
                        <m:t>~</m:t>
                      </m:r>
                      <m:r>
                        <a:rPr lang="en-US" altLang="zh-CN" b="0" i="1" smtClean="0">
                          <a:latin typeface="Cambria Math" panose="02040503050406030204" pitchFamily="18" charset="0"/>
                          <a:sym typeface="Symbol" pitchFamily="2" charset="2"/>
                        </a:rPr>
                        <m:t>𝐵𝑖𝑛</m:t>
                      </m:r>
                      <m:r>
                        <a:rPr lang="en-US" altLang="zh-CN" b="0" i="1" smtClean="0">
                          <a:latin typeface="Cambria Math" panose="02040503050406030204" pitchFamily="18" charset="0"/>
                          <a:sym typeface="Symbol" pitchFamily="2" charset="2"/>
                        </a:rPr>
                        <m:t>(50,0.25)</m:t>
                      </m:r>
                    </m:oMath>
                  </m:oMathPara>
                </a14:m>
                <a:endParaRPr lang="en-US" altLang="en-US" dirty="0">
                  <a:sym typeface="Symbol" pitchFamily="2" charset="2"/>
                </a:endParaRPr>
              </a:p>
              <a:p>
                <a:pPr marL="0" indent="0">
                  <a:buNone/>
                  <a:tabLst>
                    <a:tab pos="457200" algn="l"/>
                    <a:tab pos="1371600" algn="l"/>
                    <a:tab pos="1547813" algn="l"/>
                  </a:tabLst>
                </a:pPr>
                <a:endParaRPr lang="en-US" altLang="zh-CN" i="1" dirty="0">
                  <a:latin typeface="Cambria Math" panose="02040503050406030204" pitchFamily="18" charset="0"/>
                  <a:sym typeface="Symbol" pitchFamily="2" charset="2"/>
                </a:endParaRPr>
              </a:p>
              <a:p>
                <a:pPr marL="0" indent="0">
                  <a:buNone/>
                  <a:tabLst>
                    <a:tab pos="457200" algn="l"/>
                    <a:tab pos="1371600" algn="l"/>
                    <a:tab pos="1547813" algn="l"/>
                  </a:tabLst>
                </a:pPr>
                <a14:m>
                  <m:oMath xmlns:m="http://schemas.openxmlformats.org/officeDocument/2006/math">
                    <m:r>
                      <a:rPr lang="en-US" altLang="zh-CN" i="1">
                        <a:latin typeface="Cambria Math" panose="02040503050406030204" pitchFamily="18" charset="0"/>
                        <a:sym typeface="Symbol" pitchFamily="2" charset="2"/>
                      </a:rPr>
                      <m:t>𝑋</m:t>
                    </m:r>
                  </m:oMath>
                </a14:m>
                <a:r>
                  <a:rPr lang="zh-CN" altLang="en-US" dirty="0">
                    <a:sym typeface="Symbol" pitchFamily="2" charset="2"/>
                  </a:rPr>
                  <a:t> </a:t>
                </a:r>
                <a:r>
                  <a:rPr lang="en-US" altLang="zh-CN" dirty="0">
                    <a:sym typeface="Symbol" pitchFamily="2" charset="2"/>
                  </a:rPr>
                  <a:t>can</a:t>
                </a:r>
                <a:r>
                  <a:rPr lang="zh-CN" altLang="en-US" dirty="0">
                    <a:sym typeface="Symbol" pitchFamily="2" charset="2"/>
                  </a:rPr>
                  <a:t> </a:t>
                </a:r>
                <a:r>
                  <a:rPr lang="en-US" altLang="zh-CN" dirty="0">
                    <a:sym typeface="Symbol" pitchFamily="2" charset="2"/>
                  </a:rPr>
                  <a:t>be</a:t>
                </a:r>
                <a:r>
                  <a:rPr lang="zh-CN" altLang="en-US" dirty="0">
                    <a:sym typeface="Symbol" pitchFamily="2" charset="2"/>
                  </a:rPr>
                  <a:t> </a:t>
                </a:r>
                <a:r>
                  <a:rPr lang="en-US" altLang="zh-CN" dirty="0">
                    <a:sym typeface="Symbol" pitchFamily="2" charset="2"/>
                  </a:rPr>
                  <a:t>approximated</a:t>
                </a:r>
                <a:r>
                  <a:rPr lang="zh-CN" altLang="en-US" dirty="0">
                    <a:sym typeface="Symbol" pitchFamily="2" charset="2"/>
                  </a:rPr>
                  <a:t> </a:t>
                </a:r>
                <a:r>
                  <a:rPr lang="en-US" altLang="zh-CN" dirty="0">
                    <a:sym typeface="Symbol" pitchFamily="2" charset="2"/>
                  </a:rPr>
                  <a:t>by</a:t>
                </a:r>
                <a:r>
                  <a:rPr lang="zh-CN" altLang="en-US" dirty="0">
                    <a:sym typeface="Symbol" pitchFamily="2" charset="2"/>
                  </a:rPr>
                  <a:t> </a:t>
                </a:r>
                <a:r>
                  <a:rPr lang="en-US" altLang="zh-CN" dirty="0">
                    <a:sym typeface="Symbol" pitchFamily="2" charset="2"/>
                  </a:rPr>
                  <a:t>normal</a:t>
                </a:r>
                <a:r>
                  <a:rPr lang="zh-CN" altLang="en-US" dirty="0">
                    <a:sym typeface="Symbol" pitchFamily="2" charset="2"/>
                  </a:rPr>
                  <a:t> </a:t>
                </a:r>
                <a:r>
                  <a:rPr lang="en-US" altLang="zh-CN" dirty="0">
                    <a:sym typeface="Symbol" pitchFamily="2" charset="2"/>
                  </a:rPr>
                  <a:t>distribution</a:t>
                </a:r>
              </a:p>
              <a:p>
                <a:pPr marL="0" indent="0">
                  <a:buNone/>
                  <a:tabLst>
                    <a:tab pos="457200" algn="l"/>
                    <a:tab pos="1371600" algn="l"/>
                    <a:tab pos="1547813" algn="l"/>
                  </a:tabLst>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sym typeface="Symbol" pitchFamily="2" charset="2"/>
                        </a:rPr>
                        <m:t>𝑋</m:t>
                      </m:r>
                      <m:r>
                        <a:rPr lang="en-US" altLang="zh-CN" b="0" i="1" smtClean="0">
                          <a:latin typeface="Cambria Math" panose="02040503050406030204" pitchFamily="18" charset="0"/>
                          <a:sym typeface="Symbol" pitchFamily="2" charset="2"/>
                        </a:rPr>
                        <m:t>~</m:t>
                      </m:r>
                      <m:r>
                        <a:rPr lang="en-US" altLang="zh-CN" b="0" i="1" smtClean="0">
                          <a:latin typeface="Cambria Math" panose="02040503050406030204" pitchFamily="18" charset="0"/>
                          <a:sym typeface="Symbol" pitchFamily="2" charset="2"/>
                        </a:rPr>
                        <m:t>𝑁</m:t>
                      </m:r>
                      <m:d>
                        <m:dPr>
                          <m:ctrlPr>
                            <a:rPr lang="en-US" altLang="zh-CN" b="0" i="1" smtClean="0">
                              <a:latin typeface="Cambria Math" panose="02040503050406030204" pitchFamily="18" charset="0"/>
                              <a:sym typeface="Symbol" pitchFamily="2" charset="2"/>
                            </a:rPr>
                          </m:ctrlPr>
                        </m:dPr>
                        <m:e>
                          <m:r>
                            <a:rPr lang="en-US" altLang="zh-CN" b="0" i="1" smtClean="0">
                              <a:latin typeface="Cambria Math" panose="02040503050406030204" pitchFamily="18" charset="0"/>
                              <a:sym typeface="Symbol" pitchFamily="2" charset="2"/>
                            </a:rPr>
                            <m:t>12.5,9.375</m:t>
                          </m:r>
                        </m:e>
                      </m:d>
                      <m:r>
                        <a:rPr lang="en-US" altLang="zh-CN" b="0" i="1" smtClean="0">
                          <a:latin typeface="Cambria Math" panose="02040503050406030204" pitchFamily="18" charset="0"/>
                          <a:sym typeface="Symbol" pitchFamily="2" charset="2"/>
                        </a:rPr>
                        <m:t>,</m:t>
                      </m:r>
                    </m:oMath>
                  </m:oMathPara>
                </a14:m>
                <a:endParaRPr lang="en-US" altLang="zh-CN" b="0" i="1" dirty="0">
                  <a:latin typeface="Cambria Math" panose="02040503050406030204" pitchFamily="18" charset="0"/>
                  <a:sym typeface="Symbol" pitchFamily="2" charset="2"/>
                </a:endParaRPr>
              </a:p>
              <a:p>
                <a:pPr marL="0" indent="0">
                  <a:buNone/>
                  <a:tabLst>
                    <a:tab pos="457200" algn="l"/>
                    <a:tab pos="1371600" algn="l"/>
                    <a:tab pos="1547813" algn="l"/>
                  </a:tabLst>
                </a:pPr>
                <a14:m>
                  <m:oMathPara xmlns:m="http://schemas.openxmlformats.org/officeDocument/2006/math">
                    <m:oMathParaPr>
                      <m:jc m:val="centerGroup"/>
                    </m:oMathParaPr>
                    <m:oMath xmlns:m="http://schemas.openxmlformats.org/officeDocument/2006/math">
                      <m:r>
                        <a:rPr lang="en-US" altLang="en-US" i="1" dirty="0" smtClean="0">
                          <a:latin typeface="Cambria Math" panose="02040503050406030204" pitchFamily="18" charset="0"/>
                          <a:sym typeface="Symbol" pitchFamily="2" charset="2"/>
                        </a:rPr>
                        <m:t>𝑛𝑝</m:t>
                      </m:r>
                      <m:r>
                        <a:rPr lang="en-US" altLang="en-US" i="1" dirty="0" smtClean="0">
                          <a:latin typeface="Cambria Math" panose="02040503050406030204" pitchFamily="18" charset="0"/>
                          <a:sym typeface="Symbol" pitchFamily="2" charset="2"/>
                        </a:rPr>
                        <m:t> = 12.5≥10,</m:t>
                      </m:r>
                    </m:oMath>
                  </m:oMathPara>
                </a14:m>
                <a:endParaRPr lang="en-US" altLang="en-US" dirty="0">
                  <a:sym typeface="Symbol" pitchFamily="2" charset="2"/>
                </a:endParaRPr>
              </a:p>
              <a:p>
                <a:pPr marL="0" indent="0">
                  <a:buNone/>
                  <a:tabLst>
                    <a:tab pos="457200" algn="l"/>
                    <a:tab pos="1371600" algn="l"/>
                    <a:tab pos="1547813" algn="l"/>
                  </a:tabLst>
                </a:pPr>
                <a14:m>
                  <m:oMathPara xmlns:m="http://schemas.openxmlformats.org/officeDocument/2006/math">
                    <m:oMathParaPr>
                      <m:jc m:val="centerGroup"/>
                    </m:oMathParaPr>
                    <m:oMath xmlns:m="http://schemas.openxmlformats.org/officeDocument/2006/math">
                      <m:r>
                        <a:rPr lang="en-US" altLang="en-US" i="1" dirty="0" smtClean="0">
                          <a:latin typeface="Cambria Math" panose="02040503050406030204" pitchFamily="18" charset="0"/>
                          <a:sym typeface="Symbol" pitchFamily="2" charset="2"/>
                        </a:rPr>
                        <m:t>𝑛</m:t>
                      </m:r>
                      <m:r>
                        <a:rPr lang="en-US" altLang="zh-CN" b="0" i="1" dirty="0" smtClean="0">
                          <a:latin typeface="Cambria Math" panose="02040503050406030204" pitchFamily="18" charset="0"/>
                          <a:sym typeface="Symbol" pitchFamily="2" charset="2"/>
                        </a:rPr>
                        <m:t>(1−</m:t>
                      </m:r>
                      <m:r>
                        <a:rPr lang="en-US" altLang="en-US" i="1" dirty="0" smtClean="0">
                          <a:latin typeface="Cambria Math" panose="02040503050406030204" pitchFamily="18" charset="0"/>
                          <a:sym typeface="Symbol" pitchFamily="2" charset="2"/>
                        </a:rPr>
                        <m:t>𝑝</m:t>
                      </m:r>
                      <m:r>
                        <a:rPr lang="en-US" altLang="zh-CN" b="0" i="1" dirty="0" smtClean="0">
                          <a:latin typeface="Cambria Math" panose="02040503050406030204" pitchFamily="18" charset="0"/>
                          <a:sym typeface="Symbol" pitchFamily="2" charset="2"/>
                        </a:rPr>
                        <m:t>)</m:t>
                      </m:r>
                      <m:r>
                        <a:rPr lang="en-US" altLang="en-US" i="1" dirty="0" smtClean="0">
                          <a:latin typeface="Cambria Math" panose="02040503050406030204" pitchFamily="18" charset="0"/>
                          <a:sym typeface="Symbol" pitchFamily="2" charset="2"/>
                        </a:rPr>
                        <m:t> = 37.5 </m:t>
                      </m:r>
                      <m:r>
                        <a:rPr lang="en-US" altLang="en-US" b="1" i="1" dirty="0">
                          <a:latin typeface="Cambria Math" panose="02040503050406030204" pitchFamily="18" charset="0"/>
                          <a:sym typeface="Symbol" pitchFamily="2" charset="2"/>
                        </a:rPr>
                        <m:t></m:t>
                      </m:r>
                      <m:r>
                        <a:rPr lang="en-US" altLang="en-US" i="1" dirty="0">
                          <a:latin typeface="Cambria Math" panose="02040503050406030204" pitchFamily="18" charset="0"/>
                          <a:sym typeface="Symbol" pitchFamily="2" charset="2"/>
                        </a:rPr>
                        <m:t> 10</m:t>
                      </m:r>
                    </m:oMath>
                  </m:oMathPara>
                </a14:m>
                <a:endParaRPr lang="en-US" altLang="en-US" dirty="0">
                  <a:sym typeface="Symbol" pitchFamily="2" charset="2"/>
                </a:endParaRPr>
              </a:p>
            </p:txBody>
          </p:sp>
        </mc:Choice>
        <mc:Fallback>
          <p:sp>
            <p:nvSpPr>
              <p:cNvPr id="188419" name="Rectangle 3">
                <a:extLst>
                  <a:ext uri="{FF2B5EF4-FFF2-40B4-BE49-F238E27FC236}">
                    <a16:creationId xmlns:a16="http://schemas.microsoft.com/office/drawing/2014/main" id="{7F89FEBB-61FE-146C-AEE8-284B2A008F20}"/>
                  </a:ext>
                </a:extLst>
              </p:cNvPr>
              <p:cNvSpPr>
                <a:spLocks noGrp="1" noRot="1" noChangeAspect="1" noMove="1" noResize="1" noEditPoints="1" noAdjustHandles="1" noChangeArrowheads="1" noChangeShapeType="1" noTextEdit="1"/>
              </p:cNvSpPr>
              <p:nvPr>
                <p:ph type="body" idx="1"/>
              </p:nvPr>
            </p:nvSpPr>
            <p:spPr>
              <a:blipFill>
                <a:blip r:embed="rId2"/>
                <a:stretch>
                  <a:fillRect l="-1206" t="-2326"/>
                </a:stretch>
              </a:blipFill>
            </p:spPr>
            <p:txBody>
              <a:bodyPr/>
              <a:lstStyle/>
              <a:p>
                <a:r>
                  <a:rPr 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84B415A1-36B6-3424-69A7-B05DB7F68528}"/>
              </a:ext>
            </a:extLst>
          </p:cNvPr>
          <p:cNvSpPr>
            <a:spLocks noGrp="1" noChangeArrowheads="1"/>
          </p:cNvSpPr>
          <p:nvPr>
            <p:ph type="title"/>
          </p:nvPr>
        </p:nvSpPr>
        <p:spPr>
          <a:noFill/>
        </p:spPr>
        <p:txBody>
          <a:bodyPr/>
          <a:lstStyle/>
          <a:p>
            <a:r>
              <a:rPr lang="en-US" altLang="en-US" dirty="0"/>
              <a:t>Example</a:t>
            </a:r>
          </a:p>
        </p:txBody>
      </p:sp>
      <p:sp>
        <p:nvSpPr>
          <p:cNvPr id="189443" name="Rectangle 3">
            <a:extLst>
              <a:ext uri="{FF2B5EF4-FFF2-40B4-BE49-F238E27FC236}">
                <a16:creationId xmlns:a16="http://schemas.microsoft.com/office/drawing/2014/main" id="{7C2EA5C7-D70D-152F-BE9F-AFE94A2F151F}"/>
              </a:ext>
            </a:extLst>
          </p:cNvPr>
          <p:cNvSpPr>
            <a:spLocks noGrp="1" noChangeArrowheads="1"/>
          </p:cNvSpPr>
          <p:nvPr>
            <p:ph type="body" idx="1"/>
          </p:nvPr>
        </p:nvSpPr>
        <p:spPr>
          <a:noFill/>
        </p:spPr>
        <p:txBody>
          <a:bodyPr/>
          <a:lstStyle/>
          <a:p>
            <a:pPr>
              <a:tabLst>
                <a:tab pos="457200" algn="l"/>
                <a:tab pos="1371600" algn="l"/>
                <a:tab pos="1547813" algn="l"/>
              </a:tabLst>
            </a:pPr>
            <a:r>
              <a:rPr lang="en-US" altLang="en-US" dirty="0">
                <a:sym typeface="Symbol" pitchFamily="2" charset="2"/>
              </a:rPr>
              <a:t>The probability that at most 10 students receive aid is</a:t>
            </a:r>
          </a:p>
          <a:p>
            <a:pPr>
              <a:tabLst>
                <a:tab pos="457200" algn="l"/>
                <a:tab pos="1371600" algn="l"/>
                <a:tab pos="1547813" algn="l"/>
              </a:tabLst>
            </a:pPr>
            <a:endParaRPr lang="en-US" altLang="en-US" dirty="0">
              <a:sym typeface="Symbol" pitchFamily="2" charset="2"/>
            </a:endParaRPr>
          </a:p>
          <a:p>
            <a:pPr>
              <a:tabLst>
                <a:tab pos="457200" algn="l"/>
                <a:tab pos="1371600" algn="l"/>
                <a:tab pos="1547813" algn="l"/>
              </a:tabLst>
            </a:pPr>
            <a:endParaRPr lang="en-US" altLang="en-US" dirty="0">
              <a:sym typeface="Symbol" pitchFamily="2" charset="2"/>
            </a:endParaRPr>
          </a:p>
          <a:p>
            <a:pPr marL="0" indent="0">
              <a:buNone/>
              <a:tabLst>
                <a:tab pos="457200" algn="l"/>
                <a:tab pos="1371600" algn="l"/>
                <a:tab pos="1547813" algn="l"/>
              </a:tabLst>
            </a:pPr>
            <a:endParaRPr lang="en-US" altLang="en-US" dirty="0">
              <a:sym typeface="Symbol" pitchFamily="2" charset="2"/>
            </a:endParaRPr>
          </a:p>
          <a:p>
            <a:pPr>
              <a:tabLst>
                <a:tab pos="457200" algn="l"/>
                <a:tab pos="1371600" algn="l"/>
                <a:tab pos="1547813" algn="l"/>
              </a:tabLst>
            </a:pPr>
            <a:r>
              <a:rPr lang="en-US" altLang="zh-CN" dirty="0">
                <a:sym typeface="Symbol" pitchFamily="2" charset="2"/>
              </a:rPr>
              <a:t>Between</a:t>
            </a:r>
            <a:r>
              <a:rPr lang="zh-CN" altLang="en-US" dirty="0">
                <a:sym typeface="Symbol" pitchFamily="2" charset="2"/>
              </a:rPr>
              <a:t> </a:t>
            </a:r>
            <a:r>
              <a:rPr lang="en-US" altLang="en-US" dirty="0">
                <a:sym typeface="Symbol" pitchFamily="2" charset="2"/>
              </a:rPr>
              <a:t>5 and 15 (inclusive) of the selected students receive aid is </a:t>
            </a:r>
          </a:p>
          <a:p>
            <a:pPr>
              <a:tabLst>
                <a:tab pos="457200" algn="l"/>
                <a:tab pos="1371600" algn="l"/>
                <a:tab pos="1547813" algn="l"/>
              </a:tabLst>
            </a:pPr>
            <a:endParaRPr lang="en-US" altLang="en-US" sz="1000" dirty="0">
              <a:sym typeface="Symbol" pitchFamily="2" charset="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94661-271D-002E-6B63-8E34E4D0A3FF}"/>
            </a:ext>
          </a:extLst>
        </p:cNvPr>
        <p:cNvGrpSpPr/>
        <p:nvPr/>
      </p:nvGrpSpPr>
      <p:grpSpPr>
        <a:xfrm>
          <a:off x="0" y="0"/>
          <a:ext cx="0" cy="0"/>
          <a:chOff x="0" y="0"/>
          <a:chExt cx="0" cy="0"/>
        </a:xfrm>
      </p:grpSpPr>
      <p:sp>
        <p:nvSpPr>
          <p:cNvPr id="189442" name="Rectangle 2">
            <a:extLst>
              <a:ext uri="{FF2B5EF4-FFF2-40B4-BE49-F238E27FC236}">
                <a16:creationId xmlns:a16="http://schemas.microsoft.com/office/drawing/2014/main" id="{649A5748-BA18-08B5-71EB-2C8E6F26B364}"/>
              </a:ext>
            </a:extLst>
          </p:cNvPr>
          <p:cNvSpPr>
            <a:spLocks noGrp="1" noChangeArrowheads="1"/>
          </p:cNvSpPr>
          <p:nvPr>
            <p:ph type="title"/>
          </p:nvPr>
        </p:nvSpPr>
        <p:spPr>
          <a:noFill/>
        </p:spPr>
        <p:txBody>
          <a:bodyPr/>
          <a:lstStyle/>
          <a:p>
            <a:r>
              <a:rPr lang="en-US" altLang="en-US" dirty="0"/>
              <a:t>Example</a:t>
            </a:r>
          </a:p>
        </p:txBody>
      </p:sp>
      <mc:AlternateContent xmlns:mc="http://schemas.openxmlformats.org/markup-compatibility/2006">
        <mc:Choice xmlns:a14="http://schemas.microsoft.com/office/drawing/2010/main" Requires="a14">
          <p:sp>
            <p:nvSpPr>
              <p:cNvPr id="189443" name="Rectangle 3">
                <a:extLst>
                  <a:ext uri="{FF2B5EF4-FFF2-40B4-BE49-F238E27FC236}">
                    <a16:creationId xmlns:a16="http://schemas.microsoft.com/office/drawing/2014/main" id="{F1F84350-4B83-2756-FA9E-78A2F6867FAC}"/>
                  </a:ext>
                </a:extLst>
              </p:cNvPr>
              <p:cNvSpPr>
                <a:spLocks noGrp="1" noChangeArrowheads="1"/>
              </p:cNvSpPr>
              <p:nvPr>
                <p:ph type="body" idx="1"/>
              </p:nvPr>
            </p:nvSpPr>
            <p:spPr>
              <a:noFill/>
            </p:spPr>
            <p:txBody>
              <a:bodyPr/>
              <a:lstStyle/>
              <a:p>
                <a:pPr>
                  <a:tabLst>
                    <a:tab pos="457200" algn="l"/>
                    <a:tab pos="1371600" algn="l"/>
                    <a:tab pos="1547813" algn="l"/>
                  </a:tabLst>
                </a:pPr>
                <a:r>
                  <a:rPr lang="en-US" altLang="en-US" dirty="0">
                    <a:sym typeface="Symbol" pitchFamily="2" charset="2"/>
                  </a:rPr>
                  <a:t>The probability that at most 10 students receive aid is</a:t>
                </a:r>
              </a:p>
              <a:p>
                <a:pPr marL="0" indent="0">
                  <a:buNone/>
                  <a:tabLst>
                    <a:tab pos="457200" algn="l"/>
                    <a:tab pos="1371600" algn="l"/>
                    <a:tab pos="1547813" algn="l"/>
                  </a:tabLst>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sym typeface="Symbol" pitchFamily="2" charset="2"/>
                        </a:rPr>
                        <m:t>𝑃</m:t>
                      </m:r>
                      <m:d>
                        <m:dPr>
                          <m:ctrlPr>
                            <a:rPr lang="en-US" altLang="zh-CN" b="0" i="1" smtClean="0">
                              <a:latin typeface="Cambria Math" panose="02040503050406030204" pitchFamily="18" charset="0"/>
                              <a:sym typeface="Symbol" pitchFamily="2" charset="2"/>
                            </a:rPr>
                          </m:ctrlPr>
                        </m:dPr>
                        <m:e>
                          <m:r>
                            <a:rPr lang="en-US" altLang="zh-CN" b="0" i="1" smtClean="0">
                              <a:latin typeface="Cambria Math" panose="02040503050406030204" pitchFamily="18" charset="0"/>
                              <a:sym typeface="Symbol" pitchFamily="2" charset="2"/>
                            </a:rPr>
                            <m:t>𝑋</m:t>
                          </m:r>
                          <m:r>
                            <a:rPr lang="en-US" altLang="zh-CN" b="0" i="1" smtClean="0">
                              <a:latin typeface="Cambria Math" panose="02040503050406030204" pitchFamily="18" charset="0"/>
                              <a:ea typeface="Cambria Math" panose="02040503050406030204" pitchFamily="18" charset="0"/>
                              <a:sym typeface="Symbol" pitchFamily="2" charset="2"/>
                            </a:rPr>
                            <m:t>≤10</m:t>
                          </m:r>
                        </m:e>
                      </m:d>
                      <m:r>
                        <a:rPr lang="en-US" altLang="zh-CN" b="0" i="1" smtClean="0">
                          <a:latin typeface="Cambria Math" panose="02040503050406030204" pitchFamily="18" charset="0"/>
                          <a:sym typeface="Symbol" pitchFamily="2" charset="2"/>
                        </a:rPr>
                        <m:t>=</m:t>
                      </m:r>
                      <m:r>
                        <a:rPr lang="en-US" altLang="zh-CN" b="0" i="1" smtClean="0">
                          <a:latin typeface="Cambria Math" panose="02040503050406030204" pitchFamily="18" charset="0"/>
                          <a:sym typeface="Symbol" pitchFamily="2" charset="2"/>
                        </a:rPr>
                        <m:t>𝐵𝑖𝑛</m:t>
                      </m:r>
                      <m:r>
                        <a:rPr lang="en-US" altLang="zh-CN" b="0" i="1" smtClean="0">
                          <a:latin typeface="Cambria Math" panose="02040503050406030204" pitchFamily="18" charset="0"/>
                          <a:sym typeface="Symbol" pitchFamily="2" charset="2"/>
                        </a:rPr>
                        <m:t>(10;50,0.025)≈</m:t>
                      </m:r>
                      <m:r>
                        <m:rPr>
                          <m:sty m:val="p"/>
                        </m:rPr>
                        <a:rPr lang="en-US" altLang="zh-CN" b="0" i="0" smtClean="0">
                          <a:latin typeface="Cambria Math" panose="02040503050406030204" pitchFamily="18" charset="0"/>
                          <a:ea typeface="Cambria Math" panose="02040503050406030204" pitchFamily="18" charset="0"/>
                          <a:sym typeface="Symbol" pitchFamily="2" charset="2"/>
                        </a:rPr>
                        <m:t>Φ</m:t>
                      </m:r>
                      <m:r>
                        <a:rPr lang="en-US" altLang="zh-CN" b="0" i="1" smtClean="0">
                          <a:latin typeface="Cambria Math" panose="02040503050406030204" pitchFamily="18" charset="0"/>
                          <a:ea typeface="Cambria Math" panose="02040503050406030204" pitchFamily="18" charset="0"/>
                          <a:sym typeface="Symbol" pitchFamily="2" charset="2"/>
                        </a:rPr>
                        <m:t>(</m:t>
                      </m:r>
                      <m:f>
                        <m:fPr>
                          <m:ctrlPr>
                            <a:rPr lang="en-US" altLang="zh-CN" b="0" i="1" smtClean="0">
                              <a:latin typeface="Cambria Math" panose="02040503050406030204" pitchFamily="18" charset="0"/>
                              <a:ea typeface="Cambria Math" panose="02040503050406030204" pitchFamily="18" charset="0"/>
                              <a:sym typeface="Symbol" pitchFamily="2" charset="2"/>
                            </a:rPr>
                          </m:ctrlPr>
                        </m:fPr>
                        <m:num>
                          <m:r>
                            <a:rPr lang="en-US" altLang="zh-CN" b="0" i="1" smtClean="0">
                              <a:latin typeface="Cambria Math" panose="02040503050406030204" pitchFamily="18" charset="0"/>
                              <a:ea typeface="Cambria Math" panose="02040503050406030204" pitchFamily="18" charset="0"/>
                              <a:sym typeface="Symbol" pitchFamily="2" charset="2"/>
                            </a:rPr>
                            <m:t>10+0.5−12.5</m:t>
                          </m:r>
                        </m:num>
                        <m:den>
                          <m:r>
                            <a:rPr lang="en-US" altLang="zh-CN" b="0" i="1" smtClean="0">
                              <a:latin typeface="Cambria Math" panose="02040503050406030204" pitchFamily="18" charset="0"/>
                              <a:ea typeface="Cambria Math" panose="02040503050406030204" pitchFamily="18" charset="0"/>
                              <a:sym typeface="Symbol" pitchFamily="2" charset="2"/>
                            </a:rPr>
                            <m:t>3.06</m:t>
                          </m:r>
                        </m:den>
                      </m:f>
                      <m:r>
                        <a:rPr lang="en-US" altLang="zh-CN" b="0" i="1" smtClean="0">
                          <a:latin typeface="Cambria Math" panose="02040503050406030204" pitchFamily="18" charset="0"/>
                          <a:ea typeface="Cambria Math" panose="02040503050406030204" pitchFamily="18" charset="0"/>
                          <a:sym typeface="Symbol" pitchFamily="2" charset="2"/>
                        </a:rPr>
                        <m:t>)</m:t>
                      </m:r>
                    </m:oMath>
                  </m:oMathPara>
                </a14:m>
                <a:endParaRPr lang="en-US" altLang="en-US" dirty="0">
                  <a:sym typeface="Symbol" pitchFamily="2" charset="2"/>
                </a:endParaRPr>
              </a:p>
              <a:p>
                <a:pPr marL="0" indent="0">
                  <a:buNone/>
                  <a:tabLst>
                    <a:tab pos="457200" algn="l"/>
                    <a:tab pos="1371600" algn="l"/>
                    <a:tab pos="1547813" algn="l"/>
                  </a:tabLst>
                </a:pPr>
                <a:endParaRPr lang="en-US" altLang="en-US" dirty="0">
                  <a:sym typeface="Symbol" pitchFamily="2" charset="2"/>
                </a:endParaRPr>
              </a:p>
              <a:p>
                <a:pPr marL="0" indent="0">
                  <a:buNone/>
                  <a:tabLst>
                    <a:tab pos="457200" algn="l"/>
                    <a:tab pos="1371600" algn="l"/>
                    <a:tab pos="1547813" algn="l"/>
                  </a:tabLst>
                </a:pPr>
                <a:endParaRPr lang="en-US" altLang="en-US" dirty="0">
                  <a:sym typeface="Symbol" pitchFamily="2" charset="2"/>
                </a:endParaRPr>
              </a:p>
              <a:p>
                <a:pPr>
                  <a:tabLst>
                    <a:tab pos="457200" algn="l"/>
                    <a:tab pos="1371600" algn="l"/>
                    <a:tab pos="1547813" algn="l"/>
                  </a:tabLst>
                </a:pPr>
                <a:r>
                  <a:rPr lang="en-US" altLang="zh-CN" dirty="0">
                    <a:sym typeface="Symbol" pitchFamily="2" charset="2"/>
                  </a:rPr>
                  <a:t>Between</a:t>
                </a:r>
                <a:r>
                  <a:rPr lang="zh-CN" altLang="en-US" dirty="0">
                    <a:sym typeface="Symbol" pitchFamily="2" charset="2"/>
                  </a:rPr>
                  <a:t> </a:t>
                </a:r>
                <a:r>
                  <a:rPr lang="en-US" altLang="en-US" dirty="0">
                    <a:sym typeface="Symbol" pitchFamily="2" charset="2"/>
                  </a:rPr>
                  <a:t>5 and 15 (inclusive) of the selected students receive aid is </a:t>
                </a:r>
              </a:p>
              <a:p>
                <a:pPr>
                  <a:tabLst>
                    <a:tab pos="457200" algn="l"/>
                    <a:tab pos="1371600" algn="l"/>
                    <a:tab pos="1547813" algn="l"/>
                  </a:tabLst>
                </a:pPr>
                <a:endParaRPr lang="en-US" altLang="en-US" sz="1000" dirty="0">
                  <a:sym typeface="Symbol" pitchFamily="2" charset="2"/>
                </a:endParaRPr>
              </a:p>
            </p:txBody>
          </p:sp>
        </mc:Choice>
        <mc:Fallback>
          <p:sp>
            <p:nvSpPr>
              <p:cNvPr id="189443" name="Rectangle 3">
                <a:extLst>
                  <a:ext uri="{FF2B5EF4-FFF2-40B4-BE49-F238E27FC236}">
                    <a16:creationId xmlns:a16="http://schemas.microsoft.com/office/drawing/2014/main" id="{F1F84350-4B83-2756-FA9E-78A2F6867FAC}"/>
                  </a:ext>
                </a:extLst>
              </p:cNvPr>
              <p:cNvSpPr>
                <a:spLocks noGrp="1" noRot="1" noChangeAspect="1" noMove="1" noResize="1" noEditPoints="1" noAdjustHandles="1" noChangeArrowheads="1" noChangeShapeType="1" noTextEdit="1"/>
              </p:cNvSpPr>
              <p:nvPr>
                <p:ph type="body"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685321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F9CE6-ED14-066A-B245-67D3C5009ECD}"/>
            </a:ext>
          </a:extLst>
        </p:cNvPr>
        <p:cNvGrpSpPr/>
        <p:nvPr/>
      </p:nvGrpSpPr>
      <p:grpSpPr>
        <a:xfrm>
          <a:off x="0" y="0"/>
          <a:ext cx="0" cy="0"/>
          <a:chOff x="0" y="0"/>
          <a:chExt cx="0" cy="0"/>
        </a:xfrm>
      </p:grpSpPr>
      <p:sp>
        <p:nvSpPr>
          <p:cNvPr id="189442" name="Rectangle 2">
            <a:extLst>
              <a:ext uri="{FF2B5EF4-FFF2-40B4-BE49-F238E27FC236}">
                <a16:creationId xmlns:a16="http://schemas.microsoft.com/office/drawing/2014/main" id="{D4C20A94-C29D-55EA-C4D4-0C3831C66515}"/>
              </a:ext>
            </a:extLst>
          </p:cNvPr>
          <p:cNvSpPr>
            <a:spLocks noGrp="1" noChangeArrowheads="1"/>
          </p:cNvSpPr>
          <p:nvPr>
            <p:ph type="title"/>
          </p:nvPr>
        </p:nvSpPr>
        <p:spPr>
          <a:noFill/>
        </p:spPr>
        <p:txBody>
          <a:bodyPr/>
          <a:lstStyle/>
          <a:p>
            <a:r>
              <a:rPr lang="en-US" altLang="en-US" dirty="0"/>
              <a:t>Example</a:t>
            </a:r>
          </a:p>
        </p:txBody>
      </p:sp>
      <mc:AlternateContent xmlns:mc="http://schemas.openxmlformats.org/markup-compatibility/2006">
        <mc:Choice xmlns:a14="http://schemas.microsoft.com/office/drawing/2010/main" Requires="a14">
          <p:sp>
            <p:nvSpPr>
              <p:cNvPr id="189443" name="Rectangle 3">
                <a:extLst>
                  <a:ext uri="{FF2B5EF4-FFF2-40B4-BE49-F238E27FC236}">
                    <a16:creationId xmlns:a16="http://schemas.microsoft.com/office/drawing/2014/main" id="{456ECB19-B477-1621-921E-0B53B17B17C8}"/>
                  </a:ext>
                </a:extLst>
              </p:cNvPr>
              <p:cNvSpPr>
                <a:spLocks noGrp="1" noChangeArrowheads="1"/>
              </p:cNvSpPr>
              <p:nvPr>
                <p:ph type="body" idx="1"/>
              </p:nvPr>
            </p:nvSpPr>
            <p:spPr>
              <a:noFill/>
            </p:spPr>
            <p:txBody>
              <a:bodyPr>
                <a:normAutofit fontScale="92500"/>
              </a:bodyPr>
              <a:lstStyle/>
              <a:p>
                <a:pPr>
                  <a:tabLst>
                    <a:tab pos="457200" algn="l"/>
                    <a:tab pos="1371600" algn="l"/>
                    <a:tab pos="1547813" algn="l"/>
                  </a:tabLst>
                </a:pPr>
                <a:r>
                  <a:rPr lang="en-US" altLang="en-US" dirty="0">
                    <a:sym typeface="Symbol" pitchFamily="2" charset="2"/>
                  </a:rPr>
                  <a:t>The probability that at most 10 students receive aid is</a:t>
                </a:r>
              </a:p>
              <a:p>
                <a:pPr marL="0" indent="0">
                  <a:buNone/>
                  <a:tabLst>
                    <a:tab pos="457200" algn="l"/>
                    <a:tab pos="1371600" algn="l"/>
                    <a:tab pos="1547813" algn="l"/>
                  </a:tabLst>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sym typeface="Symbol" pitchFamily="2" charset="2"/>
                        </a:rPr>
                        <m:t>𝑃</m:t>
                      </m:r>
                      <m:d>
                        <m:dPr>
                          <m:ctrlPr>
                            <a:rPr lang="en-US" altLang="zh-CN" b="0" i="1" smtClean="0">
                              <a:latin typeface="Cambria Math" panose="02040503050406030204" pitchFamily="18" charset="0"/>
                              <a:sym typeface="Symbol" pitchFamily="2" charset="2"/>
                            </a:rPr>
                          </m:ctrlPr>
                        </m:dPr>
                        <m:e>
                          <m:r>
                            <a:rPr lang="en-US" altLang="zh-CN" b="0" i="1" smtClean="0">
                              <a:latin typeface="Cambria Math" panose="02040503050406030204" pitchFamily="18" charset="0"/>
                              <a:sym typeface="Symbol" pitchFamily="2" charset="2"/>
                            </a:rPr>
                            <m:t>𝑋</m:t>
                          </m:r>
                          <m:r>
                            <a:rPr lang="en-US" altLang="zh-CN" b="0" i="1" smtClean="0">
                              <a:latin typeface="Cambria Math" panose="02040503050406030204" pitchFamily="18" charset="0"/>
                              <a:ea typeface="Cambria Math" panose="02040503050406030204" pitchFamily="18" charset="0"/>
                              <a:sym typeface="Symbol" pitchFamily="2" charset="2"/>
                            </a:rPr>
                            <m:t>≤10</m:t>
                          </m:r>
                        </m:e>
                      </m:d>
                      <m:r>
                        <a:rPr lang="en-US" altLang="zh-CN" b="0" i="1" smtClean="0">
                          <a:latin typeface="Cambria Math" panose="02040503050406030204" pitchFamily="18" charset="0"/>
                          <a:sym typeface="Symbol" pitchFamily="2" charset="2"/>
                        </a:rPr>
                        <m:t>=</m:t>
                      </m:r>
                      <m:r>
                        <a:rPr lang="en-US" altLang="zh-CN" b="0" i="1" smtClean="0">
                          <a:latin typeface="Cambria Math" panose="02040503050406030204" pitchFamily="18" charset="0"/>
                          <a:sym typeface="Symbol" pitchFamily="2" charset="2"/>
                        </a:rPr>
                        <m:t>𝐵𝑖𝑛</m:t>
                      </m:r>
                      <m:r>
                        <a:rPr lang="en-US" altLang="zh-CN" b="0" i="1" smtClean="0">
                          <a:latin typeface="Cambria Math" panose="02040503050406030204" pitchFamily="18" charset="0"/>
                          <a:sym typeface="Symbol" pitchFamily="2" charset="2"/>
                        </a:rPr>
                        <m:t>(10;50,0.025)≈</m:t>
                      </m:r>
                      <m:r>
                        <m:rPr>
                          <m:sty m:val="p"/>
                        </m:rPr>
                        <a:rPr lang="en-US" altLang="zh-CN">
                          <a:latin typeface="Cambria Math" panose="02040503050406030204" pitchFamily="18" charset="0"/>
                          <a:ea typeface="Cambria Math" panose="02040503050406030204" pitchFamily="18" charset="0"/>
                          <a:sym typeface="Symbol" pitchFamily="2" charset="2"/>
                        </a:rPr>
                        <m:t>Φ</m:t>
                      </m:r>
                      <m:r>
                        <a:rPr lang="en-US" altLang="zh-CN" b="0" i="1" smtClean="0">
                          <a:latin typeface="Cambria Math" panose="02040503050406030204" pitchFamily="18" charset="0"/>
                          <a:ea typeface="Cambria Math" panose="02040503050406030204" pitchFamily="18" charset="0"/>
                          <a:sym typeface="Symbol" pitchFamily="2" charset="2"/>
                        </a:rPr>
                        <m:t>(</m:t>
                      </m:r>
                      <m:f>
                        <m:fPr>
                          <m:ctrlPr>
                            <a:rPr lang="en-US" altLang="zh-CN" b="0" i="1" smtClean="0">
                              <a:latin typeface="Cambria Math" panose="02040503050406030204" pitchFamily="18" charset="0"/>
                              <a:ea typeface="Cambria Math" panose="02040503050406030204" pitchFamily="18" charset="0"/>
                              <a:sym typeface="Symbol" pitchFamily="2" charset="2"/>
                            </a:rPr>
                          </m:ctrlPr>
                        </m:fPr>
                        <m:num>
                          <m:r>
                            <a:rPr lang="en-US" altLang="zh-CN" b="0" i="1" smtClean="0">
                              <a:latin typeface="Cambria Math" panose="02040503050406030204" pitchFamily="18" charset="0"/>
                              <a:ea typeface="Cambria Math" panose="02040503050406030204" pitchFamily="18" charset="0"/>
                              <a:sym typeface="Symbol" pitchFamily="2" charset="2"/>
                            </a:rPr>
                            <m:t>10+0.5−12.5</m:t>
                          </m:r>
                        </m:num>
                        <m:den>
                          <m:r>
                            <a:rPr lang="en-US" altLang="zh-CN" b="0" i="1" smtClean="0">
                              <a:latin typeface="Cambria Math" panose="02040503050406030204" pitchFamily="18" charset="0"/>
                              <a:ea typeface="Cambria Math" panose="02040503050406030204" pitchFamily="18" charset="0"/>
                              <a:sym typeface="Symbol" pitchFamily="2" charset="2"/>
                            </a:rPr>
                            <m:t>3.06</m:t>
                          </m:r>
                        </m:den>
                      </m:f>
                      <m:r>
                        <a:rPr lang="en-US" altLang="zh-CN" b="0" i="1" smtClean="0">
                          <a:latin typeface="Cambria Math" panose="02040503050406030204" pitchFamily="18" charset="0"/>
                          <a:ea typeface="Cambria Math" panose="02040503050406030204" pitchFamily="18" charset="0"/>
                          <a:sym typeface="Symbol" pitchFamily="2" charset="2"/>
                        </a:rPr>
                        <m:t>)</m:t>
                      </m:r>
                    </m:oMath>
                  </m:oMathPara>
                </a14:m>
                <a:endParaRPr lang="en-US" altLang="en-US" dirty="0">
                  <a:sym typeface="Symbol" pitchFamily="2" charset="2"/>
                </a:endParaRPr>
              </a:p>
              <a:p>
                <a:pPr marL="0" indent="0">
                  <a:buNone/>
                  <a:tabLst>
                    <a:tab pos="457200" algn="l"/>
                    <a:tab pos="1371600" algn="l"/>
                    <a:tab pos="1547813" algn="l"/>
                  </a:tabLst>
                </a:pPr>
                <a:endParaRPr lang="en-US" altLang="en-US" dirty="0">
                  <a:sym typeface="Symbol" pitchFamily="2" charset="2"/>
                </a:endParaRPr>
              </a:p>
              <a:p>
                <a:pPr marL="0" indent="0">
                  <a:buNone/>
                  <a:tabLst>
                    <a:tab pos="457200" algn="l"/>
                    <a:tab pos="1371600" algn="l"/>
                    <a:tab pos="1547813" algn="l"/>
                  </a:tabLst>
                </a:pPr>
                <a:endParaRPr lang="en-US" altLang="en-US" dirty="0">
                  <a:sym typeface="Symbol" pitchFamily="2" charset="2"/>
                </a:endParaRPr>
              </a:p>
              <a:p>
                <a:pPr>
                  <a:tabLst>
                    <a:tab pos="457200" algn="l"/>
                    <a:tab pos="1371600" algn="l"/>
                    <a:tab pos="1547813" algn="l"/>
                  </a:tabLst>
                </a:pPr>
                <a:r>
                  <a:rPr lang="en-US" altLang="zh-CN" dirty="0">
                    <a:sym typeface="Symbol" pitchFamily="2" charset="2"/>
                  </a:rPr>
                  <a:t>Between</a:t>
                </a:r>
                <a:r>
                  <a:rPr lang="zh-CN" altLang="en-US" dirty="0">
                    <a:sym typeface="Symbol" pitchFamily="2" charset="2"/>
                  </a:rPr>
                  <a:t> </a:t>
                </a:r>
                <a:r>
                  <a:rPr lang="en-US" altLang="en-US" dirty="0">
                    <a:sym typeface="Symbol" pitchFamily="2" charset="2"/>
                  </a:rPr>
                  <a:t>5 and 15 (inclusive) of the selected students receive aid is </a:t>
                </a:r>
                <a:endParaRPr lang="en-US" altLang="en-US" sz="1000" dirty="0">
                  <a:sym typeface="Symbol" pitchFamily="2" charset="2"/>
                </a:endParaRPr>
              </a:p>
              <a:p>
                <a:pPr marL="0" indent="0">
                  <a:buNone/>
                  <a:tabLst>
                    <a:tab pos="457200" algn="l"/>
                    <a:tab pos="1371600" algn="l"/>
                    <a:tab pos="1547813" algn="l"/>
                  </a:tabLst>
                </a:pPr>
                <a14:m>
                  <m:oMathPara xmlns:m="http://schemas.openxmlformats.org/officeDocument/2006/math">
                    <m:oMathParaPr>
                      <m:jc m:val="centerGroup"/>
                    </m:oMathParaPr>
                    <m:oMath xmlns:m="http://schemas.openxmlformats.org/officeDocument/2006/math">
                      <m:r>
                        <a:rPr lang="en-US" altLang="en-US" i="1" dirty="0" smtClean="0">
                          <a:latin typeface="Cambria Math" panose="02040503050406030204" pitchFamily="18" charset="0"/>
                          <a:sym typeface="Symbol" pitchFamily="2" charset="2"/>
                        </a:rPr>
                        <m:t>𝑃</m:t>
                      </m:r>
                      <m:d>
                        <m:dPr>
                          <m:ctrlPr>
                            <a:rPr lang="en-US" altLang="en-US" i="1" dirty="0" smtClean="0">
                              <a:latin typeface="Cambria Math" panose="02040503050406030204" pitchFamily="18" charset="0"/>
                              <a:sym typeface="Symbol" pitchFamily="2" charset="2"/>
                            </a:rPr>
                          </m:ctrlPr>
                        </m:dPr>
                        <m:e>
                          <m:r>
                            <a:rPr lang="en-US" altLang="en-US" i="1" dirty="0">
                              <a:latin typeface="Cambria Math" panose="02040503050406030204" pitchFamily="18" charset="0"/>
                              <a:sym typeface="Symbol" pitchFamily="2" charset="2"/>
                            </a:rPr>
                            <m:t>5 </m:t>
                          </m:r>
                          <m:r>
                            <a:rPr lang="en-US" altLang="en-US" b="1" i="1" dirty="0">
                              <a:latin typeface="Cambria Math" panose="02040503050406030204" pitchFamily="18" charset="0"/>
                              <a:sym typeface="Symbol" pitchFamily="2" charset="2"/>
                            </a:rPr>
                            <m:t></m:t>
                          </m:r>
                          <m:r>
                            <a:rPr lang="en-US" altLang="en-US" i="1" dirty="0">
                              <a:latin typeface="Cambria Math" panose="02040503050406030204" pitchFamily="18" charset="0"/>
                              <a:sym typeface="Symbol" pitchFamily="2" charset="2"/>
                            </a:rPr>
                            <m:t> </m:t>
                          </m:r>
                          <m:r>
                            <a:rPr lang="en-US" altLang="en-US" i="1" dirty="0">
                              <a:latin typeface="Cambria Math" panose="02040503050406030204" pitchFamily="18" charset="0"/>
                              <a:sym typeface="Symbol" pitchFamily="2" charset="2"/>
                            </a:rPr>
                            <m:t>𝑋</m:t>
                          </m:r>
                          <m:r>
                            <a:rPr lang="en-US" altLang="en-US" i="1" dirty="0">
                              <a:latin typeface="Cambria Math" panose="02040503050406030204" pitchFamily="18" charset="0"/>
                              <a:sym typeface="Symbol" pitchFamily="2" charset="2"/>
                            </a:rPr>
                            <m:t> </m:t>
                          </m:r>
                          <m:r>
                            <a:rPr lang="en-US" altLang="en-US" b="1" i="1" dirty="0">
                              <a:latin typeface="Cambria Math" panose="02040503050406030204" pitchFamily="18" charset="0"/>
                              <a:sym typeface="Symbol" pitchFamily="2" charset="2"/>
                            </a:rPr>
                            <m:t></m:t>
                          </m:r>
                          <m:r>
                            <a:rPr lang="en-US" altLang="en-US" i="1" dirty="0">
                              <a:latin typeface="Cambria Math" panose="02040503050406030204" pitchFamily="18" charset="0"/>
                              <a:sym typeface="Symbol" pitchFamily="2" charset="2"/>
                            </a:rPr>
                            <m:t> 15</m:t>
                          </m:r>
                        </m:e>
                      </m:d>
                      <m:r>
                        <a:rPr lang="en-US" altLang="en-US" i="1" dirty="0">
                          <a:latin typeface="Cambria Math" panose="02040503050406030204" pitchFamily="18" charset="0"/>
                          <a:sym typeface="Symbol" pitchFamily="2" charset="2"/>
                        </a:rPr>
                        <m:t>=</m:t>
                      </m:r>
                      <m:r>
                        <a:rPr lang="en-US" altLang="en-US" b="0" i="1" dirty="0" smtClean="0">
                          <a:latin typeface="Cambria Math" panose="02040503050406030204" pitchFamily="18" charset="0"/>
                          <a:sym typeface="Symbol" pitchFamily="2" charset="2"/>
                        </a:rPr>
                        <m:t>𝑃</m:t>
                      </m:r>
                      <m:d>
                        <m:dPr>
                          <m:ctrlPr>
                            <a:rPr lang="en-US" altLang="en-US" b="0" i="1" dirty="0" smtClean="0">
                              <a:latin typeface="Cambria Math" panose="02040503050406030204" pitchFamily="18" charset="0"/>
                              <a:sym typeface="Symbol" pitchFamily="2" charset="2"/>
                            </a:rPr>
                          </m:ctrlPr>
                        </m:dPr>
                        <m:e>
                          <m:r>
                            <a:rPr lang="en-US" altLang="en-US" b="0" i="1" dirty="0" smtClean="0">
                              <a:latin typeface="Cambria Math" panose="02040503050406030204" pitchFamily="18" charset="0"/>
                              <a:sym typeface="Symbol" pitchFamily="2" charset="2"/>
                            </a:rPr>
                            <m:t>𝑋</m:t>
                          </m:r>
                          <m:r>
                            <a:rPr lang="en-US" altLang="en-US" b="0" i="1" dirty="0" smtClean="0">
                              <a:latin typeface="Cambria Math" panose="02040503050406030204" pitchFamily="18" charset="0"/>
                              <a:ea typeface="Cambria Math" panose="02040503050406030204" pitchFamily="18" charset="0"/>
                              <a:sym typeface="Symbol" pitchFamily="2" charset="2"/>
                            </a:rPr>
                            <m:t>≤15</m:t>
                          </m:r>
                        </m:e>
                      </m:d>
                      <m:r>
                        <a:rPr lang="en-US" altLang="en-US" b="0" i="1" dirty="0" smtClean="0">
                          <a:latin typeface="Cambria Math" panose="02040503050406030204" pitchFamily="18" charset="0"/>
                          <a:sym typeface="Symbol" pitchFamily="2" charset="2"/>
                        </a:rPr>
                        <m:t>−</m:t>
                      </m:r>
                      <m:r>
                        <a:rPr lang="en-US" altLang="en-US" b="0" i="1" dirty="0" smtClean="0">
                          <a:latin typeface="Cambria Math" panose="02040503050406030204" pitchFamily="18" charset="0"/>
                          <a:sym typeface="Symbol" pitchFamily="2" charset="2"/>
                        </a:rPr>
                        <m:t>𝑃</m:t>
                      </m:r>
                      <m:r>
                        <a:rPr lang="en-US" altLang="en-US" b="0" i="1" dirty="0" smtClean="0">
                          <a:latin typeface="Cambria Math" panose="02040503050406030204" pitchFamily="18" charset="0"/>
                          <a:sym typeface="Symbol" pitchFamily="2" charset="2"/>
                        </a:rPr>
                        <m:t>(</m:t>
                      </m:r>
                      <m:r>
                        <a:rPr lang="en-US" altLang="en-US" b="0" i="1" dirty="0" smtClean="0">
                          <a:latin typeface="Cambria Math" panose="02040503050406030204" pitchFamily="18" charset="0"/>
                          <a:sym typeface="Symbol" pitchFamily="2" charset="2"/>
                        </a:rPr>
                        <m:t>𝑋</m:t>
                      </m:r>
                      <m:r>
                        <a:rPr lang="en-US" altLang="en-US" b="0" i="1" dirty="0" smtClean="0">
                          <a:latin typeface="Cambria Math" panose="02040503050406030204" pitchFamily="18" charset="0"/>
                          <a:ea typeface="Cambria Math" panose="02040503050406030204" pitchFamily="18" charset="0"/>
                          <a:sym typeface="Symbol" pitchFamily="2" charset="2"/>
                        </a:rPr>
                        <m:t>≤4</m:t>
                      </m:r>
                      <m:r>
                        <a:rPr lang="en-US" altLang="en-US" b="0" i="1" dirty="0" smtClean="0">
                          <a:latin typeface="Cambria Math" panose="02040503050406030204" pitchFamily="18" charset="0"/>
                          <a:sym typeface="Symbol" pitchFamily="2" charset="2"/>
                        </a:rPr>
                        <m:t>)</m:t>
                      </m:r>
                      <m:r>
                        <a:rPr lang="en-US" altLang="zh-CN" b="0" i="1" dirty="0" smtClean="0">
                          <a:latin typeface="Cambria Math" panose="02040503050406030204" pitchFamily="18" charset="0"/>
                          <a:sym typeface="Symbol" pitchFamily="2" charset="2"/>
                        </a:rPr>
                        <m:t>=</m:t>
                      </m:r>
                      <m:r>
                        <a:rPr lang="en-US" altLang="en-US" i="1" dirty="0">
                          <a:latin typeface="Cambria Math" panose="02040503050406030204" pitchFamily="18" charset="0"/>
                          <a:sym typeface="Symbol" pitchFamily="2" charset="2"/>
                        </a:rPr>
                        <m:t>𝐵</m:t>
                      </m:r>
                      <m:r>
                        <a:rPr lang="en-US" altLang="zh-CN" b="0" i="1" dirty="0" smtClean="0">
                          <a:latin typeface="Cambria Math" panose="02040503050406030204" pitchFamily="18" charset="0"/>
                          <a:sym typeface="Symbol" pitchFamily="2" charset="2"/>
                        </a:rPr>
                        <m:t>𝑖𝑛</m:t>
                      </m:r>
                      <m:d>
                        <m:dPr>
                          <m:ctrlPr>
                            <a:rPr lang="en-US" altLang="en-US" b="0" i="1" dirty="0" smtClean="0">
                              <a:latin typeface="Cambria Math" panose="02040503050406030204" pitchFamily="18" charset="0"/>
                              <a:sym typeface="Symbol" pitchFamily="2" charset="2"/>
                            </a:rPr>
                          </m:ctrlPr>
                        </m:dPr>
                        <m:e>
                          <m:r>
                            <a:rPr lang="en-US" altLang="zh-CN" b="0" i="1" dirty="0" smtClean="0">
                              <a:latin typeface="Cambria Math" panose="02040503050406030204" pitchFamily="18" charset="0"/>
                              <a:sym typeface="Symbol" pitchFamily="2" charset="2"/>
                            </a:rPr>
                            <m:t>15</m:t>
                          </m:r>
                          <m:r>
                            <a:rPr lang="en-US" altLang="en-US" i="1" dirty="0">
                              <a:latin typeface="Cambria Math" panose="02040503050406030204" pitchFamily="18" charset="0"/>
                              <a:sym typeface="Symbol" pitchFamily="2" charset="2"/>
                            </a:rPr>
                            <m:t>; 50, </m:t>
                          </m:r>
                          <m:r>
                            <a:rPr lang="en-US" altLang="zh-CN" b="0" i="1" dirty="0" smtClean="0">
                              <a:latin typeface="Cambria Math" panose="02040503050406030204" pitchFamily="18" charset="0"/>
                              <a:sym typeface="Symbol" pitchFamily="2" charset="2"/>
                            </a:rPr>
                            <m:t>0</m:t>
                          </m:r>
                          <m:r>
                            <a:rPr lang="en-US" altLang="en-US" i="1" dirty="0">
                              <a:latin typeface="Cambria Math" panose="02040503050406030204" pitchFamily="18" charset="0"/>
                              <a:sym typeface="Symbol" pitchFamily="2" charset="2"/>
                            </a:rPr>
                            <m:t>.25</m:t>
                          </m:r>
                        </m:e>
                      </m:d>
                      <m:r>
                        <a:rPr lang="en-US" altLang="en-US" i="1" dirty="0">
                          <a:latin typeface="Cambria Math" panose="02040503050406030204" pitchFamily="18" charset="0"/>
                          <a:sym typeface="Symbol" pitchFamily="2" charset="2"/>
                        </a:rPr>
                        <m:t>–</m:t>
                      </m:r>
                      <m:r>
                        <a:rPr lang="en-US" altLang="en-US" i="1" dirty="0">
                          <a:latin typeface="Cambria Math" panose="02040503050406030204" pitchFamily="18" charset="0"/>
                          <a:sym typeface="Symbol" pitchFamily="2" charset="2"/>
                        </a:rPr>
                        <m:t>𝐵</m:t>
                      </m:r>
                      <m:d>
                        <m:dPr>
                          <m:ctrlPr>
                            <a:rPr lang="en-US" altLang="en-US" i="1" dirty="0">
                              <a:latin typeface="Cambria Math" panose="02040503050406030204" pitchFamily="18" charset="0"/>
                              <a:sym typeface="Symbol" pitchFamily="2" charset="2"/>
                            </a:rPr>
                          </m:ctrlPr>
                        </m:dPr>
                        <m:e>
                          <m:r>
                            <a:rPr lang="en-US" altLang="zh-CN" b="0" i="1" dirty="0" smtClean="0">
                              <a:latin typeface="Cambria Math" panose="02040503050406030204" pitchFamily="18" charset="0"/>
                              <a:sym typeface="Symbol" pitchFamily="2" charset="2"/>
                            </a:rPr>
                            <m:t>4</m:t>
                          </m:r>
                          <m:r>
                            <a:rPr lang="en-US" altLang="en-US" i="1" dirty="0">
                              <a:latin typeface="Cambria Math" panose="02040503050406030204" pitchFamily="18" charset="0"/>
                              <a:sym typeface="Symbol" pitchFamily="2" charset="2"/>
                            </a:rPr>
                            <m:t>; 50, </m:t>
                          </m:r>
                          <m:r>
                            <a:rPr lang="en-US" altLang="zh-CN" b="0" i="1" dirty="0" smtClean="0">
                              <a:latin typeface="Cambria Math" panose="02040503050406030204" pitchFamily="18" charset="0"/>
                              <a:sym typeface="Symbol" pitchFamily="2" charset="2"/>
                            </a:rPr>
                            <m:t>0</m:t>
                          </m:r>
                          <m:r>
                            <a:rPr lang="en-US" altLang="en-US" i="1" dirty="0">
                              <a:latin typeface="Cambria Math" panose="02040503050406030204" pitchFamily="18" charset="0"/>
                              <a:sym typeface="Symbol" pitchFamily="2" charset="2"/>
                            </a:rPr>
                            <m:t>.25</m:t>
                          </m:r>
                        </m:e>
                      </m:d>
                    </m:oMath>
                    <m:oMath xmlns:m="http://schemas.openxmlformats.org/officeDocument/2006/math">
                      <m:r>
                        <a:rPr lang="en-US" altLang="en-US" i="1" dirty="0" smtClean="0">
                          <a:latin typeface="Cambria Math" panose="02040503050406030204" pitchFamily="18" charset="0"/>
                          <a:ea typeface="Cambria Math" panose="02040503050406030204" pitchFamily="18" charset="0"/>
                          <a:sym typeface="Symbol" pitchFamily="2" charset="2"/>
                        </a:rPr>
                        <m:t>≈</m:t>
                      </m:r>
                      <m:r>
                        <m:rPr>
                          <m:sty m:val="p"/>
                        </m:rPr>
                        <a:rPr lang="en-US" altLang="zh-CN">
                          <a:latin typeface="Cambria Math" panose="02040503050406030204" pitchFamily="18" charset="0"/>
                          <a:ea typeface="Cambria Math" panose="02040503050406030204" pitchFamily="18" charset="0"/>
                          <a:sym typeface="Symbol" pitchFamily="2" charset="2"/>
                        </a:rPr>
                        <m:t>Φ</m:t>
                      </m:r>
                      <m:d>
                        <m:dPr>
                          <m:ctrlPr>
                            <a:rPr lang="en-US" altLang="zh-CN" i="1">
                              <a:latin typeface="Cambria Math" panose="02040503050406030204" pitchFamily="18" charset="0"/>
                              <a:ea typeface="Cambria Math" panose="02040503050406030204" pitchFamily="18" charset="0"/>
                              <a:sym typeface="Symbol" pitchFamily="2" charset="2"/>
                            </a:rPr>
                          </m:ctrlPr>
                        </m:dPr>
                        <m:e>
                          <m:f>
                            <m:fPr>
                              <m:ctrlPr>
                                <a:rPr lang="en-US" altLang="zh-CN" i="1">
                                  <a:latin typeface="Cambria Math" panose="02040503050406030204" pitchFamily="18" charset="0"/>
                                  <a:ea typeface="Cambria Math" panose="02040503050406030204" pitchFamily="18" charset="0"/>
                                  <a:sym typeface="Symbol" pitchFamily="2" charset="2"/>
                                </a:rPr>
                              </m:ctrlPr>
                            </m:fPr>
                            <m:num>
                              <m:r>
                                <a:rPr lang="en-US" altLang="zh-CN" i="1">
                                  <a:latin typeface="Cambria Math" panose="02040503050406030204" pitchFamily="18" charset="0"/>
                                  <a:ea typeface="Cambria Math" panose="02040503050406030204" pitchFamily="18" charset="0"/>
                                  <a:sym typeface="Symbol" pitchFamily="2" charset="2"/>
                                </a:rPr>
                                <m:t>1</m:t>
                              </m:r>
                              <m:r>
                                <a:rPr lang="en-US" altLang="zh-CN" b="0" i="1" smtClean="0">
                                  <a:latin typeface="Cambria Math" panose="02040503050406030204" pitchFamily="18" charset="0"/>
                                  <a:ea typeface="Cambria Math" panose="02040503050406030204" pitchFamily="18" charset="0"/>
                                  <a:sym typeface="Symbol" pitchFamily="2" charset="2"/>
                                </a:rPr>
                                <m:t>5</m:t>
                              </m:r>
                              <m:r>
                                <a:rPr lang="en-US" altLang="zh-CN" i="1">
                                  <a:latin typeface="Cambria Math" panose="02040503050406030204" pitchFamily="18" charset="0"/>
                                  <a:ea typeface="Cambria Math" panose="02040503050406030204" pitchFamily="18" charset="0"/>
                                  <a:sym typeface="Symbol" pitchFamily="2" charset="2"/>
                                </a:rPr>
                                <m:t>+0.5−12.5</m:t>
                              </m:r>
                            </m:num>
                            <m:den>
                              <m:r>
                                <a:rPr lang="en-US" altLang="zh-CN" i="1">
                                  <a:latin typeface="Cambria Math" panose="02040503050406030204" pitchFamily="18" charset="0"/>
                                  <a:ea typeface="Cambria Math" panose="02040503050406030204" pitchFamily="18" charset="0"/>
                                  <a:sym typeface="Symbol" pitchFamily="2" charset="2"/>
                                </a:rPr>
                                <m:t>3.06</m:t>
                              </m:r>
                            </m:den>
                          </m:f>
                        </m:e>
                      </m:d>
                      <m:r>
                        <a:rPr lang="en-US" altLang="zh-CN" b="0" i="1" smtClean="0">
                          <a:latin typeface="Cambria Math" panose="02040503050406030204" pitchFamily="18" charset="0"/>
                          <a:ea typeface="Cambria Math" panose="02040503050406030204" pitchFamily="18" charset="0"/>
                          <a:sym typeface="Symbol" pitchFamily="2" charset="2"/>
                        </a:rPr>
                        <m:t>−</m:t>
                      </m:r>
                      <m:r>
                        <m:rPr>
                          <m:sty m:val="p"/>
                        </m:rPr>
                        <a:rPr lang="en-US" altLang="zh-CN">
                          <a:latin typeface="Cambria Math" panose="02040503050406030204" pitchFamily="18" charset="0"/>
                          <a:ea typeface="Cambria Math" panose="02040503050406030204" pitchFamily="18" charset="0"/>
                          <a:sym typeface="Symbol" pitchFamily="2" charset="2"/>
                        </a:rPr>
                        <m:t>Φ</m:t>
                      </m:r>
                      <m:r>
                        <a:rPr lang="en-US" altLang="zh-CN" i="1">
                          <a:latin typeface="Cambria Math" panose="02040503050406030204" pitchFamily="18" charset="0"/>
                          <a:ea typeface="Cambria Math" panose="02040503050406030204" pitchFamily="18" charset="0"/>
                          <a:sym typeface="Symbol" pitchFamily="2" charset="2"/>
                        </a:rPr>
                        <m:t>(</m:t>
                      </m:r>
                      <m:f>
                        <m:fPr>
                          <m:ctrlPr>
                            <a:rPr lang="en-US" altLang="zh-CN" i="1">
                              <a:latin typeface="Cambria Math" panose="02040503050406030204" pitchFamily="18" charset="0"/>
                              <a:ea typeface="Cambria Math" panose="02040503050406030204" pitchFamily="18" charset="0"/>
                              <a:sym typeface="Symbol" pitchFamily="2" charset="2"/>
                            </a:rPr>
                          </m:ctrlPr>
                        </m:fPr>
                        <m:num>
                          <m:r>
                            <a:rPr lang="en-US" altLang="zh-CN" b="0" i="1" smtClean="0">
                              <a:latin typeface="Cambria Math" panose="02040503050406030204" pitchFamily="18" charset="0"/>
                              <a:ea typeface="Cambria Math" panose="02040503050406030204" pitchFamily="18" charset="0"/>
                              <a:sym typeface="Symbol" pitchFamily="2" charset="2"/>
                            </a:rPr>
                            <m:t>4</m:t>
                          </m:r>
                          <m:r>
                            <a:rPr lang="en-US" altLang="zh-CN" i="1">
                              <a:latin typeface="Cambria Math" panose="02040503050406030204" pitchFamily="18" charset="0"/>
                              <a:ea typeface="Cambria Math" panose="02040503050406030204" pitchFamily="18" charset="0"/>
                              <a:sym typeface="Symbol" pitchFamily="2" charset="2"/>
                            </a:rPr>
                            <m:t>+0.5−12.5</m:t>
                          </m:r>
                        </m:num>
                        <m:den>
                          <m:r>
                            <a:rPr lang="en-US" altLang="zh-CN" i="1">
                              <a:latin typeface="Cambria Math" panose="02040503050406030204" pitchFamily="18" charset="0"/>
                              <a:ea typeface="Cambria Math" panose="02040503050406030204" pitchFamily="18" charset="0"/>
                              <a:sym typeface="Symbol" pitchFamily="2" charset="2"/>
                            </a:rPr>
                            <m:t>3.06</m:t>
                          </m:r>
                        </m:den>
                      </m:f>
                      <m:r>
                        <a:rPr lang="en-US" altLang="zh-CN" i="1">
                          <a:latin typeface="Cambria Math" panose="02040503050406030204" pitchFamily="18" charset="0"/>
                          <a:ea typeface="Cambria Math" panose="02040503050406030204" pitchFamily="18" charset="0"/>
                          <a:sym typeface="Symbol" pitchFamily="2" charset="2"/>
                        </a:rPr>
                        <m:t>)</m:t>
                      </m:r>
                    </m:oMath>
                  </m:oMathPara>
                </a14:m>
                <a:endParaRPr lang="en-US" altLang="en-US" dirty="0">
                  <a:sym typeface="Symbol" pitchFamily="2" charset="2"/>
                </a:endParaRPr>
              </a:p>
              <a:p>
                <a:pPr marL="0" indent="0">
                  <a:buNone/>
                  <a:tabLst>
                    <a:tab pos="457200" algn="l"/>
                    <a:tab pos="1371600" algn="l"/>
                    <a:tab pos="1547813" algn="l"/>
                  </a:tabLst>
                </a:pPr>
                <a:endParaRPr lang="en-US" altLang="en-US" dirty="0">
                  <a:sym typeface="Symbol" pitchFamily="2" charset="2"/>
                </a:endParaRPr>
              </a:p>
              <a:p>
                <a:pPr marL="0" indent="0">
                  <a:buNone/>
                  <a:tabLst>
                    <a:tab pos="457200" algn="l"/>
                    <a:tab pos="1371600" algn="l"/>
                    <a:tab pos="1547813" algn="l"/>
                  </a:tabLst>
                </a:pPr>
                <a14:m/>
              </a:p>
            </p:txBody>
          </p:sp>
        </mc:Choice>
        <mc:Fallback>
          <p:sp>
            <p:nvSpPr>
              <p:cNvPr id="189443" name="Rectangle 3">
                <a:extLst>
                  <a:ext uri="{FF2B5EF4-FFF2-40B4-BE49-F238E27FC236}">
                    <a16:creationId xmlns:a16="http://schemas.microsoft.com/office/drawing/2014/main" id="{456ECB19-B477-1621-921E-0B53B17B17C8}"/>
                  </a:ext>
                </a:extLst>
              </p:cNvPr>
              <p:cNvSpPr>
                <a:spLocks noGrp="1" noRot="1" noChangeAspect="1" noMove="1" noResize="1" noEditPoints="1" noAdjustHandles="1" noChangeArrowheads="1" noChangeShapeType="1" noTextEdit="1"/>
              </p:cNvSpPr>
              <p:nvPr>
                <p:ph type="body" idx="1"/>
              </p:nvPr>
            </p:nvSpPr>
            <p:spPr>
              <a:blipFill>
                <a:blip r:embed="rId2"/>
                <a:stretch>
                  <a:fillRect l="-1086" t="-2326" b="-16570"/>
                </a:stretch>
              </a:blipFill>
            </p:spPr>
            <p:txBody>
              <a:bodyPr/>
              <a:lstStyle/>
              <a:p>
                <a:r>
                  <a:rPr lang="en-US">
                    <a:noFill/>
                  </a:rPr>
                  <a:t> </a:t>
                </a:r>
              </a:p>
            </p:txBody>
          </p:sp>
        </mc:Fallback>
      </mc:AlternateContent>
    </p:spTree>
    <p:extLst>
      <p:ext uri="{BB962C8B-B14F-4D97-AF65-F5344CB8AC3E}">
        <p14:creationId xmlns:p14="http://schemas.microsoft.com/office/powerpoint/2010/main" val="21143302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4DAD0-FC5A-975B-D238-A9E7BDFC38D8}"/>
              </a:ext>
            </a:extLst>
          </p:cNvPr>
          <p:cNvSpPr>
            <a:spLocks noGrp="1"/>
          </p:cNvSpPr>
          <p:nvPr>
            <p:ph type="title"/>
          </p:nvPr>
        </p:nvSpPr>
        <p:spPr/>
        <p:txBody>
          <a:bodyPr/>
          <a:lstStyle/>
          <a:p>
            <a:r>
              <a:rPr lang="en-US" altLang="en-US" dirty="0"/>
              <a:t>Example</a:t>
            </a:r>
            <a:endParaRPr lang="en-US" dirty="0"/>
          </a:p>
        </p:txBody>
      </p:sp>
      <mc:AlternateContent xmlns:mc="http://schemas.openxmlformats.org/markup-compatibility/2006">
        <mc:Choice xmlns:a14="http://schemas.microsoft.com/office/drawing/2010/main" Requires="a14">
          <p:graphicFrame>
            <p:nvGraphicFramePr>
              <p:cNvPr id="4" name="Content Placeholder 3">
                <a:extLst>
                  <a:ext uri="{FF2B5EF4-FFF2-40B4-BE49-F238E27FC236}">
                    <a16:creationId xmlns:a16="http://schemas.microsoft.com/office/drawing/2014/main" id="{B84E811E-7A6A-E31F-7DD3-46958F3272EB}"/>
                  </a:ext>
                </a:extLst>
              </p:cNvPr>
              <p:cNvGraphicFramePr>
                <a:graphicFrameLocks noGrp="1"/>
              </p:cNvGraphicFramePr>
              <p:nvPr>
                <p:ph idx="1"/>
                <p:extLst>
                  <p:ext uri="{D42A27DB-BD31-4B8C-83A1-F6EECF244321}">
                    <p14:modId xmlns:p14="http://schemas.microsoft.com/office/powerpoint/2010/main" val="3278309440"/>
                  </p:ext>
                </p:extLst>
              </p:nvPr>
            </p:nvGraphicFramePr>
            <p:xfrm>
              <a:off x="383623" y="2660008"/>
              <a:ext cx="10515600" cy="1981200"/>
            </p:xfrm>
            <a:graphic>
              <a:graphicData uri="http://schemas.openxmlformats.org/drawingml/2006/table">
                <a:tbl>
                  <a:tblPr/>
                  <a:tblGrid>
                    <a:gridCol w="3505200">
                      <a:extLst>
                        <a:ext uri="{9D8B030D-6E8A-4147-A177-3AD203B41FA5}">
                          <a16:colId xmlns:a16="http://schemas.microsoft.com/office/drawing/2014/main" val="3706238512"/>
                        </a:ext>
                      </a:extLst>
                    </a:gridCol>
                    <a:gridCol w="3505200">
                      <a:extLst>
                        <a:ext uri="{9D8B030D-6E8A-4147-A177-3AD203B41FA5}">
                          <a16:colId xmlns:a16="http://schemas.microsoft.com/office/drawing/2014/main" val="1384631742"/>
                        </a:ext>
                      </a:extLst>
                    </a:gridCol>
                    <a:gridCol w="3505200">
                      <a:extLst>
                        <a:ext uri="{9D8B030D-6E8A-4147-A177-3AD203B41FA5}">
                          <a16:colId xmlns:a16="http://schemas.microsoft.com/office/drawing/2014/main" val="618169252"/>
                        </a:ext>
                      </a:extLst>
                    </a:gridCol>
                  </a:tblGrid>
                  <a:tr h="0">
                    <a:tc>
                      <a:txBody>
                        <a:bodyPr/>
                        <a:lstStyle/>
                        <a:p>
                          <a:pPr>
                            <a:buNone/>
                          </a:pPr>
                          <a:endParaRPr lang="en-US"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800">
                              <a:latin typeface="Arial" panose="020B0604020202020204" pitchFamily="34" charset="0"/>
                              <a:cs typeface="Arial" panose="020B0604020202020204" pitchFamily="34" charset="0"/>
                            </a:rPr>
                            <a:t>Normal approximation*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800">
                              <a:latin typeface="Arial" panose="020B0604020202020204" pitchFamily="34" charset="0"/>
                              <a:cs typeface="Arial" panose="020B0604020202020204" pitchFamily="34" charset="0"/>
                            </a:rPr>
                            <a:t>Exact binomial probability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7430836"/>
                      </a:ext>
                    </a:extLst>
                  </a:tr>
                  <a:tr h="0">
                    <a:tc>
                      <a:txBody>
                        <a:bodyPr/>
                        <a:lstStyle/>
                        <a:p>
                          <a:pPr>
                            <a:buNone/>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sym typeface="Symbol" pitchFamily="2" charset="2"/>
                                  </a:rPr>
                                  <m:t>𝑃</m:t>
                                </m:r>
                                <m:d>
                                  <m:dPr>
                                    <m:ctrlPr>
                                      <a:rPr lang="en-US" altLang="zh-CN" sz="2800" b="0" i="1" smtClean="0">
                                        <a:latin typeface="Cambria Math" panose="02040503050406030204" pitchFamily="18" charset="0"/>
                                        <a:sym typeface="Symbol" pitchFamily="2" charset="2"/>
                                      </a:rPr>
                                    </m:ctrlPr>
                                  </m:dPr>
                                  <m:e>
                                    <m:r>
                                      <a:rPr lang="en-US" altLang="zh-CN" sz="2800" b="0" i="1" smtClean="0">
                                        <a:latin typeface="Cambria Math" panose="02040503050406030204" pitchFamily="18" charset="0"/>
                                        <a:sym typeface="Symbol" pitchFamily="2" charset="2"/>
                                      </a:rPr>
                                      <m:t>𝑋</m:t>
                                    </m:r>
                                    <m:r>
                                      <a:rPr lang="en-US" altLang="zh-CN" sz="2800" b="0" i="1" smtClean="0">
                                        <a:latin typeface="Cambria Math" panose="02040503050406030204" pitchFamily="18" charset="0"/>
                                        <a:ea typeface="Cambria Math" panose="02040503050406030204" pitchFamily="18" charset="0"/>
                                        <a:sym typeface="Symbol" pitchFamily="2" charset="2"/>
                                      </a:rPr>
                                      <m:t>≤10</m:t>
                                    </m:r>
                                  </m:e>
                                </m:d>
                              </m:oMath>
                            </m:oMathPara>
                          </a14:m>
                          <a:endParaRPr lang="en-US"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800" dirty="0">
                              <a:latin typeface="Arial" panose="020B0604020202020204" pitchFamily="34" charset="0"/>
                              <a:cs typeface="Arial" panose="020B0604020202020204" pitchFamily="34" charset="0"/>
                            </a:rPr>
                            <a:t>0.2578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800">
                              <a:latin typeface="Arial" panose="020B0604020202020204" pitchFamily="34" charset="0"/>
                              <a:cs typeface="Arial" panose="020B0604020202020204" pitchFamily="34" charset="0"/>
                            </a:rPr>
                            <a:t>0.2622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8277140"/>
                      </a:ext>
                    </a:extLst>
                  </a:tr>
                  <a:tr h="0">
                    <a:tc>
                      <a:txBody>
                        <a:bodyPr/>
                        <a:lstStyle/>
                        <a:p>
                          <a:pPr>
                            <a:buNone/>
                          </a:pPr>
                          <a14:m>
                            <m:oMathPara xmlns:m="http://schemas.openxmlformats.org/officeDocument/2006/math">
                              <m:oMathParaPr>
                                <m:jc m:val="centerGroup"/>
                              </m:oMathParaPr>
                              <m:oMath xmlns:m="http://schemas.openxmlformats.org/officeDocument/2006/math">
                                <m:r>
                                  <a:rPr lang="en-US" altLang="en-US" sz="2800" i="1" dirty="0" smtClean="0">
                                    <a:latin typeface="Cambria Math" panose="02040503050406030204" pitchFamily="18" charset="0"/>
                                    <a:sym typeface="Symbol" pitchFamily="2" charset="2"/>
                                  </a:rPr>
                                  <m:t>𝑃</m:t>
                                </m:r>
                                <m:r>
                                  <a:rPr lang="en-US" altLang="en-US" sz="2800" i="1" dirty="0" smtClean="0">
                                    <a:latin typeface="Cambria Math" panose="02040503050406030204" pitchFamily="18" charset="0"/>
                                    <a:sym typeface="Symbol" pitchFamily="2" charset="2"/>
                                  </a:rPr>
                                  <m:t>(5 </m:t>
                                </m:r>
                                <m:r>
                                  <a:rPr lang="en-US" altLang="en-US" sz="2800" b="1" i="1" dirty="0" smtClean="0">
                                    <a:latin typeface="Cambria Math" panose="02040503050406030204" pitchFamily="18" charset="0"/>
                                    <a:sym typeface="Symbol" pitchFamily="2" charset="2"/>
                                  </a:rPr>
                                  <m:t></m:t>
                                </m:r>
                                <m:r>
                                  <a:rPr lang="en-US" altLang="en-US" sz="2800" i="1" dirty="0" smtClean="0">
                                    <a:latin typeface="Cambria Math" panose="02040503050406030204" pitchFamily="18" charset="0"/>
                                    <a:sym typeface="Symbol" pitchFamily="2" charset="2"/>
                                  </a:rPr>
                                  <m:t> </m:t>
                                </m:r>
                                <m:r>
                                  <a:rPr lang="en-US" altLang="en-US" sz="2800" i="1" dirty="0" smtClean="0">
                                    <a:latin typeface="Cambria Math" panose="02040503050406030204" pitchFamily="18" charset="0"/>
                                    <a:sym typeface="Symbol" pitchFamily="2" charset="2"/>
                                  </a:rPr>
                                  <m:t>𝑋</m:t>
                                </m:r>
                                <m:r>
                                  <a:rPr lang="en-US" altLang="en-US" sz="2800" i="1" dirty="0" smtClean="0">
                                    <a:latin typeface="Cambria Math" panose="02040503050406030204" pitchFamily="18" charset="0"/>
                                    <a:sym typeface="Symbol" pitchFamily="2" charset="2"/>
                                  </a:rPr>
                                  <m:t> </m:t>
                                </m:r>
                                <m:r>
                                  <a:rPr lang="en-US" altLang="en-US" sz="2800" b="1" i="1" dirty="0" smtClean="0">
                                    <a:latin typeface="Cambria Math" panose="02040503050406030204" pitchFamily="18" charset="0"/>
                                    <a:sym typeface="Symbol" pitchFamily="2" charset="2"/>
                                  </a:rPr>
                                  <m:t></m:t>
                                </m:r>
                                <m:r>
                                  <a:rPr lang="en-US" altLang="en-US" sz="2800" i="1" dirty="0" smtClean="0">
                                    <a:latin typeface="Cambria Math" panose="02040503050406030204" pitchFamily="18" charset="0"/>
                                    <a:sym typeface="Symbol" pitchFamily="2" charset="2"/>
                                  </a:rPr>
                                  <m:t> 15) </m:t>
                                </m:r>
                              </m:oMath>
                            </m:oMathPara>
                          </a14:m>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800">
                              <a:latin typeface="Arial" panose="020B0604020202020204" pitchFamily="34" charset="0"/>
                              <a:cs typeface="Arial" panose="020B0604020202020204" pitchFamily="34" charset="0"/>
                            </a:rPr>
                            <a:t>0.8320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800" dirty="0">
                              <a:latin typeface="Arial" panose="020B0604020202020204" pitchFamily="34" charset="0"/>
                              <a:cs typeface="Arial" panose="020B0604020202020204" pitchFamily="34" charset="0"/>
                            </a:rPr>
                            <a:t>0.8348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9065229"/>
                      </a:ext>
                    </a:extLst>
                  </a:tr>
                </a:tbl>
              </a:graphicData>
            </a:graphic>
          </p:graphicFrame>
        </mc:Choice>
        <mc:Fallback>
          <p:graphicFrame>
            <p:nvGraphicFramePr>
              <p:cNvPr id="4" name="Content Placeholder 3">
                <a:extLst>
                  <a:ext uri="{FF2B5EF4-FFF2-40B4-BE49-F238E27FC236}">
                    <a16:creationId xmlns:a16="http://schemas.microsoft.com/office/drawing/2014/main" id="{B84E811E-7A6A-E31F-7DD3-46958F3272EB}"/>
                  </a:ext>
                </a:extLst>
              </p:cNvPr>
              <p:cNvGraphicFramePr>
                <a:graphicFrameLocks noGrp="1"/>
              </p:cNvGraphicFramePr>
              <p:nvPr>
                <p:ph idx="1"/>
                <p:extLst>
                  <p:ext uri="{D42A27DB-BD31-4B8C-83A1-F6EECF244321}">
                    <p14:modId xmlns:p14="http://schemas.microsoft.com/office/powerpoint/2010/main" val="3278309440"/>
                  </p:ext>
                </p:extLst>
              </p:nvPr>
            </p:nvGraphicFramePr>
            <p:xfrm>
              <a:off x="383623" y="2660008"/>
              <a:ext cx="10515600" cy="1981200"/>
            </p:xfrm>
            <a:graphic>
              <a:graphicData uri="http://schemas.openxmlformats.org/drawingml/2006/table">
                <a:tbl>
                  <a:tblPr/>
                  <a:tblGrid>
                    <a:gridCol w="3505200">
                      <a:extLst>
                        <a:ext uri="{9D8B030D-6E8A-4147-A177-3AD203B41FA5}">
                          <a16:colId xmlns:a16="http://schemas.microsoft.com/office/drawing/2014/main" val="3706238512"/>
                        </a:ext>
                      </a:extLst>
                    </a:gridCol>
                    <a:gridCol w="3505200">
                      <a:extLst>
                        <a:ext uri="{9D8B030D-6E8A-4147-A177-3AD203B41FA5}">
                          <a16:colId xmlns:a16="http://schemas.microsoft.com/office/drawing/2014/main" val="1384631742"/>
                        </a:ext>
                      </a:extLst>
                    </a:gridCol>
                    <a:gridCol w="3505200">
                      <a:extLst>
                        <a:ext uri="{9D8B030D-6E8A-4147-A177-3AD203B41FA5}">
                          <a16:colId xmlns:a16="http://schemas.microsoft.com/office/drawing/2014/main" val="618169252"/>
                        </a:ext>
                      </a:extLst>
                    </a:gridCol>
                  </a:tblGrid>
                  <a:tr h="944880">
                    <a:tc>
                      <a:txBody>
                        <a:bodyPr/>
                        <a:lstStyle/>
                        <a:p>
                          <a:pPr>
                            <a:buNone/>
                          </a:pPr>
                          <a:endParaRPr lang="en-US" sz="28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800">
                              <a:latin typeface="Arial" panose="020B0604020202020204" pitchFamily="34" charset="0"/>
                              <a:cs typeface="Arial" panose="020B0604020202020204" pitchFamily="34" charset="0"/>
                            </a:rPr>
                            <a:t>Normal approximation*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800">
                              <a:latin typeface="Arial" panose="020B0604020202020204" pitchFamily="34" charset="0"/>
                              <a:cs typeface="Arial" panose="020B0604020202020204" pitchFamily="34" charset="0"/>
                            </a:rPr>
                            <a:t>Exact binomial probability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7430836"/>
                      </a:ext>
                    </a:extLst>
                  </a:tr>
                  <a:tr h="51816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2" t="-195122" r="-200725" b="-131707"/>
                          </a:stretch>
                        </a:blipFill>
                      </a:tcPr>
                    </a:tc>
                    <a:tc>
                      <a:txBody>
                        <a:bodyPr/>
                        <a:lstStyle/>
                        <a:p>
                          <a:pPr algn="r">
                            <a:buNone/>
                          </a:pPr>
                          <a:r>
                            <a:rPr lang="en-US" sz="2800" dirty="0">
                              <a:latin typeface="Arial" panose="020B0604020202020204" pitchFamily="34" charset="0"/>
                              <a:cs typeface="Arial" panose="020B0604020202020204" pitchFamily="34" charset="0"/>
                            </a:rPr>
                            <a:t>0.2578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800">
                              <a:latin typeface="Arial" panose="020B0604020202020204" pitchFamily="34" charset="0"/>
                              <a:cs typeface="Arial" panose="020B0604020202020204" pitchFamily="34" charset="0"/>
                            </a:rPr>
                            <a:t>0.2622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8277140"/>
                      </a:ext>
                    </a:extLst>
                  </a:tr>
                  <a:tr h="51816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2" t="-295122" r="-200725" b="-31707"/>
                          </a:stretch>
                        </a:blipFill>
                      </a:tcPr>
                    </a:tc>
                    <a:tc>
                      <a:txBody>
                        <a:bodyPr/>
                        <a:lstStyle/>
                        <a:p>
                          <a:pPr algn="r">
                            <a:buNone/>
                          </a:pPr>
                          <a:r>
                            <a:rPr lang="en-US" sz="2800">
                              <a:latin typeface="Arial" panose="020B0604020202020204" pitchFamily="34" charset="0"/>
                              <a:cs typeface="Arial" panose="020B0604020202020204" pitchFamily="34" charset="0"/>
                            </a:rPr>
                            <a:t>0.8320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2800" dirty="0">
                              <a:latin typeface="Arial" panose="020B0604020202020204" pitchFamily="34" charset="0"/>
                              <a:cs typeface="Arial" panose="020B0604020202020204" pitchFamily="34" charset="0"/>
                            </a:rPr>
                            <a:t>0.8348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9065229"/>
                      </a:ext>
                    </a:extLst>
                  </a:tr>
                </a:tbl>
              </a:graphicData>
            </a:graphic>
          </p:graphicFrame>
        </mc:Fallback>
      </mc:AlternateContent>
    </p:spTree>
    <p:extLst>
      <p:ext uri="{BB962C8B-B14F-4D97-AF65-F5344CB8AC3E}">
        <p14:creationId xmlns:p14="http://schemas.microsoft.com/office/powerpoint/2010/main" val="2270141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1921</Words>
  <Application>Microsoft Macintosh PowerPoint</Application>
  <PresentationFormat>Widescreen</PresentationFormat>
  <Paragraphs>185</Paragraphs>
  <Slides>34</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Aptos Display</vt:lpstr>
      <vt:lpstr>Arial</vt:lpstr>
      <vt:lpstr>Cambria Math</vt:lpstr>
      <vt:lpstr>Symbol</vt:lpstr>
      <vt:lpstr>Office Theme</vt:lpstr>
      <vt:lpstr> The Normal Distribution</vt:lpstr>
      <vt:lpstr>The Normal Distribution</vt:lpstr>
      <vt:lpstr>Definition and Notation</vt:lpstr>
      <vt:lpstr>Interpreting μ and σ^2  </vt:lpstr>
      <vt:lpstr>The Normal Distribution</vt:lpstr>
      <vt:lpstr>Computing Normal Probabilities</vt:lpstr>
      <vt:lpstr>The Standard Normal Distribution</vt:lpstr>
      <vt:lpstr>The Standard Normal Distribution</vt:lpstr>
      <vt:lpstr>Appendix Table 3</vt:lpstr>
      <vt:lpstr>Determine Standard Normal Probabilities</vt:lpstr>
      <vt:lpstr>Determine Standard Normal Probabilities</vt:lpstr>
      <vt:lpstr>Determine Standard Normal Probabilities</vt:lpstr>
      <vt:lpstr>Determine Standard Normal Probabilities</vt:lpstr>
      <vt:lpstr>Determine Standard Normal Probabilities</vt:lpstr>
      <vt:lpstr>Nonstandard to Standard Normal Distribution</vt:lpstr>
      <vt:lpstr>Nonstandard Normal Distribution</vt:lpstr>
      <vt:lpstr>Nonstandard Normal Distribution</vt:lpstr>
      <vt:lpstr>Nonstandard Normal Distribution</vt:lpstr>
      <vt:lpstr>Example: Driver Reaction Time</vt:lpstr>
      <vt:lpstr>Example: Driver Reaction Time</vt:lpstr>
      <vt:lpstr>Percentiles of the Standard Normal Distribution</vt:lpstr>
      <vt:lpstr>Z_α Notation for Z Critical Values</vt:lpstr>
      <vt:lpstr>Z_α Notation for Z Critical Values</vt:lpstr>
      <vt:lpstr>Z_α Notation for Z Critical Values</vt:lpstr>
      <vt:lpstr>Percentiles of an Arbitrary Normal Distribution</vt:lpstr>
      <vt:lpstr>Example</vt:lpstr>
      <vt:lpstr>Example</vt:lpstr>
      <vt:lpstr>Normal Approximating the Binomial Distribution</vt:lpstr>
      <vt:lpstr>Approximating the Binomial Distribution</vt:lpstr>
      <vt:lpstr>Example: Normal Approximation to the Binomial</vt:lpstr>
      <vt:lpstr>Example</vt:lpstr>
      <vt:lpstr>Example</vt:lpstr>
      <vt:lpstr>Example</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Probability Distributions for Continuous Random Variables</dc:title>
  <dc:creator>Boran Gao</dc:creator>
  <cp:lastModifiedBy>Boran Gao</cp:lastModifiedBy>
  <cp:revision>2</cp:revision>
  <dcterms:created xsi:type="dcterms:W3CDTF">2026-08-11T15:28:05Z</dcterms:created>
  <dcterms:modified xsi:type="dcterms:W3CDTF">2026-09-29T11:58:28Z</dcterms:modified>
</cp:coreProperties>
</file>